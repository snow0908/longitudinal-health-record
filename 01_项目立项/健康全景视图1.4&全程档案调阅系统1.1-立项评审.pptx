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3" r:id="rId4"/>
    <p:sldMasterId id="2147483665" r:id="rId5"/>
    <p:sldMasterId id="2147483667" r:id="rId6"/>
    <p:sldMasterId id="2147483670" r:id="rId7"/>
    <p:sldMasterId id="2147483672" r:id="rId8"/>
    <p:sldMasterId id="2147483674" r:id="rId9"/>
  </p:sldMasterIdLst>
  <p:notesMasterIdLst>
    <p:notesMasterId r:id="rId11"/>
  </p:notesMasterIdLst>
  <p:sldIdLst>
    <p:sldId id="256" r:id="rId10"/>
    <p:sldId id="287" r:id="rId12"/>
    <p:sldId id="258" r:id="rId13"/>
    <p:sldId id="286" r:id="rId14"/>
    <p:sldId id="289" r:id="rId15"/>
    <p:sldId id="290" r:id="rId16"/>
    <p:sldId id="288"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8" r:id="rId31"/>
    <p:sldId id="309" r:id="rId32"/>
    <p:sldId id="304" r:id="rId33"/>
    <p:sldId id="305" r:id="rId34"/>
    <p:sldId id="306" r:id="rId35"/>
    <p:sldId id="307" r:id="rId36"/>
    <p:sldId id="283" r:id="rId3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48" userDrawn="1">
          <p15:clr>
            <a:srgbClr val="747775"/>
          </p15:clr>
        </p15:guide>
        <p15:guide id="2" pos="2848"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0" clrIdx="0"/>
  <p:cmAuthor id="2" name="骆倩怡_Znauj26B" initials="authorId_382814100" lastIdx="0" clrIdx="1"/>
  <p:cmAuthor id="3" name="陈 啊陈" initials="陈" lastIdx="0" clrIdx="2"/>
  <p:cmAuthor id="4" name="s tang" initials="" lastIdx="0" clrIdx="3"/>
  <p:cmAuthor id="5" name="朱 智源" initials="朱" lastIdx="0" clrIdx="4"/>
  <p:cmAuthor id="6" name="80658" initials="8" lastIdx="0" clrIdx="5"/>
  <p:cmAuthor id="7" name="落蕊" initials="落蕊" lastIdx="0" clrIdx="6"/>
  <p:cmAuthor id="8" name="li ming" initials="lm" lastIdx="0" clrIdx="7"/>
  <p:cmAuthor id="9" name="小包 徐" initials="小包" lastIdx="0" clrIdx="8"/>
  <p:cmAuthor id="10" name="casicloud-yfb" initials="" lastIdx="0" clrIdx="9"/>
  <p:cmAuthor id="11" name="Jeffway J" initials="J" lastIdx="0" clrIdx="10"/>
  <p:cmAuthor id="12" name="熊雨荷" initials="熊" lastIdx="0" clrIdx="11"/>
  <p:cmAuthor id="13" name="黄刚" initials="黄" lastIdx="0" clrIdx="12"/>
  <p:cmAuthor id="14" name="zhang" initials="z" lastIdx="0" clrIdx="13"/>
  <p:cmAuthor id="15" name="WPS_1679281038" initials="W" lastIdx="0" clrIdx="14"/>
  <p:cmAuthor id="16" name="Microsoft Office User" initials="MOU" lastIdx="0" clrIdx="15"/>
  <p:cmAuthor id="17" name="尹佳琪" initials="尹佳琪" lastIdx="0" clrIdx="16"/>
  <p:cmAuthor id="18" name="牧 谷" initials="牧" lastIdx="0" clrIdx="17"/>
  <p:cmAuthor id="19" name="LovingSky" initials="L" lastIdx="0" clrIdx="18"/>
  <p:cmAuthor id="20" name="Lee 13" initials="L" lastIdx="0" clrIdx="19"/>
  <p:cmAuthor id="21" name="896948003@qq.com" initials="8" lastIdx="0" clrIdx="20"/>
  <p:cmAuthor id="22" name="梁亚栋" initials="authorId_233440905" lastIdx="0" clrIdx="2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48"/>
        <p:guide pos="284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Master" Target="slideMasters/slideMaster3.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27.xml"/><Relationship Id="rId36" Type="http://schemas.openxmlformats.org/officeDocument/2006/relationships/slide" Target="slides/slide26.xml"/><Relationship Id="rId35" Type="http://schemas.openxmlformats.org/officeDocument/2006/relationships/slide" Target="slides/slide25.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大家好，欢迎参加本次汇报。今天我将向大家详细介绍医星科技在“人工智能+医疗卫生”领域的业务场景规划。本次规划的核心目标，是以江都区医共体为试点，全面落地并验证AI技术在医疗全场景的应用，最终形成一套可复制、可推广的标准化解决方案，为全国医共体的规模化推广奠定坚实基础。</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现在我们进入第一章：建设依据。本项目的开展，严格遵循国家顶层政策设计，并紧密围绕公司核心战略规划，确保项目方向正确、落地有据。我们将从国家政策体系和公司战略两个层面，阐述项目启动的坚实基础。</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国家层面已经构建了一个三级递进式的政策体系，为AI+医疗的发展指明了方向。顶层是国务院的《“人工智能+”行动意见》，将健康医疗列为重点赛道。中间是五部委的实施意见，明确了发展目标并鼓励县域医共体的应用。底层则是《卫生健康行业人工智能应用场景参考指引》，提供了84个标准化场景，为我们的具体工作提供了直接参考。这张图清晰地展示了这一逻辑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现在我们进入第一章：建设依据。本项目的开展，严格遵循国家顶层政策设计，并紧密围绕公司核心战略规划，确保项目方向正确、落地有据。我们将从国家政策体系和公司战略两个层面，阐述项目启动的坚实基础。</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国家层面已经构建了一个三级递进式的政策体系，为AI+医疗的发展指明了方向。顶层是国务院的《“人工智能+”行动意见》，将健康医疗列为重点赛道。中间是五部委的实施意见，明确了发展目标并鼓励县域医共体的应用。底层则是《卫生健康行业人工智能应用场景参考指引》，提供了84个标准化场景，为我们的具体工作提供了直接参考。这张图清晰地展示了这一逻辑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国家层面已经构建了一个三级递进式的政策体系，为AI+医疗的发展指明了方向。顶层是国务院的《“人工智能+”行动意见》，将健康医疗列为重点赛道。中间是五部委的实施意见，明确了发展目标并鼓励县域医共体的应用。底层则是《卫生健康行业人工智能应用场景参考指引》，提供了84个标准化场景，为我们的具体工作提供了直接参考。这张图清晰地展示了这一逻辑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Arial" panose="020B0604020202020204"/>
                <a:ea typeface="Arial" panose="020B0604020202020204"/>
                <a:cs typeface="Arial" panose="020B0604020202020204"/>
                <a:sym typeface="Arial" panose="020B0604020202020204"/>
              </a:rPr>
              <a:t>我的汇报到此结束，感谢各位的聆听。我们相信，通过江都区的试点实践，医星科技必将为全国的“人工智能+医疗卫生”事业贡献出一套行之有效的解决方案。谢谢大家！</a:t>
            </a:r>
            <a:endParaRPr lang="en-US" sz="12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5.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8.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9.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6"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8" r:id="rId1"/>
    <p:sldLayoutId id="214748366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image" Target="../media/image4.jpeg"/><Relationship Id="rId19" Type="http://schemas.openxmlformats.org/officeDocument/2006/relationships/slideLayout" Target="../slideLayouts/slideLayout1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image" Target="../media/image10.svg"/><Relationship Id="rId7" Type="http://schemas.openxmlformats.org/officeDocument/2006/relationships/image" Target="../media/image9.png"/><Relationship Id="rId6" Type="http://schemas.openxmlformats.org/officeDocument/2006/relationships/tags" Target="../tags/tag25.xml"/><Relationship Id="rId5" Type="http://schemas.openxmlformats.org/officeDocument/2006/relationships/image" Target="../media/image8.svg"/><Relationship Id="rId45" Type="http://schemas.openxmlformats.org/officeDocument/2006/relationships/notesSlide" Target="../notesSlides/notesSlide3.xml"/><Relationship Id="rId44" Type="http://schemas.openxmlformats.org/officeDocument/2006/relationships/slideLayout" Target="../slideLayouts/slideLayout14.xml"/><Relationship Id="rId43" Type="http://schemas.openxmlformats.org/officeDocument/2006/relationships/tags" Target="../tags/tag46.xml"/><Relationship Id="rId42" Type="http://schemas.openxmlformats.org/officeDocument/2006/relationships/tags" Target="../tags/tag45.xml"/><Relationship Id="rId41" Type="http://schemas.openxmlformats.org/officeDocument/2006/relationships/tags" Target="../tags/tag44.xml"/><Relationship Id="rId40" Type="http://schemas.openxmlformats.org/officeDocument/2006/relationships/tags" Target="../tags/tag43.xml"/><Relationship Id="rId4" Type="http://schemas.openxmlformats.org/officeDocument/2006/relationships/image" Target="../media/image7.png"/><Relationship Id="rId39" Type="http://schemas.openxmlformats.org/officeDocument/2006/relationships/tags" Target="../tags/tag42.xml"/><Relationship Id="rId38" Type="http://schemas.openxmlformats.org/officeDocument/2006/relationships/tags" Target="../tags/tag41.xml"/><Relationship Id="rId37" Type="http://schemas.openxmlformats.org/officeDocument/2006/relationships/tags" Target="../tags/tag40.xml"/><Relationship Id="rId36" Type="http://schemas.openxmlformats.org/officeDocument/2006/relationships/tags" Target="../tags/tag39.xml"/><Relationship Id="rId35" Type="http://schemas.openxmlformats.org/officeDocument/2006/relationships/tags" Target="../tags/tag38.xml"/><Relationship Id="rId34" Type="http://schemas.openxmlformats.org/officeDocument/2006/relationships/tags" Target="../tags/tag37.xml"/><Relationship Id="rId33" Type="http://schemas.openxmlformats.org/officeDocument/2006/relationships/tags" Target="../tags/tag36.xml"/><Relationship Id="rId32" Type="http://schemas.openxmlformats.org/officeDocument/2006/relationships/tags" Target="../tags/tag35.xml"/><Relationship Id="rId31" Type="http://schemas.openxmlformats.org/officeDocument/2006/relationships/tags" Target="../tags/tag34.xml"/><Relationship Id="rId30" Type="http://schemas.openxmlformats.org/officeDocument/2006/relationships/image" Target="../media/image24.svg"/><Relationship Id="rId3" Type="http://schemas.openxmlformats.org/officeDocument/2006/relationships/tags" Target="../tags/tag24.xml"/><Relationship Id="rId29" Type="http://schemas.openxmlformats.org/officeDocument/2006/relationships/image" Target="../media/image23.png"/><Relationship Id="rId28" Type="http://schemas.openxmlformats.org/officeDocument/2006/relationships/tags" Target="../tags/tag33.xml"/><Relationship Id="rId27" Type="http://schemas.openxmlformats.org/officeDocument/2006/relationships/image" Target="../media/image22.svg"/><Relationship Id="rId26" Type="http://schemas.openxmlformats.org/officeDocument/2006/relationships/image" Target="../media/image21.png"/><Relationship Id="rId25" Type="http://schemas.openxmlformats.org/officeDocument/2006/relationships/tags" Target="../tags/tag32.xml"/><Relationship Id="rId24" Type="http://schemas.openxmlformats.org/officeDocument/2006/relationships/image" Target="../media/image20.svg"/><Relationship Id="rId23" Type="http://schemas.openxmlformats.org/officeDocument/2006/relationships/image" Target="../media/image19.png"/><Relationship Id="rId22" Type="http://schemas.openxmlformats.org/officeDocument/2006/relationships/tags" Target="../tags/tag31.xml"/><Relationship Id="rId21" Type="http://schemas.openxmlformats.org/officeDocument/2006/relationships/image" Target="../media/image18.svg"/><Relationship Id="rId20" Type="http://schemas.openxmlformats.org/officeDocument/2006/relationships/image" Target="../media/image17.png"/><Relationship Id="rId2" Type="http://schemas.openxmlformats.org/officeDocument/2006/relationships/tags" Target="../tags/tag23.xml"/><Relationship Id="rId19" Type="http://schemas.openxmlformats.org/officeDocument/2006/relationships/tags" Target="../tags/tag30.xml"/><Relationship Id="rId18" Type="http://schemas.openxmlformats.org/officeDocument/2006/relationships/image" Target="../media/image16.svg"/><Relationship Id="rId17" Type="http://schemas.openxmlformats.org/officeDocument/2006/relationships/image" Target="../media/image15.png"/><Relationship Id="rId16" Type="http://schemas.openxmlformats.org/officeDocument/2006/relationships/tags" Target="../tags/tag29.xml"/><Relationship Id="rId15" Type="http://schemas.openxmlformats.org/officeDocument/2006/relationships/image" Target="../media/image14.svg"/><Relationship Id="rId14" Type="http://schemas.openxmlformats.org/officeDocument/2006/relationships/image" Target="../media/image13.png"/><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6.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5" Type="http://schemas.openxmlformats.org/officeDocument/2006/relationships/notesSlide" Target="../notesSlides/notesSlide5.xml"/><Relationship Id="rId14" Type="http://schemas.openxmlformats.org/officeDocument/2006/relationships/slideLayout" Target="../slideLayouts/slideLayout18.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5" Type="http://schemas.openxmlformats.org/officeDocument/2006/relationships/notesSlide" Target="../notesSlides/notesSlide6.xml"/><Relationship Id="rId14" Type="http://schemas.openxmlformats.org/officeDocument/2006/relationships/slideLayout" Target="../slideLayouts/slideLayout15.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26.png"/><Relationship Id="rId1"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4" name="AutoShape 4"/>
          <p:cNvSpPr/>
          <p:nvPr/>
        </p:nvSpPr>
        <p:spPr>
          <a:xfrm>
            <a:off x="749300" y="1511300"/>
            <a:ext cx="10337800" cy="18161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zh-CN" altLang="en-US" sz="4400" b="1" i="0" u="none" strike="noStrike" kern="1200" spc="100" dirty="0">
                <a:gradFill>
                  <a:gsLst>
                    <a:gs pos="0">
                      <a:schemeClr val="accent1">
                        <a:lumMod val="5000"/>
                        <a:lumOff val="95000"/>
                      </a:schemeClr>
                    </a:gs>
                    <a:gs pos="100000">
                      <a:srgbClr val="FFF758"/>
                    </a:gs>
                  </a:gsLst>
                  <a:lin ang="5400000" scaled="0"/>
                </a:gradFill>
                <a:uFillTx/>
                <a:latin typeface="Arial" panose="020B0604020202020204" pitchFamily="34" charset="0"/>
                <a:ea typeface="微软雅黑" panose="020B0503020204020204" charset="-122"/>
                <a:cs typeface="Arial" panose="020B0604020202020204" pitchFamily="34" charset="0"/>
                <a:sym typeface="微软雅黑" panose="020B0503020204020204" charset="-122"/>
              </a:rPr>
              <a:t>健康全景视图1.4&amp;全程档案调阅系统1.1</a:t>
            </a:r>
            <a:r>
              <a:rPr lang="en-US" altLang="zh-CN" sz="4400" b="1" i="0" u="none" strike="noStrike" kern="1200" spc="100" dirty="0">
                <a:gradFill>
                  <a:gsLst>
                    <a:gs pos="0">
                      <a:schemeClr val="accent1">
                        <a:lumMod val="5000"/>
                        <a:lumOff val="95000"/>
                      </a:schemeClr>
                    </a:gs>
                    <a:gs pos="100000">
                      <a:srgbClr val="FFF758"/>
                    </a:gs>
                  </a:gsLst>
                  <a:lin ang="5400000" scaled="0"/>
                </a:gradFill>
                <a:uFillTx/>
                <a:latin typeface="Arial" panose="020B0604020202020204" pitchFamily="34" charset="0"/>
                <a:ea typeface="微软雅黑" panose="020B0503020204020204" charset="-122"/>
                <a:cs typeface="Arial" panose="020B0604020202020204" pitchFamily="34" charset="0"/>
                <a:sym typeface="微软雅黑" panose="020B0503020204020204" charset="-122"/>
              </a:rPr>
              <a:t>		</a:t>
            </a:r>
            <a:endParaRPr lang="en-US" altLang="zh-CN" sz="4400" b="1" i="0" u="none" strike="noStrike" kern="1200" spc="100" dirty="0">
              <a:gradFill>
                <a:gsLst>
                  <a:gs pos="0">
                    <a:schemeClr val="accent1">
                      <a:lumMod val="5000"/>
                      <a:lumOff val="95000"/>
                    </a:schemeClr>
                  </a:gs>
                  <a:gs pos="100000">
                    <a:srgbClr val="FFF758"/>
                  </a:gs>
                </a:gsLst>
                <a:lin ang="5400000" scaled="0"/>
              </a:gradFill>
              <a:uFillTx/>
              <a:latin typeface="Arial" panose="020B0604020202020204" pitchFamily="34" charset="0"/>
              <a:ea typeface="微软雅黑" panose="020B0503020204020204" charset="-122"/>
              <a:cs typeface="Arial" panose="020B0604020202020204" pitchFamily="34" charset="0"/>
              <a:sym typeface="微软雅黑" panose="020B0503020204020204" charset="-122"/>
            </a:endParaRPr>
          </a:p>
          <a:p>
            <a:pPr marL="0" indent="0" algn="ctr">
              <a:lnSpc>
                <a:spcPct val="100000"/>
              </a:lnSpc>
              <a:defRPr/>
            </a:pPr>
            <a:r>
              <a:rPr lang="zh-CN" altLang="en-US" sz="4400" b="1" i="0" u="none" strike="noStrike" kern="1200" spc="100" dirty="0">
                <a:gradFill>
                  <a:gsLst>
                    <a:gs pos="0">
                      <a:schemeClr val="accent1">
                        <a:lumMod val="5000"/>
                        <a:lumOff val="95000"/>
                      </a:schemeClr>
                    </a:gs>
                    <a:gs pos="100000">
                      <a:srgbClr val="FFF758"/>
                    </a:gs>
                  </a:gsLst>
                  <a:lin ang="5400000" scaled="0"/>
                </a:gradFill>
                <a:uFillTx/>
                <a:latin typeface="Arial" panose="020B0604020202020204" pitchFamily="34" charset="0"/>
                <a:ea typeface="微软雅黑" panose="020B0503020204020204" charset="-122"/>
                <a:cs typeface="Arial" panose="020B0604020202020204" pitchFamily="34" charset="0"/>
                <a:sym typeface="微软雅黑" panose="020B0503020204020204" charset="-122"/>
              </a:rPr>
              <a:t>立项评审</a:t>
            </a:r>
            <a:endParaRPr lang="zh-CN" altLang="en-US" sz="4400" b="1" i="0" u="none" strike="noStrike" kern="1200" spc="100" dirty="0">
              <a:gradFill>
                <a:gsLst>
                  <a:gs pos="0">
                    <a:schemeClr val="accent1">
                      <a:lumMod val="5000"/>
                      <a:lumOff val="95000"/>
                    </a:schemeClr>
                  </a:gs>
                  <a:gs pos="100000">
                    <a:srgbClr val="FFF758"/>
                  </a:gs>
                </a:gsLst>
                <a:lin ang="5400000" scaled="0"/>
              </a:gradFill>
              <a:uFillTx/>
              <a:latin typeface="Arial" panose="020B0604020202020204" pitchFamily="34" charset="0"/>
              <a:ea typeface="微软雅黑" panose="020B0503020204020204" charset="-122"/>
              <a:cs typeface="Arial" panose="020B0604020202020204" pitchFamily="34" charset="0"/>
              <a:sym typeface="微软雅黑" panose="020B0503020204020204" charset="-122"/>
            </a:endParaRPr>
          </a:p>
        </p:txBody>
      </p:sp>
      <p:sp>
        <p:nvSpPr>
          <p:cNvPr id="5" name="AutoShape 5"/>
          <p:cNvSpPr/>
          <p:nvPr/>
        </p:nvSpPr>
        <p:spPr>
          <a:xfrm>
            <a:off x="1219200" y="5461000"/>
            <a:ext cx="10160000" cy="762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000"/>
              </a:lnSpc>
              <a:defRPr/>
            </a:pPr>
            <a:r>
              <a:rPr lang="en-US" sz="1800" b="1" i="0" u="none" strike="noStrike">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以江都区医共体为试点，打造全国可复制的AI+医疗解决方案，构建分级诊疗新生态</a:t>
            </a:r>
            <a:endParaRPr lang="en-US" sz="1100"/>
          </a:p>
        </p:txBody>
      </p:sp>
      <p:pic>
        <p:nvPicPr>
          <p:cNvPr id="8" name="图片 7"/>
          <p:cNvPicPr>
            <a:picLocks noChangeAspect="1"/>
          </p:cNvPicPr>
          <p:nvPr/>
        </p:nvPicPr>
        <p:blipFill>
          <a:blip r:embed="rId2"/>
          <a:stretch>
            <a:fillRect/>
          </a:stretch>
        </p:blipFill>
        <p:spPr>
          <a:xfrm>
            <a:off x="103505" y="273685"/>
            <a:ext cx="2292350" cy="6292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PPT内页空白002"/>
          <p:cNvPicPr>
            <a:picLocks noChangeAspect="1"/>
          </p:cNvPicPr>
          <p:nvPr/>
        </p:nvPicPr>
        <p:blipFill>
          <a:blip r:embed="rId1"/>
          <a:stretch>
            <a:fillRect/>
          </a:stretch>
        </p:blipFill>
        <p:spPr>
          <a:xfrm>
            <a:off x="0" y="0"/>
            <a:ext cx="12192000" cy="6858000"/>
          </a:xfrm>
          <a:prstGeom prst="rect">
            <a:avLst/>
          </a:prstGeom>
        </p:spPr>
      </p:pic>
      <p:pic>
        <p:nvPicPr>
          <p:cNvPr id="13" name="图片 12" descr="PPT目录空白"/>
          <p:cNvPicPr>
            <a:picLocks noChangeAspect="1"/>
          </p:cNvPicPr>
          <p:nvPr/>
        </p:nvPicPr>
        <p:blipFill>
          <a:blip r:embed="rId2"/>
          <a:stretch>
            <a:fillRect/>
          </a:stretch>
        </p:blipFill>
        <p:spPr>
          <a:xfrm>
            <a:off x="0" y="0"/>
            <a:ext cx="12192000" cy="6858000"/>
          </a:xfrm>
          <a:prstGeom prst="rect">
            <a:avLst/>
          </a:prstGeom>
        </p:spPr>
      </p:pic>
      <p:sp>
        <p:nvSpPr>
          <p:cNvPr id="117" name="文本框 116"/>
          <p:cNvSpPr txBox="1"/>
          <p:nvPr/>
        </p:nvSpPr>
        <p:spPr>
          <a:xfrm>
            <a:off x="935355" y="652780"/>
            <a:ext cx="1958340" cy="798830"/>
          </a:xfrm>
          <a:prstGeom prst="rect">
            <a:avLst/>
          </a:prstGeom>
          <a:noFill/>
        </p:spPr>
        <p:txBody>
          <a:bodyPr wrap="square" rtlCol="0">
            <a:spAutoFit/>
          </a:bodyPr>
          <a:lstStyle/>
          <a:p>
            <a:pPr algn="l"/>
            <a:r>
              <a:rPr lang="zh-CN" altLang="en-US" sz="4600" b="1">
                <a:gradFill>
                  <a:gsLst>
                    <a:gs pos="0">
                      <a:srgbClr val="0066C6"/>
                    </a:gs>
                    <a:gs pos="100000">
                      <a:srgbClr val="00B050"/>
                    </a:gs>
                  </a:gsLst>
                  <a:lin ang="5400000" scaled="0"/>
                </a:gradFill>
                <a:latin typeface="Arial" panose="020B0604020202020204" pitchFamily="34" charset="0"/>
                <a:ea typeface="微软雅黑" panose="020B0503020204020204" charset="-122"/>
                <a:sym typeface="Arial" panose="020B0604020202020204" pitchFamily="34" charset="0"/>
              </a:rPr>
              <a:t>目录</a:t>
            </a:r>
            <a:endParaRPr lang="zh-CN" altLang="en-US" sz="4600" b="1">
              <a:gradFill>
                <a:gsLst>
                  <a:gs pos="0">
                    <a:srgbClr val="0066C6"/>
                  </a:gs>
                  <a:gs pos="100000">
                    <a:srgbClr val="00B050"/>
                  </a:gs>
                </a:gsLst>
                <a:lin ang="5400000" scaled="0"/>
              </a:gradFill>
              <a:latin typeface="Arial" panose="020B0604020202020204" pitchFamily="34" charset="0"/>
              <a:ea typeface="微软雅黑" panose="020B0503020204020204" charset="-122"/>
              <a:sym typeface="Arial" panose="020B0604020202020204" pitchFamily="34" charset="0"/>
            </a:endParaRPr>
          </a:p>
        </p:txBody>
      </p:sp>
      <p:sp>
        <p:nvSpPr>
          <p:cNvPr id="118" name="文本框 117"/>
          <p:cNvSpPr txBox="1"/>
          <p:nvPr/>
        </p:nvSpPr>
        <p:spPr>
          <a:xfrm>
            <a:off x="967105" y="1342390"/>
            <a:ext cx="2928620" cy="645160"/>
          </a:xfrm>
          <a:prstGeom prst="rect">
            <a:avLst/>
          </a:prstGeom>
          <a:noFill/>
        </p:spPr>
        <p:txBody>
          <a:bodyPr wrap="square" rtlCol="0">
            <a:spAutoFit/>
          </a:bodyPr>
          <a:lstStyle/>
          <a:p>
            <a:pPr algn="l"/>
            <a:r>
              <a:rPr lang="en-US" altLang="zh-CN" sz="3600" dirty="0">
                <a:ln>
                  <a:solidFill>
                    <a:schemeClr val="tx2">
                      <a:lumMod val="60000"/>
                      <a:lumOff val="40000"/>
                    </a:schemeClr>
                  </a:solidFill>
                </a:ln>
                <a:noFill/>
                <a:latin typeface="Arial" panose="020B0604020202020204" pitchFamily="34" charset="0"/>
                <a:ea typeface="微软雅黑" panose="020B0503020204020204" charset="-122"/>
                <a:sym typeface="Arial" panose="020B0604020202020204" pitchFamily="34" charset="0"/>
              </a:rPr>
              <a:t>CONTENTS</a:t>
            </a:r>
            <a:endParaRPr lang="en-US" altLang="zh-CN" sz="3600" dirty="0">
              <a:ln>
                <a:solidFill>
                  <a:schemeClr val="tx2">
                    <a:lumMod val="60000"/>
                    <a:lumOff val="40000"/>
                  </a:schemeClr>
                </a:solidFill>
              </a:ln>
              <a:noFill/>
              <a:latin typeface="Arial" panose="020B0604020202020204" pitchFamily="34" charset="0"/>
              <a:ea typeface="微软雅黑" panose="020B0503020204020204" charset="-122"/>
              <a:sym typeface="Arial" panose="020B0604020202020204" pitchFamily="34" charset="0"/>
            </a:endParaRPr>
          </a:p>
        </p:txBody>
      </p:sp>
      <p:cxnSp>
        <p:nvCxnSpPr>
          <p:cNvPr id="119" name="直接箭头连接符 118"/>
          <p:cNvCxnSpPr/>
          <p:nvPr>
            <p:custDataLst>
              <p:tags r:id="rId3"/>
            </p:custDataLst>
          </p:nvPr>
        </p:nvCxnSpPr>
        <p:spPr>
          <a:xfrm>
            <a:off x="1106170" y="2242185"/>
            <a:ext cx="1280160" cy="0"/>
          </a:xfrm>
          <a:prstGeom prst="straightConnector1">
            <a:avLst/>
          </a:prstGeom>
          <a:ln w="25400">
            <a:solidFill>
              <a:schemeClr val="tx2">
                <a:lumMod val="40000"/>
                <a:lumOff val="60000"/>
              </a:schemeClr>
            </a:solidFill>
            <a:tailEnd type="arrow" w="lg" len="lg"/>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2802255" y="2055495"/>
            <a:ext cx="2221230" cy="521970"/>
            <a:chOff x="9550" y="1626"/>
            <a:chExt cx="3498" cy="822"/>
          </a:xfrm>
        </p:grpSpPr>
        <p:sp>
          <p:nvSpPr>
            <p:cNvPr id="9" name="椭圆 8"/>
            <p:cNvSpPr/>
            <p:nvPr>
              <p:custDataLst>
                <p:tags r:id="rId4"/>
              </p:custDataLst>
            </p:nvPr>
          </p:nvSpPr>
          <p:spPr>
            <a:xfrm>
              <a:off x="9550" y="1702"/>
              <a:ext cx="680" cy="680"/>
            </a:xfrm>
            <a:prstGeom prst="ellipse">
              <a:avLst/>
            </a:prstGeom>
            <a:gradFill flip="none" rotWithShape="1">
              <a:gsLst>
                <a:gs pos="0">
                  <a:srgbClr val="00907D"/>
                </a:gs>
                <a:gs pos="100000">
                  <a:srgbClr val="00907D">
                    <a:alpha val="19000"/>
                  </a:srgbClr>
                </a:gs>
              </a:gsLst>
              <a:lin ang="15600000" scaled="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5" name="文本框 14"/>
            <p:cNvSpPr txBox="1"/>
            <p:nvPr>
              <p:custDataLst>
                <p:tags r:id="rId5"/>
              </p:custDataLst>
            </p:nvPr>
          </p:nvSpPr>
          <p:spPr>
            <a:xfrm>
              <a:off x="10274" y="1626"/>
              <a:ext cx="2774" cy="822"/>
            </a:xfrm>
            <a:prstGeom prst="rect">
              <a:avLst/>
            </a:prstGeom>
            <a:noFill/>
          </p:spPr>
          <p:txBody>
            <a:bodyPr wrap="square">
              <a:spAutoFit/>
            </a:bodyPr>
            <a:lstStyle/>
            <a:p>
              <a:pPr lvl="0" algn="l">
                <a:buClrTx/>
                <a:buSzTx/>
                <a:buFontTx/>
              </a:pPr>
              <a:r>
                <a:rPr lang="zh-CN" altLang="en-US" sz="2800" dirty="0">
                  <a:solidFill>
                    <a:schemeClr val="tx2">
                      <a:lumMod val="75000"/>
                    </a:schemeClr>
                  </a:solidFill>
                  <a:latin typeface="Arial" panose="020B0604020202020204" pitchFamily="34" charset="0"/>
                  <a:ea typeface="微软雅黑" panose="020B0503020204020204" charset="-122"/>
                  <a:sym typeface="Arial" panose="020B0604020202020204" pitchFamily="34" charset="0"/>
                </a:rPr>
                <a:t>项目背景</a:t>
              </a:r>
              <a:endParaRPr lang="zh-CN" altLang="en-US" sz="2800" dirty="0">
                <a:solidFill>
                  <a:schemeClr val="tx2">
                    <a:lumMod val="75000"/>
                  </a:schemeClr>
                </a:solidFill>
                <a:latin typeface="Arial" panose="020B0604020202020204" pitchFamily="34" charset="0"/>
                <a:ea typeface="微软雅黑" panose="020B0503020204020204" charset="-122"/>
                <a:sym typeface="Arial" panose="020B0604020202020204" pitchFamily="34" charset="0"/>
              </a:endParaRPr>
            </a:p>
          </p:txBody>
        </p:sp>
        <p:sp>
          <p:nvSpPr>
            <p:cNvPr id="18" name="文本框 17"/>
            <p:cNvSpPr txBox="1"/>
            <p:nvPr>
              <p:custDataLst>
                <p:tags r:id="rId6"/>
              </p:custDataLst>
            </p:nvPr>
          </p:nvSpPr>
          <p:spPr>
            <a:xfrm>
              <a:off x="9604" y="1656"/>
              <a:ext cx="577" cy="774"/>
            </a:xfrm>
            <a:prstGeom prst="rect">
              <a:avLst/>
            </a:prstGeom>
            <a:noFill/>
          </p:spPr>
          <p:txBody>
            <a:bodyPr wrap="none" rtlCol="0">
              <a:spAutoFit/>
            </a:bodyPr>
            <a:lstStyle/>
            <a:p>
              <a:r>
                <a:rPr lang="en-US" altLang="zh-CN" sz="2600" dirty="0">
                  <a:solidFill>
                    <a:schemeClr val="bg1"/>
                  </a:solidFill>
                  <a:latin typeface="Arial" panose="020B0604020202020204" pitchFamily="34" charset="0"/>
                  <a:ea typeface="微软雅黑" panose="020B0503020204020204" charset="-122"/>
                  <a:sym typeface="Arial" panose="020B0604020202020204" pitchFamily="34" charset="0"/>
                </a:rPr>
                <a:t>1</a:t>
              </a:r>
              <a:endParaRPr lang="en-US" altLang="zh-CN" sz="2600" dirty="0">
                <a:solidFill>
                  <a:schemeClr val="bg1"/>
                </a:solidFill>
                <a:latin typeface="Arial" panose="020B0604020202020204" pitchFamily="34" charset="0"/>
                <a:ea typeface="微软雅黑" panose="020B0503020204020204" charset="-122"/>
                <a:sym typeface="Arial" panose="020B0604020202020204" pitchFamily="34" charset="0"/>
              </a:endParaRPr>
            </a:p>
          </p:txBody>
        </p:sp>
      </p:grpSp>
      <p:grpSp>
        <p:nvGrpSpPr>
          <p:cNvPr id="3" name="组合 2"/>
          <p:cNvGrpSpPr/>
          <p:nvPr/>
        </p:nvGrpSpPr>
        <p:grpSpPr>
          <a:xfrm>
            <a:off x="5550535" y="2074545"/>
            <a:ext cx="2221230" cy="521970"/>
            <a:chOff x="9550" y="1626"/>
            <a:chExt cx="3498" cy="822"/>
          </a:xfrm>
        </p:grpSpPr>
        <p:sp>
          <p:nvSpPr>
            <p:cNvPr id="4" name="椭圆 3"/>
            <p:cNvSpPr/>
            <p:nvPr>
              <p:custDataLst>
                <p:tags r:id="rId7"/>
              </p:custDataLst>
            </p:nvPr>
          </p:nvSpPr>
          <p:spPr>
            <a:xfrm>
              <a:off x="9550" y="1702"/>
              <a:ext cx="680" cy="680"/>
            </a:xfrm>
            <a:prstGeom prst="ellipse">
              <a:avLst/>
            </a:prstGeom>
            <a:gradFill flip="none" rotWithShape="1">
              <a:gsLst>
                <a:gs pos="0">
                  <a:srgbClr val="00907D"/>
                </a:gs>
                <a:gs pos="100000">
                  <a:srgbClr val="00907D">
                    <a:alpha val="19000"/>
                  </a:srgbClr>
                </a:gs>
              </a:gsLst>
              <a:lin ang="15600000" scaled="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5" name="文本框 4"/>
            <p:cNvSpPr txBox="1"/>
            <p:nvPr>
              <p:custDataLst>
                <p:tags r:id="rId8"/>
              </p:custDataLst>
            </p:nvPr>
          </p:nvSpPr>
          <p:spPr>
            <a:xfrm>
              <a:off x="10274" y="1626"/>
              <a:ext cx="2774" cy="822"/>
            </a:xfrm>
            <a:prstGeom prst="rect">
              <a:avLst/>
            </a:prstGeom>
            <a:noFill/>
          </p:spPr>
          <p:txBody>
            <a:bodyPr wrap="square">
              <a:spAutoFit/>
            </a:bodyPr>
            <a:lstStyle/>
            <a:p>
              <a:pPr lvl="0" algn="l">
                <a:buClrTx/>
                <a:buSzTx/>
                <a:buFontTx/>
              </a:pPr>
              <a:r>
                <a:rPr lang="zh-CN" altLang="en-US" sz="2800" dirty="0">
                  <a:solidFill>
                    <a:schemeClr val="tx2">
                      <a:lumMod val="75000"/>
                    </a:schemeClr>
                  </a:solidFill>
                  <a:latin typeface="Arial" panose="020B0604020202020204" pitchFamily="34" charset="0"/>
                  <a:ea typeface="微软雅黑" panose="020B0503020204020204" charset="-122"/>
                  <a:sym typeface="Arial" panose="020B0604020202020204" pitchFamily="34" charset="0"/>
                </a:rPr>
                <a:t>项目概况</a:t>
              </a:r>
              <a:endParaRPr lang="zh-CN" altLang="en-US" sz="2800" dirty="0">
                <a:solidFill>
                  <a:schemeClr val="tx2">
                    <a:lumMod val="75000"/>
                  </a:schemeClr>
                </a:solidFill>
                <a:latin typeface="Arial" panose="020B0604020202020204" pitchFamily="34" charset="0"/>
                <a:ea typeface="微软雅黑" panose="020B0503020204020204" charset="-122"/>
                <a:sym typeface="Arial" panose="020B0604020202020204" pitchFamily="34" charset="0"/>
              </a:endParaRPr>
            </a:p>
          </p:txBody>
        </p:sp>
        <p:sp>
          <p:nvSpPr>
            <p:cNvPr id="6" name="文本框 5"/>
            <p:cNvSpPr txBox="1"/>
            <p:nvPr>
              <p:custDataLst>
                <p:tags r:id="rId9"/>
              </p:custDataLst>
            </p:nvPr>
          </p:nvSpPr>
          <p:spPr>
            <a:xfrm>
              <a:off x="9604" y="1656"/>
              <a:ext cx="577" cy="774"/>
            </a:xfrm>
            <a:prstGeom prst="rect">
              <a:avLst/>
            </a:prstGeom>
            <a:noFill/>
          </p:spPr>
          <p:txBody>
            <a:bodyPr wrap="none" rtlCol="0">
              <a:spAutoFit/>
            </a:bodyPr>
            <a:lstStyle/>
            <a:p>
              <a:r>
                <a:rPr lang="en-US" altLang="zh-CN" sz="2600" dirty="0">
                  <a:solidFill>
                    <a:schemeClr val="bg1"/>
                  </a:solidFill>
                  <a:latin typeface="Arial" panose="020B0604020202020204" pitchFamily="34" charset="0"/>
                  <a:ea typeface="微软雅黑" panose="020B0503020204020204" charset="-122"/>
                  <a:sym typeface="Arial" panose="020B0604020202020204" pitchFamily="34" charset="0"/>
                </a:rPr>
                <a:t>2</a:t>
              </a:r>
              <a:endParaRPr lang="en-US" altLang="zh-CN" sz="2600" dirty="0">
                <a:solidFill>
                  <a:schemeClr val="bg1"/>
                </a:solidFill>
                <a:latin typeface="Arial" panose="020B0604020202020204" pitchFamily="34" charset="0"/>
                <a:ea typeface="微软雅黑" panose="020B0503020204020204" charset="-122"/>
                <a:sym typeface="Arial" panose="020B0604020202020204" pitchFamily="34" charset="0"/>
              </a:endParaRPr>
            </a:p>
          </p:txBody>
        </p:sp>
      </p:grpSp>
      <p:grpSp>
        <p:nvGrpSpPr>
          <p:cNvPr id="7" name="组合 6"/>
          <p:cNvGrpSpPr/>
          <p:nvPr/>
        </p:nvGrpSpPr>
        <p:grpSpPr>
          <a:xfrm>
            <a:off x="8552815" y="2013585"/>
            <a:ext cx="2221230" cy="521970"/>
            <a:chOff x="9550" y="1626"/>
            <a:chExt cx="3498" cy="822"/>
          </a:xfrm>
        </p:grpSpPr>
        <p:sp>
          <p:nvSpPr>
            <p:cNvPr id="11" name="椭圆 10"/>
            <p:cNvSpPr/>
            <p:nvPr>
              <p:custDataLst>
                <p:tags r:id="rId10"/>
              </p:custDataLst>
            </p:nvPr>
          </p:nvSpPr>
          <p:spPr>
            <a:xfrm>
              <a:off x="9550" y="1702"/>
              <a:ext cx="680" cy="680"/>
            </a:xfrm>
            <a:prstGeom prst="ellipse">
              <a:avLst/>
            </a:prstGeom>
            <a:gradFill flip="none" rotWithShape="1">
              <a:gsLst>
                <a:gs pos="0">
                  <a:srgbClr val="00907D"/>
                </a:gs>
                <a:gs pos="100000">
                  <a:srgbClr val="00907D">
                    <a:alpha val="19000"/>
                  </a:srgbClr>
                </a:gs>
              </a:gsLst>
              <a:lin ang="15600000" scaled="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2" name="文本框 11"/>
            <p:cNvSpPr txBox="1"/>
            <p:nvPr>
              <p:custDataLst>
                <p:tags r:id="rId11"/>
              </p:custDataLst>
            </p:nvPr>
          </p:nvSpPr>
          <p:spPr>
            <a:xfrm>
              <a:off x="10274" y="1626"/>
              <a:ext cx="2774" cy="822"/>
            </a:xfrm>
            <a:prstGeom prst="rect">
              <a:avLst/>
            </a:prstGeom>
            <a:noFill/>
          </p:spPr>
          <p:txBody>
            <a:bodyPr wrap="square">
              <a:spAutoFit/>
            </a:bodyPr>
            <a:lstStyle/>
            <a:p>
              <a:pPr lvl="0" algn="l">
                <a:buClrTx/>
                <a:buSzTx/>
                <a:buFontTx/>
              </a:pPr>
              <a:r>
                <a:rPr lang="zh-CN" altLang="en-US" sz="2800" dirty="0">
                  <a:solidFill>
                    <a:schemeClr val="tx2">
                      <a:lumMod val="75000"/>
                    </a:schemeClr>
                  </a:solidFill>
                  <a:latin typeface="Arial" panose="020B0604020202020204" pitchFamily="34" charset="0"/>
                  <a:ea typeface="微软雅黑" panose="020B0503020204020204" charset="-122"/>
                  <a:sym typeface="Arial" panose="020B0604020202020204" pitchFamily="34" charset="0"/>
                </a:rPr>
                <a:t>项目需求</a:t>
              </a:r>
              <a:endParaRPr lang="zh-CN" altLang="en-US" sz="2800" dirty="0">
                <a:solidFill>
                  <a:schemeClr val="tx2">
                    <a:lumMod val="75000"/>
                  </a:schemeClr>
                </a:solidFill>
                <a:latin typeface="Arial" panose="020B0604020202020204" pitchFamily="34" charset="0"/>
                <a:ea typeface="微软雅黑" panose="020B0503020204020204" charset="-122"/>
                <a:sym typeface="Arial" panose="020B0604020202020204" pitchFamily="34" charset="0"/>
              </a:endParaRPr>
            </a:p>
          </p:txBody>
        </p:sp>
        <p:sp>
          <p:nvSpPr>
            <p:cNvPr id="14" name="文本框 13"/>
            <p:cNvSpPr txBox="1"/>
            <p:nvPr>
              <p:custDataLst>
                <p:tags r:id="rId12"/>
              </p:custDataLst>
            </p:nvPr>
          </p:nvSpPr>
          <p:spPr>
            <a:xfrm>
              <a:off x="9604" y="1656"/>
              <a:ext cx="577" cy="774"/>
            </a:xfrm>
            <a:prstGeom prst="rect">
              <a:avLst/>
            </a:prstGeom>
            <a:noFill/>
          </p:spPr>
          <p:txBody>
            <a:bodyPr wrap="none" rtlCol="0">
              <a:spAutoFit/>
            </a:bodyPr>
            <a:lstStyle/>
            <a:p>
              <a:r>
                <a:rPr lang="en-US" altLang="zh-CN" sz="2600" dirty="0">
                  <a:solidFill>
                    <a:schemeClr val="bg1"/>
                  </a:solidFill>
                  <a:latin typeface="Arial" panose="020B0604020202020204" pitchFamily="34" charset="0"/>
                  <a:ea typeface="微软雅黑" panose="020B0503020204020204" charset="-122"/>
                  <a:sym typeface="Arial" panose="020B0604020202020204" pitchFamily="34" charset="0"/>
                </a:rPr>
                <a:t>3</a:t>
              </a:r>
              <a:endParaRPr lang="en-US" altLang="zh-CN" sz="2600" dirty="0">
                <a:solidFill>
                  <a:schemeClr val="bg1"/>
                </a:solidFill>
                <a:latin typeface="Arial" panose="020B0604020202020204" pitchFamily="34" charset="0"/>
                <a:ea typeface="微软雅黑" panose="020B0503020204020204" charset="-122"/>
                <a:sym typeface="Arial" panose="020B0604020202020204" pitchFamily="34" charset="0"/>
              </a:endParaRPr>
            </a:p>
          </p:txBody>
        </p:sp>
      </p:grpSp>
      <p:grpSp>
        <p:nvGrpSpPr>
          <p:cNvPr id="17" name="组合 16"/>
          <p:cNvGrpSpPr/>
          <p:nvPr/>
        </p:nvGrpSpPr>
        <p:grpSpPr>
          <a:xfrm>
            <a:off x="2802255" y="3232150"/>
            <a:ext cx="2221230" cy="521970"/>
            <a:chOff x="9550" y="1626"/>
            <a:chExt cx="3498" cy="822"/>
          </a:xfrm>
        </p:grpSpPr>
        <p:sp>
          <p:nvSpPr>
            <p:cNvPr id="19" name="椭圆 18"/>
            <p:cNvSpPr/>
            <p:nvPr>
              <p:custDataLst>
                <p:tags r:id="rId13"/>
              </p:custDataLst>
            </p:nvPr>
          </p:nvSpPr>
          <p:spPr>
            <a:xfrm>
              <a:off x="9550" y="1702"/>
              <a:ext cx="680" cy="680"/>
            </a:xfrm>
            <a:prstGeom prst="ellipse">
              <a:avLst/>
            </a:prstGeom>
            <a:gradFill flip="none" rotWithShape="1">
              <a:gsLst>
                <a:gs pos="0">
                  <a:srgbClr val="00907D"/>
                </a:gs>
                <a:gs pos="100000">
                  <a:srgbClr val="00907D">
                    <a:alpha val="19000"/>
                  </a:srgbClr>
                </a:gs>
              </a:gsLst>
              <a:lin ang="15600000" scaled="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20" name="文本框 19"/>
            <p:cNvSpPr txBox="1"/>
            <p:nvPr>
              <p:custDataLst>
                <p:tags r:id="rId14"/>
              </p:custDataLst>
            </p:nvPr>
          </p:nvSpPr>
          <p:spPr>
            <a:xfrm>
              <a:off x="10274" y="1626"/>
              <a:ext cx="2774" cy="822"/>
            </a:xfrm>
            <a:prstGeom prst="rect">
              <a:avLst/>
            </a:prstGeom>
            <a:noFill/>
          </p:spPr>
          <p:txBody>
            <a:bodyPr wrap="square">
              <a:spAutoFit/>
            </a:bodyPr>
            <a:lstStyle/>
            <a:p>
              <a:pPr lvl="0" algn="l">
                <a:buClrTx/>
                <a:buSzTx/>
                <a:buFontTx/>
              </a:pPr>
              <a:r>
                <a:rPr lang="zh-CN" altLang="en-US" sz="2800" dirty="0">
                  <a:solidFill>
                    <a:schemeClr val="tx2">
                      <a:lumMod val="75000"/>
                    </a:schemeClr>
                  </a:solidFill>
                  <a:latin typeface="Arial" panose="020B0604020202020204" pitchFamily="34" charset="0"/>
                  <a:ea typeface="微软雅黑" panose="020B0503020204020204" charset="-122"/>
                  <a:sym typeface="Arial" panose="020B0604020202020204" pitchFamily="34" charset="0"/>
                </a:rPr>
                <a:t>项目规划</a:t>
              </a:r>
              <a:endParaRPr lang="zh-CN" altLang="en-US" sz="2800" dirty="0">
                <a:solidFill>
                  <a:schemeClr val="tx2">
                    <a:lumMod val="75000"/>
                  </a:schemeClr>
                </a:solidFill>
                <a:latin typeface="Arial" panose="020B0604020202020204" pitchFamily="34" charset="0"/>
                <a:ea typeface="微软雅黑" panose="020B0503020204020204" charset="-122"/>
                <a:sym typeface="Arial" panose="020B0604020202020204" pitchFamily="34" charset="0"/>
              </a:endParaRPr>
            </a:p>
          </p:txBody>
        </p:sp>
        <p:sp>
          <p:nvSpPr>
            <p:cNvPr id="21" name="文本框 20"/>
            <p:cNvSpPr txBox="1"/>
            <p:nvPr>
              <p:custDataLst>
                <p:tags r:id="rId15"/>
              </p:custDataLst>
            </p:nvPr>
          </p:nvSpPr>
          <p:spPr>
            <a:xfrm>
              <a:off x="9604" y="1656"/>
              <a:ext cx="577" cy="774"/>
            </a:xfrm>
            <a:prstGeom prst="rect">
              <a:avLst/>
            </a:prstGeom>
            <a:noFill/>
          </p:spPr>
          <p:txBody>
            <a:bodyPr wrap="none" rtlCol="0">
              <a:spAutoFit/>
            </a:bodyPr>
            <a:lstStyle/>
            <a:p>
              <a:r>
                <a:rPr lang="en-US" altLang="zh-CN" sz="2600" dirty="0">
                  <a:solidFill>
                    <a:schemeClr val="bg1"/>
                  </a:solidFill>
                  <a:latin typeface="Arial" panose="020B0604020202020204" pitchFamily="34" charset="0"/>
                  <a:ea typeface="微软雅黑" panose="020B0503020204020204" charset="-122"/>
                  <a:sym typeface="Arial" panose="020B0604020202020204" pitchFamily="34" charset="0"/>
                </a:rPr>
                <a:t>4</a:t>
              </a:r>
              <a:endParaRPr lang="en-US" altLang="zh-CN" sz="2600" dirty="0">
                <a:solidFill>
                  <a:schemeClr val="bg1"/>
                </a:solidFill>
                <a:latin typeface="Arial" panose="020B0604020202020204" pitchFamily="34" charset="0"/>
                <a:ea typeface="微软雅黑" panose="020B0503020204020204" charset="-122"/>
                <a:sym typeface="Arial" panose="020B0604020202020204" pitchFamily="34" charset="0"/>
              </a:endParaRPr>
            </a:p>
          </p:txBody>
        </p:sp>
      </p:grpSp>
      <p:grpSp>
        <p:nvGrpSpPr>
          <p:cNvPr id="22" name="组合 21"/>
          <p:cNvGrpSpPr/>
          <p:nvPr/>
        </p:nvGrpSpPr>
        <p:grpSpPr>
          <a:xfrm>
            <a:off x="5550535" y="3251200"/>
            <a:ext cx="2221230" cy="521970"/>
            <a:chOff x="9550" y="1626"/>
            <a:chExt cx="3498" cy="822"/>
          </a:xfrm>
        </p:grpSpPr>
        <p:sp>
          <p:nvSpPr>
            <p:cNvPr id="23" name="椭圆 22"/>
            <p:cNvSpPr/>
            <p:nvPr>
              <p:custDataLst>
                <p:tags r:id="rId16"/>
              </p:custDataLst>
            </p:nvPr>
          </p:nvSpPr>
          <p:spPr>
            <a:xfrm>
              <a:off x="9550" y="1702"/>
              <a:ext cx="680" cy="680"/>
            </a:xfrm>
            <a:prstGeom prst="ellipse">
              <a:avLst/>
            </a:prstGeom>
            <a:gradFill flip="none" rotWithShape="1">
              <a:gsLst>
                <a:gs pos="0">
                  <a:srgbClr val="00907D"/>
                </a:gs>
                <a:gs pos="100000">
                  <a:srgbClr val="00907D">
                    <a:alpha val="19000"/>
                  </a:srgbClr>
                </a:gs>
              </a:gsLst>
              <a:lin ang="15600000" scaled="0"/>
            </a:gra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24" name="文本框 23"/>
            <p:cNvSpPr txBox="1"/>
            <p:nvPr>
              <p:custDataLst>
                <p:tags r:id="rId17"/>
              </p:custDataLst>
            </p:nvPr>
          </p:nvSpPr>
          <p:spPr>
            <a:xfrm>
              <a:off x="10274" y="1626"/>
              <a:ext cx="2774" cy="822"/>
            </a:xfrm>
            <a:prstGeom prst="rect">
              <a:avLst/>
            </a:prstGeom>
            <a:noFill/>
          </p:spPr>
          <p:txBody>
            <a:bodyPr wrap="square">
              <a:spAutoFit/>
            </a:bodyPr>
            <a:lstStyle/>
            <a:p>
              <a:pPr lvl="0" algn="l">
                <a:buClrTx/>
                <a:buSzTx/>
                <a:buFontTx/>
              </a:pPr>
              <a:r>
                <a:rPr lang="zh-CN" altLang="en-US" sz="2800" dirty="0">
                  <a:solidFill>
                    <a:schemeClr val="tx2">
                      <a:lumMod val="75000"/>
                    </a:schemeClr>
                  </a:solidFill>
                  <a:latin typeface="Arial" panose="020B0604020202020204" pitchFamily="34" charset="0"/>
                  <a:ea typeface="微软雅黑" panose="020B0503020204020204" charset="-122"/>
                  <a:sym typeface="Arial" panose="020B0604020202020204" pitchFamily="34" charset="0"/>
                </a:rPr>
                <a:t>知识产权</a:t>
              </a:r>
              <a:endParaRPr lang="zh-CN" altLang="en-US" sz="2800" dirty="0">
                <a:solidFill>
                  <a:schemeClr val="tx2">
                    <a:lumMod val="75000"/>
                  </a:schemeClr>
                </a:solidFill>
                <a:latin typeface="Arial" panose="020B0604020202020204" pitchFamily="34" charset="0"/>
                <a:ea typeface="微软雅黑" panose="020B0503020204020204" charset="-122"/>
                <a:sym typeface="Arial" panose="020B0604020202020204" pitchFamily="34" charset="0"/>
              </a:endParaRPr>
            </a:p>
          </p:txBody>
        </p:sp>
        <p:sp>
          <p:nvSpPr>
            <p:cNvPr id="25" name="文本框 24"/>
            <p:cNvSpPr txBox="1"/>
            <p:nvPr>
              <p:custDataLst>
                <p:tags r:id="rId18"/>
              </p:custDataLst>
            </p:nvPr>
          </p:nvSpPr>
          <p:spPr>
            <a:xfrm>
              <a:off x="9604" y="1656"/>
              <a:ext cx="577" cy="774"/>
            </a:xfrm>
            <a:prstGeom prst="rect">
              <a:avLst/>
            </a:prstGeom>
            <a:noFill/>
          </p:spPr>
          <p:txBody>
            <a:bodyPr wrap="none" rtlCol="0">
              <a:spAutoFit/>
            </a:bodyPr>
            <a:lstStyle/>
            <a:p>
              <a:r>
                <a:rPr lang="en-US" altLang="zh-CN" sz="2600" dirty="0">
                  <a:solidFill>
                    <a:schemeClr val="bg1"/>
                  </a:solidFill>
                  <a:latin typeface="Arial" panose="020B0604020202020204" pitchFamily="34" charset="0"/>
                  <a:ea typeface="微软雅黑" panose="020B0503020204020204" charset="-122"/>
                  <a:sym typeface="Arial" panose="020B0604020202020204" pitchFamily="34" charset="0"/>
                </a:rPr>
                <a:t>5</a:t>
              </a:r>
              <a:endParaRPr lang="en-US" altLang="zh-CN" sz="2600" dirty="0">
                <a:solidFill>
                  <a:schemeClr val="bg1"/>
                </a:solidFill>
                <a:latin typeface="Arial" panose="020B0604020202020204" pitchFamily="34" charset="0"/>
                <a:ea typeface="微软雅黑" panose="020B0503020204020204" charset="-122"/>
                <a:sym typeface="Arial" panose="020B0604020202020204" pitchFamily="34" charset="0"/>
              </a:endParaRPr>
            </a:p>
          </p:txBody>
        </p:sp>
      </p:gr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298700" y="1943100"/>
            <a:ext cx="647700" cy="647700"/>
          </a:xfrm>
          <a:prstGeom prst="roundRect">
            <a:avLst>
              <a:gd name="adj" fmla="val 17647"/>
            </a:avLst>
          </a:prstGeom>
          <a:gradFill rotWithShape="0">
            <a:gsLst>
              <a:gs pos="0">
                <a:srgbClr val="30C0B4">
                  <a:alpha val="100000"/>
                </a:srgbClr>
              </a:gs>
              <a:gs pos="100000">
                <a:srgbClr val="0BB972">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336800" y="1943100"/>
            <a:ext cx="762000" cy="673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800" b="0"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sp>
        <p:nvSpPr>
          <p:cNvPr id="5" name="AutoShape 5"/>
          <p:cNvSpPr/>
          <p:nvPr/>
        </p:nvSpPr>
        <p:spPr>
          <a:xfrm>
            <a:off x="2159000" y="2679700"/>
            <a:ext cx="73279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3600" b="1" i="0" u="none" strike="noStrike">
                <a:solidFill>
                  <a:srgbClr val="333F5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项目背景</a:t>
            </a:r>
            <a:endParaRPr lang="zh-CN" altLang="en-US" sz="3600" b="1" i="0" u="none" strike="noStrike">
              <a:solidFill>
                <a:srgbClr val="333F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2197100" y="3568700"/>
            <a:ext cx="7620000" cy="368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国家政策指引与公司战略驱动</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项目背景</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9" name="组合 18" descr="7b0a202020202274657874626f78223a20227b5c2269645c223a32303334353331392c5c227469645c223a5c225c227d220a7d0a"/>
          <p:cNvGrpSpPr/>
          <p:nvPr>
            <p:custDataLst>
              <p:tags r:id="rId2"/>
            </p:custDataLst>
          </p:nvPr>
        </p:nvGrpSpPr>
        <p:grpSpPr>
          <a:xfrm>
            <a:off x="187960" y="1480185"/>
            <a:ext cx="6021070" cy="3636645"/>
            <a:chOff x="5378" y="3433"/>
            <a:chExt cx="8488" cy="4093"/>
          </a:xfrm>
        </p:grpSpPr>
        <p:pic>
          <p:nvPicPr>
            <p:cNvPr id="21" name="图片 20" descr="电脑背景_复制"/>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rcRect l="73155" t="17275" r="15996" b="63732"/>
            <a:stretch>
              <a:fillRect/>
            </a:stretch>
          </p:blipFill>
          <p:spPr>
            <a:xfrm>
              <a:off x="12459" y="3433"/>
              <a:ext cx="868" cy="844"/>
            </a:xfrm>
            <a:prstGeom prst="rect">
              <a:avLst/>
            </a:prstGeom>
            <a:pattFill>
              <a:fgClr>
                <a:srgbClr val="FFFFFF"/>
              </a:fgClr>
              <a:bgClr>
                <a:srgbClr val="FFFFFF"/>
              </a:bgClr>
            </a:pattFill>
          </p:spPr>
        </p:pic>
        <p:pic>
          <p:nvPicPr>
            <p:cNvPr id="22" name="图片 21" descr="2"/>
            <p:cNvPicPr>
              <a:picLocks noChangeAspect="1"/>
            </p:cNvPicPr>
            <p:nvPr>
              <p:custDataLst>
                <p:tags r:id="rId6"/>
              </p:custDataLst>
            </p:nvPr>
          </p:nvPicPr>
          <p:blipFill>
            <a:blip r:embed="rId7">
              <a:extLst>
                <a:ext uri="{96DAC541-7B7A-43D3-8B79-37D633B846F1}">
                  <asvg:svgBlip xmlns:asvg="http://schemas.microsoft.com/office/drawing/2016/SVG/main" r:embed="rId8"/>
                </a:ext>
              </a:extLst>
            </a:blip>
            <a:srcRect l="15356" t="71677" r="74235" b="10566"/>
            <a:stretch>
              <a:fillRect/>
            </a:stretch>
          </p:blipFill>
          <p:spPr>
            <a:xfrm>
              <a:off x="5889" y="6467"/>
              <a:ext cx="689" cy="764"/>
            </a:xfrm>
            <a:prstGeom prst="rect">
              <a:avLst/>
            </a:prstGeom>
            <a:pattFill>
              <a:fgClr>
                <a:srgbClr val="FFFFFF"/>
              </a:fgClr>
              <a:bgClr>
                <a:srgbClr val="FFFFFF"/>
              </a:bgClr>
            </a:pattFill>
          </p:spPr>
        </p:pic>
        <p:pic>
          <p:nvPicPr>
            <p:cNvPr id="23" name="图片 22" descr="12358"/>
            <p:cNvPicPr>
              <a:picLocks noChangeAspect="1"/>
            </p:cNvPicPr>
            <p:nvPr>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5804" y="3508"/>
              <a:ext cx="7555" cy="3734"/>
            </a:xfrm>
            <a:prstGeom prst="rect">
              <a:avLst/>
            </a:prstGeom>
          </p:spPr>
        </p:pic>
        <p:sp>
          <p:nvSpPr>
            <p:cNvPr id="24" name="文本框 23"/>
            <p:cNvSpPr txBox="1"/>
            <p:nvPr>
              <p:custDataLst>
                <p:tags r:id="rId12"/>
              </p:custDataLst>
            </p:nvPr>
          </p:nvSpPr>
          <p:spPr>
            <a:xfrm>
              <a:off x="6475" y="4325"/>
              <a:ext cx="6266" cy="2185"/>
            </a:xfrm>
            <a:prstGeom prst="rect">
              <a:avLst/>
            </a:prstGeom>
            <a:noFill/>
          </p:spPr>
          <p:txBody>
            <a:bodyPr vert="horz" wrap="square" rtlCol="0" anchor="ctr" anchorCtr="0"/>
            <a:p>
              <a:pPr algn="l">
                <a:lnSpc>
                  <a:spcPct val="150000"/>
                </a:lnSpc>
                <a:buSzTx/>
                <a:buNone/>
              </a:pPr>
              <a:r>
                <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sym typeface="+mn-ea"/>
                </a:rPr>
                <a:t>1、概况视图界面支持可配置，可扩展</a:t>
              </a:r>
              <a:endPar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endParaRPr>
            </a:p>
            <a:p>
              <a:pPr algn="l">
                <a:lnSpc>
                  <a:spcPct val="150000"/>
                </a:lnSpc>
                <a:buSzTx/>
                <a:buNone/>
              </a:pPr>
              <a:r>
                <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sym typeface="+mn-ea"/>
                </a:rPr>
                <a:t>2、业务数据持续补充（慢阻肺）</a:t>
              </a:r>
              <a:endPar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endParaRPr>
            </a:p>
            <a:p>
              <a:pPr algn="l">
                <a:lnSpc>
                  <a:spcPct val="150000"/>
                </a:lnSpc>
                <a:buSzTx/>
                <a:buNone/>
              </a:pPr>
              <a:r>
                <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sym typeface="+mn-ea"/>
                </a:rPr>
                <a:t>3、支持科室，固定人员数据屏蔽，脱敏</a:t>
              </a:r>
              <a:endPar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endParaRPr>
            </a:p>
            <a:p>
              <a:pPr algn="ctr">
                <a:lnSpc>
                  <a:spcPct val="150000"/>
                </a:lnSpc>
              </a:pPr>
              <a:endParaRPr lang="zh-CN" altLang="en-US" sz="1600" b="1" spc="120" dirty="0">
                <a:solidFill>
                  <a:schemeClr val="accent1">
                    <a:lumMod val="75000"/>
                  </a:schemeClr>
                </a:solidFill>
                <a:latin typeface="仿宋" panose="02010609060101010101" charset="-122"/>
                <a:ea typeface="仿宋" panose="02010609060101010101" charset="-122"/>
                <a:cs typeface="仿宋" panose="02010609060101010101" charset="-122"/>
                <a:sym typeface="+mn-ea"/>
              </a:endParaRPr>
            </a:p>
          </p:txBody>
        </p:sp>
        <p:pic>
          <p:nvPicPr>
            <p:cNvPr id="25" name="图片 24" descr="41562"/>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6747" y="4133"/>
              <a:ext cx="5669" cy="24"/>
            </a:xfrm>
            <a:prstGeom prst="rect">
              <a:avLst/>
            </a:prstGeom>
          </p:spPr>
        </p:pic>
        <p:pic>
          <p:nvPicPr>
            <p:cNvPr id="26" name="图片 25" descr="452_画板 1"/>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13316" y="4472"/>
              <a:ext cx="550" cy="1080"/>
            </a:xfrm>
            <a:prstGeom prst="rect">
              <a:avLst/>
            </a:prstGeom>
            <a:pattFill>
              <a:fgClr>
                <a:srgbClr val="FFFFFF"/>
              </a:fgClr>
              <a:bgClr>
                <a:srgbClr val="FFFFFF"/>
              </a:bgClr>
            </a:pattFill>
          </p:spPr>
        </p:pic>
        <p:pic>
          <p:nvPicPr>
            <p:cNvPr id="27" name="图片 26" descr="455_画板 1"/>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5378" y="5474"/>
              <a:ext cx="522" cy="1025"/>
            </a:xfrm>
            <a:prstGeom prst="rect">
              <a:avLst/>
            </a:prstGeom>
            <a:pattFill>
              <a:fgClr>
                <a:srgbClr val="FFFFFF"/>
              </a:fgClr>
              <a:bgClr>
                <a:srgbClr val="FFFFFF"/>
              </a:bgClr>
            </a:pattFill>
          </p:spPr>
        </p:pic>
        <p:pic>
          <p:nvPicPr>
            <p:cNvPr id="28" name="图片 27" descr="496_画板 1"/>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9171" y="7157"/>
              <a:ext cx="858" cy="369"/>
            </a:xfrm>
            <a:prstGeom prst="rect">
              <a:avLst/>
            </a:prstGeom>
          </p:spPr>
        </p:pic>
        <p:pic>
          <p:nvPicPr>
            <p:cNvPr id="29" name="图片 28" descr="4652"/>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12010" y="3779"/>
              <a:ext cx="406" cy="186"/>
            </a:xfrm>
            <a:prstGeom prst="rect">
              <a:avLst/>
            </a:prstGeom>
            <a:pattFill>
              <a:fgClr>
                <a:srgbClr val="FFFFFF"/>
              </a:fgClr>
              <a:bgClr>
                <a:srgbClr val="FFFFFF"/>
              </a:bgClr>
            </a:pattFill>
          </p:spPr>
        </p:pic>
        <p:pic>
          <p:nvPicPr>
            <p:cNvPr id="30" name="图片 29" descr="123"/>
            <p:cNvPicPr>
              <a:picLocks noChangeAspect="1"/>
            </p:cNvPicPr>
            <p:nvPr>
              <p:custDataLst>
                <p:tags r:id="rId28"/>
              </p:custDataLst>
            </p:nvPr>
          </p:nvPicPr>
          <p:blipFill>
            <a:blip r:embed="rId29">
              <a:extLst>
                <a:ext uri="{96DAC541-7B7A-43D3-8B79-37D633B846F1}">
                  <asvg:svgBlip xmlns:asvg="http://schemas.microsoft.com/office/drawing/2016/SVG/main" r:embed="rId30"/>
                </a:ext>
              </a:extLst>
            </a:blip>
            <a:stretch>
              <a:fillRect/>
            </a:stretch>
          </p:blipFill>
          <p:spPr>
            <a:xfrm>
              <a:off x="6747" y="3841"/>
              <a:ext cx="781" cy="63"/>
            </a:xfrm>
            <a:prstGeom prst="rect">
              <a:avLst/>
            </a:prstGeom>
            <a:pattFill>
              <a:fgClr>
                <a:srgbClr val="FFFFFF"/>
              </a:fgClr>
              <a:bgClr>
                <a:srgbClr val="FFFFFF"/>
              </a:bgClr>
            </a:pattFill>
          </p:spPr>
        </p:pic>
      </p:grpSp>
      <p:grpSp>
        <p:nvGrpSpPr>
          <p:cNvPr id="32" name="组合 31" descr="7b0a202020202274657874626f78223a20227b5c2269645c223a32303334353331392c5c227469645c223a5c225c227d220a7d0a"/>
          <p:cNvGrpSpPr/>
          <p:nvPr>
            <p:custDataLst>
              <p:tags r:id="rId31"/>
            </p:custDataLst>
          </p:nvPr>
        </p:nvGrpSpPr>
        <p:grpSpPr>
          <a:xfrm>
            <a:off x="6123940" y="1480185"/>
            <a:ext cx="6021070" cy="3636645"/>
            <a:chOff x="5378" y="3433"/>
            <a:chExt cx="8488" cy="4093"/>
          </a:xfrm>
        </p:grpSpPr>
        <p:pic>
          <p:nvPicPr>
            <p:cNvPr id="34" name="图片 33" descr="电脑背景_复制"/>
            <p:cNvPicPr>
              <a:picLocks noChangeAspect="1"/>
            </p:cNvPicPr>
            <p:nvPr>
              <p:custDataLst>
                <p:tags r:id="rId32"/>
              </p:custDataLst>
            </p:nvPr>
          </p:nvPicPr>
          <p:blipFill>
            <a:blip r:embed="rId4">
              <a:extLst>
                <a:ext uri="{96DAC541-7B7A-43D3-8B79-37D633B846F1}">
                  <asvg:svgBlip xmlns:asvg="http://schemas.microsoft.com/office/drawing/2016/SVG/main" r:embed="rId5"/>
                </a:ext>
              </a:extLst>
            </a:blip>
            <a:srcRect l="73155" t="17275" r="15996" b="63732"/>
            <a:stretch>
              <a:fillRect/>
            </a:stretch>
          </p:blipFill>
          <p:spPr>
            <a:xfrm>
              <a:off x="12459" y="3433"/>
              <a:ext cx="868" cy="844"/>
            </a:xfrm>
            <a:prstGeom prst="rect">
              <a:avLst/>
            </a:prstGeom>
            <a:pattFill>
              <a:fgClr>
                <a:srgbClr val="FFFFFF"/>
              </a:fgClr>
              <a:bgClr>
                <a:srgbClr val="FFFFFF"/>
              </a:bgClr>
            </a:pattFill>
          </p:spPr>
        </p:pic>
        <p:pic>
          <p:nvPicPr>
            <p:cNvPr id="35" name="图片 34" descr="2"/>
            <p:cNvPicPr>
              <a:picLocks noChangeAspect="1"/>
            </p:cNvPicPr>
            <p:nvPr>
              <p:custDataLst>
                <p:tags r:id="rId33"/>
              </p:custDataLst>
            </p:nvPr>
          </p:nvPicPr>
          <p:blipFill>
            <a:blip r:embed="rId7">
              <a:extLst>
                <a:ext uri="{96DAC541-7B7A-43D3-8B79-37D633B846F1}">
                  <asvg:svgBlip xmlns:asvg="http://schemas.microsoft.com/office/drawing/2016/SVG/main" r:embed="rId8"/>
                </a:ext>
              </a:extLst>
            </a:blip>
            <a:srcRect l="15356" t="71677" r="74235" b="10566"/>
            <a:stretch>
              <a:fillRect/>
            </a:stretch>
          </p:blipFill>
          <p:spPr>
            <a:xfrm>
              <a:off x="5889" y="6467"/>
              <a:ext cx="689" cy="764"/>
            </a:xfrm>
            <a:prstGeom prst="rect">
              <a:avLst/>
            </a:prstGeom>
            <a:pattFill>
              <a:fgClr>
                <a:srgbClr val="FFFFFF"/>
              </a:fgClr>
              <a:bgClr>
                <a:srgbClr val="FFFFFF"/>
              </a:bgClr>
            </a:pattFill>
          </p:spPr>
        </p:pic>
        <p:pic>
          <p:nvPicPr>
            <p:cNvPr id="36" name="图片 35" descr="12358"/>
            <p:cNvPicPr>
              <a:picLocks noChangeAspect="1"/>
            </p:cNvPicPr>
            <p:nvPr>
              <p:custDataLst>
                <p:tags r:id="rId34"/>
              </p:custDataLst>
            </p:nvPr>
          </p:nvPicPr>
          <p:blipFill>
            <a:blip r:embed="rId10">
              <a:extLst>
                <a:ext uri="{96DAC541-7B7A-43D3-8B79-37D633B846F1}">
                  <asvg:svgBlip xmlns:asvg="http://schemas.microsoft.com/office/drawing/2016/SVG/main" r:embed="rId11"/>
                </a:ext>
              </a:extLst>
            </a:blip>
            <a:stretch>
              <a:fillRect/>
            </a:stretch>
          </p:blipFill>
          <p:spPr>
            <a:xfrm>
              <a:off x="5804" y="3508"/>
              <a:ext cx="7555" cy="3734"/>
            </a:xfrm>
            <a:prstGeom prst="rect">
              <a:avLst/>
            </a:prstGeom>
          </p:spPr>
        </p:pic>
        <p:sp>
          <p:nvSpPr>
            <p:cNvPr id="37" name="文本框 36"/>
            <p:cNvSpPr txBox="1"/>
            <p:nvPr>
              <p:custDataLst>
                <p:tags r:id="rId35"/>
              </p:custDataLst>
            </p:nvPr>
          </p:nvSpPr>
          <p:spPr>
            <a:xfrm>
              <a:off x="6475" y="4325"/>
              <a:ext cx="6266" cy="2185"/>
            </a:xfrm>
            <a:prstGeom prst="rect">
              <a:avLst/>
            </a:prstGeom>
            <a:noFill/>
          </p:spPr>
          <p:txBody>
            <a:bodyPr vert="horz" wrap="square" rtlCol="0" anchor="ctr" anchorCtr="0">
              <a:normAutofit/>
            </a:bodyPr>
            <a:p>
              <a:pPr algn="l">
                <a:lnSpc>
                  <a:spcPct val="150000"/>
                </a:lnSpc>
                <a:buSzTx/>
                <a:buNone/>
              </a:pPr>
              <a:r>
                <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sym typeface="+mn-ea"/>
                </a:rPr>
                <a:t>1、同PC端360权限管理保持一致</a:t>
              </a:r>
              <a:endPar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endParaRPr>
            </a:p>
            <a:p>
              <a:pPr algn="l">
                <a:lnSpc>
                  <a:spcPct val="150000"/>
                </a:lnSpc>
                <a:buSzTx/>
                <a:buNone/>
              </a:pPr>
              <a:r>
                <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sym typeface="+mn-ea"/>
                </a:rPr>
                <a:t>2、完善公卫业务数据展示</a:t>
              </a:r>
              <a:endPar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endParaRPr>
            </a:p>
            <a:p>
              <a:pPr algn="l">
                <a:lnSpc>
                  <a:spcPct val="150000"/>
                </a:lnSpc>
                <a:buSzTx/>
                <a:buNone/>
              </a:pPr>
              <a:r>
                <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sym typeface="+mn-ea"/>
                </a:rPr>
                <a:t>3、检查检验体检等报告进行AI分析</a:t>
              </a:r>
              <a:endPar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endParaRPr>
            </a:p>
            <a:p>
              <a:pPr algn="l">
                <a:lnSpc>
                  <a:spcPct val="150000"/>
                </a:lnSpc>
                <a:buSzTx/>
                <a:buNone/>
              </a:pPr>
              <a:r>
                <a:rPr lang="zh-CN" altLang="en-US" sz="1600" b="1" dirty="0">
                  <a:solidFill>
                    <a:schemeClr val="accent1">
                      <a:lumMod val="75000"/>
                    </a:schemeClr>
                  </a:solidFill>
                  <a:latin typeface="仿宋" panose="02010609060101010101" charset="-122"/>
                  <a:ea typeface="仿宋" panose="02010609060101010101" charset="-122"/>
                  <a:cs typeface="仿宋" panose="02010609060101010101" charset="-122"/>
                  <a:sym typeface="+mn-ea"/>
                </a:rPr>
                <a:t>4、AI健康画像</a:t>
              </a:r>
              <a:endParaRPr lang="zh-CN" altLang="en-US" sz="1600" b="1" spc="120" dirty="0">
                <a:solidFill>
                  <a:schemeClr val="accent1">
                    <a:lumMod val="75000"/>
                  </a:schemeClr>
                </a:solidFill>
                <a:latin typeface="仿宋" panose="02010609060101010101" charset="-122"/>
                <a:ea typeface="仿宋" panose="02010609060101010101" charset="-122"/>
                <a:cs typeface="仿宋" panose="02010609060101010101" charset="-122"/>
                <a:sym typeface="+mn-ea"/>
              </a:endParaRPr>
            </a:p>
          </p:txBody>
        </p:sp>
        <p:pic>
          <p:nvPicPr>
            <p:cNvPr id="38" name="图片 37" descr="41562"/>
            <p:cNvPicPr>
              <a:picLocks noChangeAspect="1"/>
            </p:cNvPicPr>
            <p:nvPr>
              <p:custDataLst>
                <p:tags r:id="rId36"/>
              </p:custDataLst>
            </p:nvPr>
          </p:nvPicPr>
          <p:blipFill>
            <a:blip r:embed="rId14">
              <a:extLst>
                <a:ext uri="{96DAC541-7B7A-43D3-8B79-37D633B846F1}">
                  <asvg:svgBlip xmlns:asvg="http://schemas.microsoft.com/office/drawing/2016/SVG/main" r:embed="rId15"/>
                </a:ext>
              </a:extLst>
            </a:blip>
            <a:stretch>
              <a:fillRect/>
            </a:stretch>
          </p:blipFill>
          <p:spPr>
            <a:xfrm>
              <a:off x="6747" y="4133"/>
              <a:ext cx="5669" cy="24"/>
            </a:xfrm>
            <a:prstGeom prst="rect">
              <a:avLst/>
            </a:prstGeom>
          </p:spPr>
        </p:pic>
        <p:pic>
          <p:nvPicPr>
            <p:cNvPr id="39" name="图片 38" descr="452_画板 1"/>
            <p:cNvPicPr>
              <a:picLocks noChangeAspect="1"/>
            </p:cNvPicPr>
            <p:nvPr>
              <p:custDataLst>
                <p:tags r:id="rId37"/>
              </p:custDataLst>
            </p:nvPr>
          </p:nvPicPr>
          <p:blipFill>
            <a:blip r:embed="rId17">
              <a:extLst>
                <a:ext uri="{96DAC541-7B7A-43D3-8B79-37D633B846F1}">
                  <asvg:svgBlip xmlns:asvg="http://schemas.microsoft.com/office/drawing/2016/SVG/main" r:embed="rId18"/>
                </a:ext>
              </a:extLst>
            </a:blip>
            <a:stretch>
              <a:fillRect/>
            </a:stretch>
          </p:blipFill>
          <p:spPr>
            <a:xfrm>
              <a:off x="13316" y="4472"/>
              <a:ext cx="550" cy="1080"/>
            </a:xfrm>
            <a:prstGeom prst="rect">
              <a:avLst/>
            </a:prstGeom>
            <a:pattFill>
              <a:fgClr>
                <a:srgbClr val="FFFFFF"/>
              </a:fgClr>
              <a:bgClr>
                <a:srgbClr val="FFFFFF"/>
              </a:bgClr>
            </a:pattFill>
          </p:spPr>
        </p:pic>
        <p:pic>
          <p:nvPicPr>
            <p:cNvPr id="40" name="图片 39" descr="455_画板 1"/>
            <p:cNvPicPr>
              <a:picLocks noChangeAspect="1"/>
            </p:cNvPicPr>
            <p:nvPr>
              <p:custDataLst>
                <p:tags r:id="rId38"/>
              </p:custDataLst>
            </p:nvPr>
          </p:nvPicPr>
          <p:blipFill>
            <a:blip r:embed="rId20">
              <a:extLst>
                <a:ext uri="{96DAC541-7B7A-43D3-8B79-37D633B846F1}">
                  <asvg:svgBlip xmlns:asvg="http://schemas.microsoft.com/office/drawing/2016/SVG/main" r:embed="rId21"/>
                </a:ext>
              </a:extLst>
            </a:blip>
            <a:stretch>
              <a:fillRect/>
            </a:stretch>
          </p:blipFill>
          <p:spPr>
            <a:xfrm>
              <a:off x="5378" y="5474"/>
              <a:ext cx="522" cy="1025"/>
            </a:xfrm>
            <a:prstGeom prst="rect">
              <a:avLst/>
            </a:prstGeom>
            <a:pattFill>
              <a:fgClr>
                <a:srgbClr val="FFFFFF"/>
              </a:fgClr>
              <a:bgClr>
                <a:srgbClr val="FFFFFF"/>
              </a:bgClr>
            </a:pattFill>
          </p:spPr>
        </p:pic>
        <p:pic>
          <p:nvPicPr>
            <p:cNvPr id="41" name="图片 40" descr="496_画板 1"/>
            <p:cNvPicPr>
              <a:picLocks noChangeAspect="1"/>
            </p:cNvPicPr>
            <p:nvPr>
              <p:custDataLst>
                <p:tags r:id="rId39"/>
              </p:custDataLst>
            </p:nvPr>
          </p:nvPicPr>
          <p:blipFill>
            <a:blip r:embed="rId23">
              <a:extLst>
                <a:ext uri="{96DAC541-7B7A-43D3-8B79-37D633B846F1}">
                  <asvg:svgBlip xmlns:asvg="http://schemas.microsoft.com/office/drawing/2016/SVG/main" r:embed="rId24"/>
                </a:ext>
              </a:extLst>
            </a:blip>
            <a:stretch>
              <a:fillRect/>
            </a:stretch>
          </p:blipFill>
          <p:spPr>
            <a:xfrm>
              <a:off x="9171" y="7157"/>
              <a:ext cx="858" cy="369"/>
            </a:xfrm>
            <a:prstGeom prst="rect">
              <a:avLst/>
            </a:prstGeom>
          </p:spPr>
        </p:pic>
        <p:pic>
          <p:nvPicPr>
            <p:cNvPr id="42" name="图片 41" descr="4652"/>
            <p:cNvPicPr>
              <a:picLocks noChangeAspect="1"/>
            </p:cNvPicPr>
            <p:nvPr>
              <p:custDataLst>
                <p:tags r:id="rId40"/>
              </p:custDataLst>
            </p:nvPr>
          </p:nvPicPr>
          <p:blipFill>
            <a:blip r:embed="rId26">
              <a:extLst>
                <a:ext uri="{96DAC541-7B7A-43D3-8B79-37D633B846F1}">
                  <asvg:svgBlip xmlns:asvg="http://schemas.microsoft.com/office/drawing/2016/SVG/main" r:embed="rId27"/>
                </a:ext>
              </a:extLst>
            </a:blip>
            <a:stretch>
              <a:fillRect/>
            </a:stretch>
          </p:blipFill>
          <p:spPr>
            <a:xfrm>
              <a:off x="12010" y="3779"/>
              <a:ext cx="406" cy="186"/>
            </a:xfrm>
            <a:prstGeom prst="rect">
              <a:avLst/>
            </a:prstGeom>
            <a:pattFill>
              <a:fgClr>
                <a:srgbClr val="FFFFFF"/>
              </a:fgClr>
              <a:bgClr>
                <a:srgbClr val="FFFFFF"/>
              </a:bgClr>
            </a:pattFill>
          </p:spPr>
        </p:pic>
        <p:pic>
          <p:nvPicPr>
            <p:cNvPr id="43" name="图片 42" descr="123"/>
            <p:cNvPicPr>
              <a:picLocks noChangeAspect="1"/>
            </p:cNvPicPr>
            <p:nvPr>
              <p:custDataLst>
                <p:tags r:id="rId41"/>
              </p:custDataLst>
            </p:nvPr>
          </p:nvPicPr>
          <p:blipFill>
            <a:blip r:embed="rId29">
              <a:extLst>
                <a:ext uri="{96DAC541-7B7A-43D3-8B79-37D633B846F1}">
                  <asvg:svgBlip xmlns:asvg="http://schemas.microsoft.com/office/drawing/2016/SVG/main" r:embed="rId30"/>
                </a:ext>
              </a:extLst>
            </a:blip>
            <a:stretch>
              <a:fillRect/>
            </a:stretch>
          </p:blipFill>
          <p:spPr>
            <a:xfrm>
              <a:off x="6747" y="3841"/>
              <a:ext cx="781" cy="63"/>
            </a:xfrm>
            <a:prstGeom prst="rect">
              <a:avLst/>
            </a:prstGeom>
            <a:pattFill>
              <a:fgClr>
                <a:srgbClr val="FFFFFF"/>
              </a:fgClr>
              <a:bgClr>
                <a:srgbClr val="FFFFFF"/>
              </a:bgClr>
            </a:pattFill>
          </p:spPr>
        </p:pic>
      </p:grpSp>
      <p:sp>
        <p:nvSpPr>
          <p:cNvPr id="44" name="文本框 43"/>
          <p:cNvSpPr txBox="1"/>
          <p:nvPr>
            <p:custDataLst>
              <p:tags r:id="rId42"/>
            </p:custDataLst>
          </p:nvPr>
        </p:nvSpPr>
        <p:spPr>
          <a:xfrm>
            <a:off x="1936750" y="1733550"/>
            <a:ext cx="4064000" cy="368300"/>
          </a:xfrm>
          <a:prstGeom prst="rect">
            <a:avLst/>
          </a:prstGeom>
          <a:noFill/>
        </p:spPr>
        <p:txBody>
          <a:bodyPr wrap="square" rtlCol="0">
            <a:spAutoFit/>
          </a:bodyPr>
          <a:p>
            <a:r>
              <a:rPr lang="zh-CN" altLang="en-US" sz="1800" b="1" dirty="0">
                <a:solidFill>
                  <a:schemeClr val="accent1">
                    <a:lumMod val="75000"/>
                  </a:schemeClr>
                </a:solidFill>
                <a:latin typeface="仿宋" panose="02010609060101010101" charset="-122"/>
                <a:ea typeface="仿宋" panose="02010609060101010101" charset="-122"/>
                <a:cs typeface="仿宋" panose="02010609060101010101" charset="-122"/>
              </a:rPr>
              <a:t>健康全景视图1.4</a:t>
            </a:r>
            <a:endParaRPr lang="zh-CN" altLang="en-US" sz="1800" b="1" dirty="0">
              <a:solidFill>
                <a:schemeClr val="accent1">
                  <a:lumMod val="75000"/>
                </a:schemeClr>
              </a:solidFill>
              <a:latin typeface="仿宋" panose="02010609060101010101" charset="-122"/>
              <a:ea typeface="仿宋" panose="02010609060101010101" charset="-122"/>
              <a:cs typeface="仿宋" panose="02010609060101010101" charset="-122"/>
            </a:endParaRPr>
          </a:p>
        </p:txBody>
      </p:sp>
      <p:sp>
        <p:nvSpPr>
          <p:cNvPr id="45" name="文本框 44"/>
          <p:cNvSpPr txBox="1"/>
          <p:nvPr>
            <p:custDataLst>
              <p:tags r:id="rId43"/>
            </p:custDataLst>
          </p:nvPr>
        </p:nvSpPr>
        <p:spPr>
          <a:xfrm>
            <a:off x="7790180" y="1733550"/>
            <a:ext cx="4064000" cy="368300"/>
          </a:xfrm>
          <a:prstGeom prst="rect">
            <a:avLst/>
          </a:prstGeom>
          <a:noFill/>
        </p:spPr>
        <p:txBody>
          <a:bodyPr wrap="square" rtlCol="0">
            <a:spAutoFit/>
          </a:bodyPr>
          <a:p>
            <a:r>
              <a:rPr lang="zh-CN" altLang="en-US" sz="1800" b="1" dirty="0">
                <a:solidFill>
                  <a:schemeClr val="accent1">
                    <a:lumMod val="75000"/>
                  </a:schemeClr>
                </a:solidFill>
                <a:latin typeface="仿宋" panose="02010609060101010101" charset="-122"/>
                <a:ea typeface="仿宋" panose="02010609060101010101" charset="-122"/>
                <a:cs typeface="仿宋" panose="02010609060101010101" charset="-122"/>
              </a:rPr>
              <a:t>全程档案调阅系统</a:t>
            </a:r>
            <a:r>
              <a:rPr lang="en-US" altLang="zh-CN" sz="1800" b="1" dirty="0">
                <a:solidFill>
                  <a:schemeClr val="accent1">
                    <a:lumMod val="75000"/>
                  </a:schemeClr>
                </a:solidFill>
                <a:latin typeface="仿宋" panose="02010609060101010101" charset="-122"/>
                <a:ea typeface="仿宋" panose="02010609060101010101" charset="-122"/>
                <a:cs typeface="仿宋" panose="02010609060101010101" charset="-122"/>
              </a:rPr>
              <a:t>1.1</a:t>
            </a:r>
            <a:endParaRPr lang="en-US" altLang="zh-CN" sz="1800" b="1" dirty="0">
              <a:solidFill>
                <a:schemeClr val="accent1">
                  <a:lumMod val="75000"/>
                </a:schemeClr>
              </a:solidFill>
              <a:latin typeface="仿宋" panose="02010609060101010101" charset="-122"/>
              <a:ea typeface="仿宋" panose="02010609060101010101" charset="-122"/>
              <a:cs typeface="仿宋" panose="02010609060101010101" charset="-122"/>
            </a:endParaRPr>
          </a:p>
        </p:txBody>
      </p:sp>
      <p:sp>
        <p:nvSpPr>
          <p:cNvPr id="46" name="文本框 45"/>
          <p:cNvSpPr txBox="1"/>
          <p:nvPr/>
        </p:nvSpPr>
        <p:spPr>
          <a:xfrm>
            <a:off x="490220" y="951230"/>
            <a:ext cx="4064000" cy="368300"/>
          </a:xfrm>
          <a:prstGeom prst="rect">
            <a:avLst/>
          </a:prstGeom>
          <a:noFill/>
        </p:spPr>
        <p:txBody>
          <a:bodyPr wrap="square" rtlCol="0">
            <a:spAutoFit/>
          </a:bodyPr>
          <a:p>
            <a:r>
              <a:rPr lang="zh-CN" altLang="en-US" sz="1800" b="1" dirty="0">
                <a:solidFill>
                  <a:schemeClr val="tx1"/>
                </a:solidFill>
                <a:latin typeface="仿宋" panose="02010609060101010101" charset="-122"/>
                <a:ea typeface="仿宋" panose="02010609060101010101" charset="-122"/>
                <a:cs typeface="仿宋" panose="02010609060101010101" charset="-122"/>
              </a:rPr>
              <a:t>需求来源于公司年度规划内容</a:t>
            </a:r>
            <a:endParaRPr lang="zh-CN" altLang="en-US" sz="1800" b="1" dirty="0">
              <a:solidFill>
                <a:schemeClr val="tx1"/>
              </a:solidFill>
              <a:latin typeface="仿宋" panose="02010609060101010101" charset="-122"/>
              <a:ea typeface="仿宋" panose="02010609060101010101" charset="-122"/>
              <a:cs typeface="仿宋"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298700" y="1943100"/>
            <a:ext cx="647700" cy="647700"/>
          </a:xfrm>
          <a:prstGeom prst="roundRect">
            <a:avLst>
              <a:gd name="adj" fmla="val 17647"/>
            </a:avLst>
          </a:prstGeom>
          <a:gradFill rotWithShape="0">
            <a:gsLst>
              <a:gs pos="0">
                <a:srgbClr val="30C0B4">
                  <a:alpha val="100000"/>
                </a:srgbClr>
              </a:gs>
              <a:gs pos="100000">
                <a:srgbClr val="0BB972">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336800" y="1943100"/>
            <a:ext cx="762000" cy="673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800" b="0"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1100"/>
          </a:p>
        </p:txBody>
      </p:sp>
      <p:sp>
        <p:nvSpPr>
          <p:cNvPr id="5" name="AutoShape 5"/>
          <p:cNvSpPr/>
          <p:nvPr/>
        </p:nvSpPr>
        <p:spPr>
          <a:xfrm>
            <a:off x="2159000" y="2679700"/>
            <a:ext cx="73279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3600" b="1" i="0" u="none" strike="noStrike">
                <a:solidFill>
                  <a:srgbClr val="333F5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项目概况</a:t>
            </a:r>
            <a:endParaRPr lang="zh-CN" altLang="en-US" sz="3600" b="1" i="0" u="none" strike="noStrike">
              <a:solidFill>
                <a:srgbClr val="333F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2197100" y="3568700"/>
            <a:ext cx="7620000" cy="368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18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目标蓝图与建设范围</a:t>
            </a:r>
            <a:endParaRPr lang="zh-CN" altLang="en-US" sz="18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项目概况</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文本框 8"/>
          <p:cNvSpPr txBox="1"/>
          <p:nvPr/>
        </p:nvSpPr>
        <p:spPr>
          <a:xfrm>
            <a:off x="456377" y="1206434"/>
            <a:ext cx="11181455" cy="2168525"/>
          </a:xfrm>
          <a:prstGeom prst="rect">
            <a:avLst/>
          </a:prstGeom>
          <a:noFill/>
        </p:spPr>
        <p:txBody>
          <a:bodyPr wrap="square">
            <a:spAutoFit/>
          </a:bodyPr>
          <a:lstStyle/>
          <a:p>
            <a:pPr indent="457200" algn="l" defTabSz="914400">
              <a:lnSpc>
                <a:spcPct val="150000"/>
              </a:lnSpc>
              <a:spcBef>
                <a:spcPts val="300"/>
              </a:spcBef>
              <a:spcAft>
                <a:spcPts val="300"/>
              </a:spcAft>
              <a:buSzTx/>
            </a:pPr>
            <a:r>
              <a:rPr sz="1800">
                <a:solidFill>
                  <a:srgbClr val="333333"/>
                </a:solidFill>
                <a:latin typeface="微软雅黑" panose="020B0503020204020204" charset="-122"/>
                <a:ea typeface="微软雅黑" panose="020B0503020204020204" charset="-122"/>
                <a:cs typeface="+mn-cs"/>
              </a:rPr>
              <a:t>健康全景视图V1.</a:t>
            </a:r>
            <a:r>
              <a:rPr lang="en-US" sz="1800">
                <a:solidFill>
                  <a:srgbClr val="333333"/>
                </a:solidFill>
                <a:latin typeface="微软雅黑" panose="020B0503020204020204" charset="-122"/>
                <a:ea typeface="微软雅黑" panose="020B0503020204020204" charset="-122"/>
                <a:cs typeface="+mn-cs"/>
              </a:rPr>
              <a:t>3</a:t>
            </a:r>
            <a:r>
              <a:rPr sz="1800">
                <a:solidFill>
                  <a:srgbClr val="333333"/>
                </a:solidFill>
                <a:latin typeface="微软雅黑" panose="020B0503020204020204" charset="-122"/>
                <a:ea typeface="微软雅黑" panose="020B0503020204020204" charset="-122"/>
                <a:cs typeface="+mn-cs"/>
              </a:rPr>
              <a:t>是一款基于数据中心、采用BS架构的应用软件，支持跨系统数据实时调阅（如：医生/护士工作站、手术麻醉系统以及</a:t>
            </a:r>
            <a:r>
              <a:rPr sz="1800">
                <a:solidFill>
                  <a:srgbClr val="333333"/>
                </a:solidFill>
                <a:latin typeface="微软雅黑" panose="020B0503020204020204" charset="-122"/>
                <a:ea typeface="微软雅黑" panose="020B0503020204020204" charset="-122"/>
                <a:cs typeface="+mn-cs"/>
                <a:sym typeface="+mn-ea"/>
              </a:rPr>
              <a:t>公共卫生服务系统</a:t>
            </a:r>
            <a:r>
              <a:rPr sz="1800">
                <a:solidFill>
                  <a:srgbClr val="333333"/>
                </a:solidFill>
                <a:latin typeface="微软雅黑" panose="020B0503020204020204" charset="-122"/>
                <a:ea typeface="微软雅黑" panose="020B0503020204020204" charset="-122"/>
                <a:cs typeface="+mn-cs"/>
              </a:rPr>
              <a:t>等），有效打破传统医疗信息孤岛，使医护能够轻松调阅居民的诊疗服务和公共卫生服务数据，为医生提供了详尽、准确的患者就诊历史，有助于医生制定更精准的诊断和治疗方案。同时，通过健康档案数据，医生还能发现潜在的健康问题与风险，为个性化健康管理提供坚实支持。</a:t>
            </a:r>
            <a:endParaRPr sz="1800">
              <a:solidFill>
                <a:srgbClr val="333333"/>
              </a:solidFill>
              <a:latin typeface="微软雅黑" panose="020B0503020204020204" charset="-122"/>
              <a:ea typeface="微软雅黑" panose="020B0503020204020204" charset="-122"/>
              <a:cs typeface="+mn-cs"/>
            </a:endParaRPr>
          </a:p>
        </p:txBody>
      </p:sp>
      <p:sp>
        <p:nvSpPr>
          <p:cNvPr id="75" name="ïṥļíḓé"/>
          <p:cNvSpPr/>
          <p:nvPr>
            <p:custDataLst>
              <p:tags r:id="rId2"/>
            </p:custDataLst>
          </p:nvPr>
        </p:nvSpPr>
        <p:spPr bwMode="auto">
          <a:xfrm>
            <a:off x="306253" y="3651647"/>
            <a:ext cx="469716" cy="470959"/>
          </a:xfrm>
          <a:prstGeom prst="ellipse">
            <a:avLst/>
          </a:prstGeom>
          <a:solidFill>
            <a:schemeClr val="accent1"/>
          </a:solidFill>
          <a:ln w="28575">
            <a:solidFill>
              <a:schemeClr val="bg1"/>
            </a:solidFill>
          </a:ln>
        </p:spPr>
        <p:txBody>
          <a:bodyPr vert="horz" wrap="square" lIns="91440" tIns="45720" rIns="91440" bIns="45720" numCol="1" anchor="ctr" anchorCtr="0" compatLnSpc="1">
            <a:normAutofit fontScale="4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3200" dirty="0">
                <a:solidFill>
                  <a:srgbClr val="FFFFFF"/>
                </a:solidFill>
                <a:ea typeface="微软雅黑" panose="020B0503020204020204" charset="-122"/>
              </a:rPr>
              <a:t>1</a:t>
            </a:r>
            <a:endParaRPr lang="en-US" sz="3200" dirty="0">
              <a:solidFill>
                <a:srgbClr val="FFFFFF"/>
              </a:solidFill>
              <a:ea typeface="微软雅黑" panose="020B0503020204020204" charset="-122"/>
            </a:endParaRPr>
          </a:p>
        </p:txBody>
      </p:sp>
      <p:grpSp>
        <p:nvGrpSpPr>
          <p:cNvPr id="76" name="ïṥḷîḍê"/>
          <p:cNvGrpSpPr/>
          <p:nvPr>
            <p:custDataLst>
              <p:tags r:id="rId3"/>
            </p:custDataLst>
          </p:nvPr>
        </p:nvGrpSpPr>
        <p:grpSpPr>
          <a:xfrm>
            <a:off x="937578" y="3650489"/>
            <a:ext cx="3433763" cy="1548130"/>
            <a:chOff x="1760651" y="1440088"/>
            <a:chExt cx="3126184" cy="1548130"/>
          </a:xfrm>
        </p:grpSpPr>
        <p:sp>
          <p:nvSpPr>
            <p:cNvPr id="77" name="ïSḷïḋè"/>
            <p:cNvSpPr/>
            <p:nvPr>
              <p:custDataLst>
                <p:tags r:id="rId4"/>
              </p:custDataLst>
            </p:nvPr>
          </p:nvSpPr>
          <p:spPr bwMode="auto">
            <a:xfrm>
              <a:off x="1760651" y="1882048"/>
              <a:ext cx="3125894" cy="110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indent="457200" algn="l">
                <a:lnSpc>
                  <a:spcPct val="120000"/>
                </a:lnSpc>
                <a:spcBef>
                  <a:spcPts val="300"/>
                </a:spcBef>
                <a:spcAft>
                  <a:spcPts val="300"/>
                </a:spcAft>
                <a:buSzTx/>
              </a:pPr>
              <a:r>
                <a:rPr sz="1400" kern="0">
                  <a:solidFill>
                    <a:srgbClr val="333333"/>
                  </a:solidFill>
                  <a:latin typeface="微软雅黑" panose="020B0503020204020204" charset="-122"/>
                  <a:ea typeface="微软雅黑" panose="020B0503020204020204" charset="-122"/>
                  <a:cs typeface="+mn-cs"/>
                </a:rPr>
                <a:t>扩展公卫业务数据展示，新增慢阻肺、心脑血管、肿瘤、高危等业务数据</a:t>
              </a:r>
              <a:endParaRPr sz="1400" kern="0">
                <a:solidFill>
                  <a:srgbClr val="333333"/>
                </a:solidFill>
                <a:latin typeface="微软雅黑" panose="020B0503020204020204" charset="-122"/>
                <a:ea typeface="微软雅黑" panose="020B0503020204020204" charset="-122"/>
                <a:cs typeface="+mn-cs"/>
              </a:endParaRPr>
            </a:p>
          </p:txBody>
        </p:sp>
        <p:sp>
          <p:nvSpPr>
            <p:cNvPr id="78" name="íṥ1iḋe"/>
            <p:cNvSpPr txBox="1"/>
            <p:nvPr>
              <p:custDataLst>
                <p:tags r:id="rId5"/>
              </p:custDataLst>
            </p:nvPr>
          </p:nvSpPr>
          <p:spPr bwMode="auto">
            <a:xfrm>
              <a:off x="1760651" y="1440088"/>
              <a:ext cx="312618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b="1" dirty="0">
                  <a:ea typeface="微软雅黑" panose="020B0503020204020204" charset="-122"/>
                </a:rPr>
                <a:t>数据完整性</a:t>
              </a:r>
              <a:endParaRPr lang="en-US" altLang="zh-CN" b="1" dirty="0">
                <a:ea typeface="微软雅黑" panose="020B0503020204020204" charset="-122"/>
              </a:endParaRPr>
            </a:p>
          </p:txBody>
        </p:sp>
      </p:grpSp>
      <p:grpSp>
        <p:nvGrpSpPr>
          <p:cNvPr id="79" name="isľïde"/>
          <p:cNvGrpSpPr/>
          <p:nvPr>
            <p:custDataLst>
              <p:tags r:id="rId6"/>
            </p:custDataLst>
          </p:nvPr>
        </p:nvGrpSpPr>
        <p:grpSpPr>
          <a:xfrm>
            <a:off x="4717720" y="3674500"/>
            <a:ext cx="3512819" cy="1524000"/>
            <a:chOff x="1760651" y="1440088"/>
            <a:chExt cx="3198159" cy="1524000"/>
          </a:xfrm>
        </p:grpSpPr>
        <p:sp>
          <p:nvSpPr>
            <p:cNvPr id="80" name="íŝļidê"/>
            <p:cNvSpPr/>
            <p:nvPr>
              <p:custDataLst>
                <p:tags r:id="rId7"/>
              </p:custDataLst>
            </p:nvPr>
          </p:nvSpPr>
          <p:spPr bwMode="auto">
            <a:xfrm>
              <a:off x="1760651" y="1882048"/>
              <a:ext cx="3198159" cy="1082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indent="457200" algn="l">
                <a:lnSpc>
                  <a:spcPct val="120000"/>
                </a:lnSpc>
                <a:spcBef>
                  <a:spcPts val="300"/>
                </a:spcBef>
                <a:spcAft>
                  <a:spcPts val="300"/>
                </a:spcAft>
                <a:buSzTx/>
              </a:pPr>
              <a:r>
                <a:rPr sz="1400" kern="0">
                  <a:solidFill>
                    <a:srgbClr val="333333"/>
                  </a:solidFill>
                  <a:latin typeface="微软雅黑" panose="020B0503020204020204" charset="-122"/>
                  <a:ea typeface="微软雅黑" panose="020B0503020204020204" charset="-122"/>
                  <a:cs typeface="+mn-cs"/>
                </a:rPr>
                <a:t>整合低代码平台，支持可视化拖拽配置概况视图，实现一场景一视图</a:t>
              </a:r>
              <a:endParaRPr sz="1400" kern="0">
                <a:solidFill>
                  <a:srgbClr val="333333"/>
                </a:solidFill>
                <a:latin typeface="微软雅黑" panose="020B0503020204020204" charset="-122"/>
                <a:ea typeface="微软雅黑" panose="020B0503020204020204" charset="-122"/>
                <a:cs typeface="+mn-cs"/>
              </a:endParaRPr>
            </a:p>
          </p:txBody>
        </p:sp>
        <p:sp>
          <p:nvSpPr>
            <p:cNvPr id="81" name="iṧļîdê"/>
            <p:cNvSpPr txBox="1"/>
            <p:nvPr>
              <p:custDataLst>
                <p:tags r:id="rId8"/>
              </p:custDataLst>
            </p:nvPr>
          </p:nvSpPr>
          <p:spPr bwMode="auto">
            <a:xfrm>
              <a:off x="1760651" y="1440088"/>
              <a:ext cx="312618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b="1" dirty="0">
                  <a:ea typeface="微软雅黑" panose="020B0503020204020204" charset="-122"/>
                </a:rPr>
                <a:t>视图自定义</a:t>
              </a:r>
              <a:endParaRPr lang="zh-CN" altLang="en-US" b="1" dirty="0">
                <a:ea typeface="微软雅黑" panose="020B0503020204020204" charset="-122"/>
              </a:endParaRPr>
            </a:p>
          </p:txBody>
        </p:sp>
      </p:grpSp>
      <p:grpSp>
        <p:nvGrpSpPr>
          <p:cNvPr id="82" name="iṣ1íďé"/>
          <p:cNvGrpSpPr/>
          <p:nvPr>
            <p:custDataLst>
              <p:tags r:id="rId9"/>
            </p:custDataLst>
          </p:nvPr>
        </p:nvGrpSpPr>
        <p:grpSpPr>
          <a:xfrm>
            <a:off x="8603094" y="3650771"/>
            <a:ext cx="3434080" cy="1657350"/>
            <a:chOff x="1760651" y="1440088"/>
            <a:chExt cx="3126473" cy="1657350"/>
          </a:xfrm>
        </p:grpSpPr>
        <p:sp>
          <p:nvSpPr>
            <p:cNvPr id="83" name="iṣḻîdê"/>
            <p:cNvSpPr/>
            <p:nvPr>
              <p:custDataLst>
                <p:tags r:id="rId10"/>
              </p:custDataLst>
            </p:nvPr>
          </p:nvSpPr>
          <p:spPr bwMode="auto">
            <a:xfrm>
              <a:off x="1760651" y="1882048"/>
              <a:ext cx="3126473" cy="1215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indent="457200" algn="l">
                <a:lnSpc>
                  <a:spcPct val="120000"/>
                </a:lnSpc>
                <a:spcBef>
                  <a:spcPts val="300"/>
                </a:spcBef>
                <a:spcAft>
                  <a:spcPts val="300"/>
                </a:spcAft>
                <a:buSzTx/>
              </a:pPr>
              <a:r>
                <a:rPr sz="1400" kern="0">
                  <a:solidFill>
                    <a:srgbClr val="333333"/>
                  </a:solidFill>
                  <a:latin typeface="微软雅黑" panose="020B0503020204020204" charset="-122"/>
                  <a:ea typeface="微软雅黑" panose="020B0503020204020204" charset="-122"/>
                  <a:cs typeface="+mn-cs"/>
                </a:rPr>
                <a:t>支持根据科室、固定人员进行数据脱敏展示，增强数据安全性</a:t>
              </a:r>
              <a:endParaRPr sz="1400" kern="0">
                <a:solidFill>
                  <a:srgbClr val="333333"/>
                </a:solidFill>
                <a:latin typeface="微软雅黑" panose="020B0503020204020204" charset="-122"/>
                <a:ea typeface="微软雅黑" panose="020B0503020204020204" charset="-122"/>
                <a:cs typeface="+mn-cs"/>
              </a:endParaRPr>
            </a:p>
          </p:txBody>
        </p:sp>
        <p:sp>
          <p:nvSpPr>
            <p:cNvPr id="84" name="í$ḻiḑé"/>
            <p:cNvSpPr txBox="1"/>
            <p:nvPr>
              <p:custDataLst>
                <p:tags r:id="rId11"/>
              </p:custDataLst>
            </p:nvPr>
          </p:nvSpPr>
          <p:spPr bwMode="auto">
            <a:xfrm>
              <a:off x="1760651" y="1440088"/>
              <a:ext cx="312618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b="1" dirty="0">
                  <a:ea typeface="微软雅黑" panose="020B0503020204020204" charset="-122"/>
                </a:rPr>
                <a:t>数据安全性</a:t>
              </a:r>
              <a:endParaRPr lang="zh-CN" b="1" dirty="0">
                <a:ea typeface="微软雅黑" panose="020B0503020204020204" charset="-122"/>
              </a:endParaRPr>
            </a:p>
          </p:txBody>
        </p:sp>
      </p:grpSp>
      <p:sp>
        <p:nvSpPr>
          <p:cNvPr id="87" name="ïṥļíḓé"/>
          <p:cNvSpPr/>
          <p:nvPr>
            <p:custDataLst>
              <p:tags r:id="rId12"/>
            </p:custDataLst>
          </p:nvPr>
        </p:nvSpPr>
        <p:spPr bwMode="auto">
          <a:xfrm>
            <a:off x="4129141" y="3650489"/>
            <a:ext cx="469716" cy="470959"/>
          </a:xfrm>
          <a:prstGeom prst="ellipse">
            <a:avLst/>
          </a:prstGeom>
          <a:solidFill>
            <a:schemeClr val="accent1"/>
          </a:solidFill>
          <a:ln w="28575">
            <a:solidFill>
              <a:schemeClr val="bg1"/>
            </a:solidFill>
          </a:ln>
        </p:spPr>
        <p:txBody>
          <a:bodyPr vert="horz" wrap="square" lIns="91440" tIns="45720" rIns="91440" bIns="45720" numCol="1" anchor="ctr" anchorCtr="0" compatLnSpc="1">
            <a:normAutofit fontScale="4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3200" dirty="0">
                <a:solidFill>
                  <a:srgbClr val="FFFFFF"/>
                </a:solidFill>
                <a:ea typeface="微软雅黑" panose="020B0503020204020204" charset="-122"/>
              </a:rPr>
              <a:t>2</a:t>
            </a:r>
            <a:endParaRPr lang="en-US" sz="3200" dirty="0">
              <a:solidFill>
                <a:srgbClr val="FFFFFF"/>
              </a:solidFill>
              <a:ea typeface="微软雅黑" panose="020B0503020204020204" charset="-122"/>
            </a:endParaRPr>
          </a:p>
        </p:txBody>
      </p:sp>
      <p:sp>
        <p:nvSpPr>
          <p:cNvPr id="88" name="ïṥļíḓé"/>
          <p:cNvSpPr/>
          <p:nvPr>
            <p:custDataLst>
              <p:tags r:id="rId13"/>
            </p:custDataLst>
          </p:nvPr>
        </p:nvSpPr>
        <p:spPr bwMode="auto">
          <a:xfrm>
            <a:off x="8014515" y="3621617"/>
            <a:ext cx="469716" cy="470959"/>
          </a:xfrm>
          <a:prstGeom prst="ellipse">
            <a:avLst/>
          </a:prstGeom>
          <a:solidFill>
            <a:schemeClr val="accent1"/>
          </a:solidFill>
          <a:ln w="28575">
            <a:solidFill>
              <a:schemeClr val="bg1"/>
            </a:solidFill>
          </a:ln>
        </p:spPr>
        <p:txBody>
          <a:bodyPr vert="horz" wrap="square" lIns="91440" tIns="45720" rIns="91440" bIns="45720" numCol="1" anchor="ctr" anchorCtr="0" compatLnSpc="1">
            <a:normAutofit fontScale="4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3200" dirty="0">
                <a:solidFill>
                  <a:srgbClr val="FFFFFF"/>
                </a:solidFill>
                <a:ea typeface="微软雅黑" panose="020B0503020204020204" charset="-122"/>
              </a:rPr>
              <a:t>3</a:t>
            </a:r>
            <a:endParaRPr lang="en-US" sz="3200" dirty="0">
              <a:solidFill>
                <a:srgbClr val="FFFFFF"/>
              </a:solidFill>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项目概况</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文本框 8"/>
          <p:cNvSpPr txBox="1"/>
          <p:nvPr/>
        </p:nvSpPr>
        <p:spPr>
          <a:xfrm>
            <a:off x="456377" y="1206434"/>
            <a:ext cx="11181455" cy="1337945"/>
          </a:xfrm>
          <a:prstGeom prst="rect">
            <a:avLst/>
          </a:prstGeom>
          <a:noFill/>
        </p:spPr>
        <p:txBody>
          <a:bodyPr wrap="square">
            <a:spAutoFit/>
          </a:bodyPr>
          <a:lstStyle/>
          <a:p>
            <a:pPr indent="457200" algn="l" defTabSz="914400">
              <a:lnSpc>
                <a:spcPct val="150000"/>
              </a:lnSpc>
              <a:spcBef>
                <a:spcPts val="300"/>
              </a:spcBef>
              <a:spcAft>
                <a:spcPts val="300"/>
              </a:spcAft>
              <a:buSzTx/>
            </a:pPr>
            <a:r>
              <a:rPr sz="1800" i="0">
                <a:solidFill>
                  <a:srgbClr val="333333"/>
                </a:solidFill>
                <a:latin typeface="微软雅黑" panose="020B0503020204020204" charset="-122"/>
                <a:ea typeface="微软雅黑" panose="020B0503020204020204" charset="-122"/>
                <a:cs typeface="+mn-cs"/>
              </a:rPr>
              <a:t>全程档案调阅系统V1.0是一款高效整合与展示数据中心资源的应用系统，其核心功能在于实现个人健康档案的快速查阅与实时追踪。</a:t>
            </a:r>
            <a:r>
              <a:rPr sz="1800">
                <a:solidFill>
                  <a:srgbClr val="333333"/>
                </a:solidFill>
                <a:latin typeface="微软雅黑" panose="020B0503020204020204" charset="-122"/>
                <a:ea typeface="微软雅黑" panose="020B0503020204020204" charset="-122"/>
                <a:cs typeface="+mn-cs"/>
                <a:sym typeface="+mn-ea"/>
              </a:rPr>
              <a:t>采用BS架构的应用软件</a:t>
            </a:r>
            <a:r>
              <a:rPr sz="1800" i="0">
                <a:solidFill>
                  <a:srgbClr val="333333"/>
                </a:solidFill>
                <a:latin typeface="微软雅黑" panose="020B0503020204020204" charset="-122"/>
                <a:ea typeface="微软雅黑" panose="020B0503020204020204" charset="-122"/>
                <a:cs typeface="+mn-cs"/>
              </a:rPr>
              <a:t>，为用户提供了一个直观且友好的操作界面，确保用户能够轻松查阅个人健康档案，实时掌握自身的健康状况</a:t>
            </a:r>
            <a:r>
              <a:rPr sz="1800">
                <a:solidFill>
                  <a:srgbClr val="333333"/>
                </a:solidFill>
                <a:latin typeface="微软雅黑" panose="020B0503020204020204" charset="-122"/>
                <a:ea typeface="微软雅黑" panose="020B0503020204020204" charset="-122"/>
                <a:cs typeface="+mn-cs"/>
              </a:rPr>
              <a:t>。</a:t>
            </a:r>
            <a:endParaRPr sz="1800">
              <a:solidFill>
                <a:srgbClr val="333333"/>
              </a:solidFill>
              <a:latin typeface="微软雅黑" panose="020B0503020204020204" charset="-122"/>
              <a:ea typeface="微软雅黑" panose="020B0503020204020204" charset="-122"/>
              <a:cs typeface="+mn-cs"/>
            </a:endParaRPr>
          </a:p>
        </p:txBody>
      </p:sp>
      <p:sp>
        <p:nvSpPr>
          <p:cNvPr id="75" name="ïṥļíḓé"/>
          <p:cNvSpPr/>
          <p:nvPr>
            <p:custDataLst>
              <p:tags r:id="rId2"/>
            </p:custDataLst>
          </p:nvPr>
        </p:nvSpPr>
        <p:spPr bwMode="auto">
          <a:xfrm>
            <a:off x="306253" y="3146822"/>
            <a:ext cx="469716" cy="470959"/>
          </a:xfrm>
          <a:prstGeom prst="ellipse">
            <a:avLst/>
          </a:prstGeom>
          <a:solidFill>
            <a:schemeClr val="accent1"/>
          </a:solidFill>
          <a:ln w="28575">
            <a:solidFill>
              <a:schemeClr val="bg1"/>
            </a:solidFill>
          </a:ln>
        </p:spPr>
        <p:txBody>
          <a:bodyPr vert="horz" wrap="square" lIns="91440" tIns="45720" rIns="91440" bIns="45720" numCol="1" anchor="ctr" anchorCtr="0" compatLnSpc="1">
            <a:normAutofit fontScale="4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3200" dirty="0">
                <a:solidFill>
                  <a:srgbClr val="FFFFFF"/>
                </a:solidFill>
                <a:ea typeface="微软雅黑" panose="020B0503020204020204" charset="-122"/>
              </a:rPr>
              <a:t>1</a:t>
            </a:r>
            <a:endParaRPr lang="en-US" sz="3200" dirty="0">
              <a:solidFill>
                <a:srgbClr val="FFFFFF"/>
              </a:solidFill>
              <a:ea typeface="微软雅黑" panose="020B0503020204020204" charset="-122"/>
            </a:endParaRPr>
          </a:p>
        </p:txBody>
      </p:sp>
      <p:grpSp>
        <p:nvGrpSpPr>
          <p:cNvPr id="76" name="ïṥḷîḍê"/>
          <p:cNvGrpSpPr/>
          <p:nvPr>
            <p:custDataLst>
              <p:tags r:id="rId3"/>
            </p:custDataLst>
          </p:nvPr>
        </p:nvGrpSpPr>
        <p:grpSpPr>
          <a:xfrm>
            <a:off x="937578" y="3145664"/>
            <a:ext cx="3512185" cy="2191385"/>
            <a:chOff x="1760651" y="1440088"/>
            <a:chExt cx="3197581" cy="2191385"/>
          </a:xfrm>
        </p:grpSpPr>
        <p:sp>
          <p:nvSpPr>
            <p:cNvPr id="77" name="ïSḷïḋè"/>
            <p:cNvSpPr/>
            <p:nvPr>
              <p:custDataLst>
                <p:tags r:id="rId4"/>
              </p:custDataLst>
            </p:nvPr>
          </p:nvSpPr>
          <p:spPr bwMode="auto">
            <a:xfrm>
              <a:off x="1760651" y="1882048"/>
              <a:ext cx="3197581"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indent="457200" algn="l">
                <a:lnSpc>
                  <a:spcPct val="120000"/>
                </a:lnSpc>
                <a:spcBef>
                  <a:spcPts val="300"/>
                </a:spcBef>
                <a:spcAft>
                  <a:spcPts val="300"/>
                </a:spcAft>
                <a:buSzTx/>
                <a:buNone/>
              </a:pPr>
              <a:r>
                <a:rPr sz="1400" kern="0">
                  <a:solidFill>
                    <a:srgbClr val="333333"/>
                  </a:solidFill>
                  <a:latin typeface="微软雅黑" panose="020B0503020204020204" charset="-122"/>
                  <a:ea typeface="微软雅黑" panose="020B0503020204020204" charset="-122"/>
                  <a:cs typeface="+mn-cs"/>
                </a:rPr>
                <a:t>基于PC端数据调阅权限管控，实现多端（移动端/PC端）权限管理逻辑完全一致。加入医域边界控制、隐私保险箱、调阅安全锁、访问即时通等控制功能</a:t>
              </a:r>
              <a:endParaRPr sz="1400" kern="0">
                <a:solidFill>
                  <a:srgbClr val="333333"/>
                </a:solidFill>
                <a:latin typeface="微软雅黑" panose="020B0503020204020204" charset="-122"/>
                <a:ea typeface="微软雅黑" panose="020B0503020204020204" charset="-122"/>
                <a:cs typeface="+mn-cs"/>
              </a:endParaRPr>
            </a:p>
          </p:txBody>
        </p:sp>
        <p:sp>
          <p:nvSpPr>
            <p:cNvPr id="78" name="íṥ1iḋe"/>
            <p:cNvSpPr txBox="1"/>
            <p:nvPr>
              <p:custDataLst>
                <p:tags r:id="rId5"/>
              </p:custDataLst>
            </p:nvPr>
          </p:nvSpPr>
          <p:spPr bwMode="auto">
            <a:xfrm>
              <a:off x="1760651" y="1440088"/>
              <a:ext cx="312618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pPr>
              <a:r>
                <a:rPr lang="zh-CN" altLang="en-US" b="1" dirty="0">
                  <a:ea typeface="微软雅黑" panose="020B0503020204020204" charset="-122"/>
                </a:rPr>
                <a:t>安全合规 · 多维度隐私防护</a:t>
              </a:r>
              <a:endParaRPr lang="zh-CN" altLang="en-US" b="1" dirty="0">
                <a:ea typeface="微软雅黑" panose="020B0503020204020204" charset="-122"/>
              </a:endParaRPr>
            </a:p>
          </p:txBody>
        </p:sp>
      </p:grpSp>
      <p:grpSp>
        <p:nvGrpSpPr>
          <p:cNvPr id="79" name="isľïde"/>
          <p:cNvGrpSpPr/>
          <p:nvPr>
            <p:custDataLst>
              <p:tags r:id="rId6"/>
            </p:custDataLst>
          </p:nvPr>
        </p:nvGrpSpPr>
        <p:grpSpPr>
          <a:xfrm>
            <a:off x="4717720" y="3169675"/>
            <a:ext cx="3512820" cy="2167255"/>
            <a:chOff x="1760651" y="1440088"/>
            <a:chExt cx="3198160" cy="2167255"/>
          </a:xfrm>
        </p:grpSpPr>
        <p:sp>
          <p:nvSpPr>
            <p:cNvPr id="80" name="íŝļidê"/>
            <p:cNvSpPr/>
            <p:nvPr>
              <p:custDataLst>
                <p:tags r:id="rId7"/>
              </p:custDataLst>
            </p:nvPr>
          </p:nvSpPr>
          <p:spPr bwMode="auto">
            <a:xfrm>
              <a:off x="1760651" y="1882048"/>
              <a:ext cx="3198160" cy="1725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indent="457200" algn="l">
                <a:lnSpc>
                  <a:spcPct val="120000"/>
                </a:lnSpc>
                <a:spcBef>
                  <a:spcPts val="300"/>
                </a:spcBef>
                <a:spcAft>
                  <a:spcPts val="300"/>
                </a:spcAft>
                <a:buSzTx/>
              </a:pPr>
              <a:r>
                <a:rPr sz="1400" kern="0">
                  <a:solidFill>
                    <a:srgbClr val="333333"/>
                  </a:solidFill>
                  <a:latin typeface="微软雅黑" panose="020B0503020204020204" charset="-122"/>
                  <a:ea typeface="微软雅黑" panose="020B0503020204020204" charset="-122"/>
                  <a:cs typeface="+mn-cs"/>
                </a:rPr>
                <a:t>在原有档案基础上，新增妇女保健、儿童管理、健康教育、预防接种、肺结核、心脑血管、肿瘤、高危管理等专项公卫数据展示，补齐公共卫生服务短板，支撑全人群全生命周期健康档案</a:t>
              </a:r>
              <a:endParaRPr sz="1400" kern="0">
                <a:solidFill>
                  <a:srgbClr val="333333"/>
                </a:solidFill>
                <a:latin typeface="微软雅黑" panose="020B0503020204020204" charset="-122"/>
                <a:ea typeface="微软雅黑" panose="020B0503020204020204" charset="-122"/>
                <a:cs typeface="+mn-cs"/>
              </a:endParaRPr>
            </a:p>
          </p:txBody>
        </p:sp>
        <p:sp>
          <p:nvSpPr>
            <p:cNvPr id="81" name="iṧļîdê"/>
            <p:cNvSpPr txBox="1"/>
            <p:nvPr>
              <p:custDataLst>
                <p:tags r:id="rId8"/>
              </p:custDataLst>
            </p:nvPr>
          </p:nvSpPr>
          <p:spPr bwMode="auto">
            <a:xfrm>
              <a:off x="1760651" y="1440088"/>
              <a:ext cx="312618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b="1" dirty="0">
                  <a:ea typeface="微软雅黑" panose="020B0503020204020204" charset="-122"/>
                </a:rPr>
                <a:t>数据完善 · 公卫业务全覆盖</a:t>
              </a:r>
              <a:endParaRPr lang="zh-CN" altLang="en-US" b="1" dirty="0">
                <a:ea typeface="微软雅黑" panose="020B0503020204020204" charset="-122"/>
              </a:endParaRPr>
            </a:p>
          </p:txBody>
        </p:sp>
      </p:grpSp>
      <p:grpSp>
        <p:nvGrpSpPr>
          <p:cNvPr id="82" name="iṣ1íďé"/>
          <p:cNvGrpSpPr/>
          <p:nvPr>
            <p:custDataLst>
              <p:tags r:id="rId9"/>
            </p:custDataLst>
          </p:nvPr>
        </p:nvGrpSpPr>
        <p:grpSpPr>
          <a:xfrm>
            <a:off x="8603094" y="3145946"/>
            <a:ext cx="3444240" cy="2190750"/>
            <a:chOff x="1760651" y="1440088"/>
            <a:chExt cx="3135723" cy="2190750"/>
          </a:xfrm>
        </p:grpSpPr>
        <p:sp>
          <p:nvSpPr>
            <p:cNvPr id="83" name="iṣḻîdê"/>
            <p:cNvSpPr/>
            <p:nvPr>
              <p:custDataLst>
                <p:tags r:id="rId10"/>
              </p:custDataLst>
            </p:nvPr>
          </p:nvSpPr>
          <p:spPr bwMode="auto">
            <a:xfrm>
              <a:off x="1760651" y="1882048"/>
              <a:ext cx="3135723" cy="1748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indent="457200" algn="l">
                <a:lnSpc>
                  <a:spcPct val="120000"/>
                </a:lnSpc>
                <a:spcBef>
                  <a:spcPts val="300"/>
                </a:spcBef>
                <a:spcAft>
                  <a:spcPts val="300"/>
                </a:spcAft>
                <a:buSzTx/>
              </a:pPr>
              <a:r>
                <a:rPr sz="1400" kern="0">
                  <a:solidFill>
                    <a:srgbClr val="333333"/>
                  </a:solidFill>
                  <a:latin typeface="微软雅黑" panose="020B0503020204020204" charset="-122"/>
                  <a:ea typeface="微软雅黑" panose="020B0503020204020204" charset="-122"/>
                  <a:cs typeface="+mn-cs"/>
                </a:rPr>
                <a:t>AI健康画像：基于患者多源数据，自动生成健康画像及近期健康小结，提供直观的健康状态总览AI报告分析：检查检验报告接入AI引擎，自动识别异常指标并输出辅助解读，提升临床决策效率。</a:t>
              </a:r>
              <a:endParaRPr sz="1400" kern="0">
                <a:solidFill>
                  <a:srgbClr val="333333"/>
                </a:solidFill>
                <a:latin typeface="微软雅黑" panose="020B0503020204020204" charset="-122"/>
                <a:ea typeface="微软雅黑" panose="020B0503020204020204" charset="-122"/>
                <a:cs typeface="+mn-cs"/>
              </a:endParaRPr>
            </a:p>
          </p:txBody>
        </p:sp>
        <p:sp>
          <p:nvSpPr>
            <p:cNvPr id="84" name="í$ḻiḑé"/>
            <p:cNvSpPr txBox="1"/>
            <p:nvPr>
              <p:custDataLst>
                <p:tags r:id="rId11"/>
              </p:custDataLst>
            </p:nvPr>
          </p:nvSpPr>
          <p:spPr bwMode="auto">
            <a:xfrm>
              <a:off x="1760651" y="1440088"/>
              <a:ext cx="3126184" cy="44180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b="1" dirty="0">
                  <a:ea typeface="微软雅黑" panose="020B0503020204020204" charset="-122"/>
                </a:rPr>
                <a:t>智能升级 · </a:t>
              </a:r>
              <a:r>
                <a:rPr lang="en-US" altLang="zh-CN" b="1" dirty="0">
                  <a:ea typeface="微软雅黑" panose="020B0503020204020204" charset="-122"/>
                </a:rPr>
                <a:t>AI</a:t>
              </a:r>
              <a:r>
                <a:rPr lang="zh-CN" altLang="en-US" b="1" dirty="0">
                  <a:ea typeface="微软雅黑" panose="020B0503020204020204" charset="-122"/>
                </a:rPr>
                <a:t>驱动诊疗辅助</a:t>
              </a:r>
              <a:endParaRPr lang="zh-CN" altLang="en-US" b="1" dirty="0">
                <a:ea typeface="微软雅黑" panose="020B0503020204020204" charset="-122"/>
              </a:endParaRPr>
            </a:p>
          </p:txBody>
        </p:sp>
      </p:grpSp>
      <p:sp>
        <p:nvSpPr>
          <p:cNvPr id="87" name="ïṥļíḓé"/>
          <p:cNvSpPr/>
          <p:nvPr>
            <p:custDataLst>
              <p:tags r:id="rId12"/>
            </p:custDataLst>
          </p:nvPr>
        </p:nvSpPr>
        <p:spPr bwMode="auto">
          <a:xfrm>
            <a:off x="4129141" y="3145664"/>
            <a:ext cx="469716" cy="470959"/>
          </a:xfrm>
          <a:prstGeom prst="ellipse">
            <a:avLst/>
          </a:prstGeom>
          <a:solidFill>
            <a:schemeClr val="accent1"/>
          </a:solidFill>
          <a:ln w="28575">
            <a:solidFill>
              <a:schemeClr val="bg1"/>
            </a:solidFill>
          </a:ln>
        </p:spPr>
        <p:txBody>
          <a:bodyPr vert="horz" wrap="square" lIns="91440" tIns="45720" rIns="91440" bIns="45720" numCol="1" anchor="ctr" anchorCtr="0" compatLnSpc="1">
            <a:normAutofit fontScale="4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3200" dirty="0">
                <a:solidFill>
                  <a:srgbClr val="FFFFFF"/>
                </a:solidFill>
                <a:ea typeface="微软雅黑" panose="020B0503020204020204" charset="-122"/>
              </a:rPr>
              <a:t>2</a:t>
            </a:r>
            <a:endParaRPr lang="en-US" sz="3200" dirty="0">
              <a:solidFill>
                <a:srgbClr val="FFFFFF"/>
              </a:solidFill>
              <a:ea typeface="微软雅黑" panose="020B0503020204020204" charset="-122"/>
            </a:endParaRPr>
          </a:p>
        </p:txBody>
      </p:sp>
      <p:sp>
        <p:nvSpPr>
          <p:cNvPr id="88" name="ïṥļíḓé"/>
          <p:cNvSpPr/>
          <p:nvPr>
            <p:custDataLst>
              <p:tags r:id="rId13"/>
            </p:custDataLst>
          </p:nvPr>
        </p:nvSpPr>
        <p:spPr bwMode="auto">
          <a:xfrm>
            <a:off x="8014515" y="3116792"/>
            <a:ext cx="469716" cy="470959"/>
          </a:xfrm>
          <a:prstGeom prst="ellipse">
            <a:avLst/>
          </a:prstGeom>
          <a:solidFill>
            <a:schemeClr val="accent1"/>
          </a:solidFill>
          <a:ln w="28575">
            <a:solidFill>
              <a:schemeClr val="bg1"/>
            </a:solidFill>
          </a:ln>
        </p:spPr>
        <p:txBody>
          <a:bodyPr vert="horz" wrap="square" lIns="91440" tIns="45720" rIns="91440" bIns="45720" numCol="1" anchor="ctr" anchorCtr="0" compatLnSpc="1">
            <a:normAutofit fontScale="4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sz="3200" dirty="0">
                <a:solidFill>
                  <a:srgbClr val="FFFFFF"/>
                </a:solidFill>
                <a:ea typeface="微软雅黑" panose="020B0503020204020204" charset="-122"/>
              </a:rPr>
              <a:t>3</a:t>
            </a:r>
            <a:endParaRPr lang="en-US" sz="3200" dirty="0">
              <a:solidFill>
                <a:srgbClr val="FFFFFF"/>
              </a:solidFill>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项目概况 · 目标</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596900" y="1100000"/>
          <a:ext cx="11100000" cy="5000000"/>
        </p:xfrm>
        <a:graphic>
          <a:graphicData uri="http://schemas.openxmlformats.org/drawingml/2006/table">
            <a:tbl>
              <a:tblPr firstRow="1" bandRow="1"/>
              <a:tblGrid>
                <a:gridCol w="800000"/>
                <a:gridCol w="2800000"/>
                <a:gridCol w="7500000"/>
              </a:tblGrid>
              <a:tr h="500000">
                <a:tc>
                  <a:txBody>
                    <a:bodyPr wrap="square"/>
                    <a:lstStyle/>
                    <a:p>
                      <a:pPr algn="ctr"/>
                      <a:r>
                        <a:rPr sz="1400" b="1">
                          <a:solidFill>
                            <a:srgbClr val="FFFFFF"/>
                          </a:solidFill>
                          <a:latin typeface="微软雅黑" panose="020B0503020204020204" charset="-122"/>
                          <a:ea typeface="微软雅黑" panose="020B0503020204020204" charset="-122"/>
                        </a:rPr>
                        <a:t>序号</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所属产品</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项目目标</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500000">
                <a:tc>
                  <a:txBody>
                    <a:bodyPr wrap="square"/>
                    <a:lstStyle/>
                    <a:p>
                      <a:pPr algn="ctr"/>
                      <a:r>
                        <a:rPr sz="1400" b="0">
                          <a:solidFill>
                            <a:srgbClr val="333333"/>
                          </a:solidFill>
                          <a:latin typeface="微软雅黑" panose="020B0503020204020204" charset="-122"/>
                          <a:ea typeface="微软雅黑" panose="020B0503020204020204" charset="-122"/>
                        </a:rPr>
                        <a:t>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rowSpan="5">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健康全景视图1.4</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1、概况视图支持可视化拖拽配置，实现“一场景一视图”</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r h="500000">
                <a:tc>
                  <a:txBody>
                    <a:bodyPr wrap="square"/>
                    <a:lstStyle/>
                    <a:p>
                      <a:pPr algn="ctr"/>
                      <a:r>
                        <a:rPr sz="1400" b="0">
                          <a:solidFill>
                            <a:srgbClr val="333333"/>
                          </a:solidFill>
                          <a:latin typeface="微软雅黑" panose="020B0503020204020204" charset="-122"/>
                          <a:ea typeface="微软雅黑" panose="020B0503020204020204" charset="-122"/>
                        </a:rPr>
                        <a:t>2</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2、公卫业务数据展示扩展（慢阻肺、心脑血管、肿瘤、高危）</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r>
              <a:tr h="500000">
                <a:tc>
                  <a:txBody>
                    <a:bodyPr wrap="square"/>
                    <a:lstStyle/>
                    <a:p>
                      <a:pPr algn="ctr"/>
                      <a:r>
                        <a:rPr sz="1400" b="0">
                          <a:solidFill>
                            <a:srgbClr val="333333"/>
                          </a:solidFill>
                          <a:latin typeface="微软雅黑" panose="020B0503020204020204" charset="-122"/>
                          <a:ea typeface="微软雅黑" panose="020B0503020204020204" charset="-122"/>
                        </a:rPr>
                        <a:t>3</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3、支持根据权限数据进行数据脱敏展示</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r h="500000">
                <a:tc>
                  <a:txBody>
                    <a:bodyPr wrap="square"/>
                    <a:lstStyle/>
                    <a:p>
                      <a:pPr algn="ctr"/>
                      <a:r>
                        <a:rPr sz="1400" b="0">
                          <a:solidFill>
                            <a:srgbClr val="333333"/>
                          </a:solidFill>
                          <a:latin typeface="微软雅黑" panose="020B0503020204020204" charset="-122"/>
                          <a:ea typeface="微软雅黑" panose="020B0503020204020204" charset="-122"/>
                        </a:rPr>
                        <a:t>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4、效率管理优化，构建业务数据索引，加速查询效率</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r>
              <a:tr h="500000">
                <a:tc>
                  <a:txBody>
                    <a:bodyPr wrap="square"/>
                    <a:lstStyle/>
                    <a:p>
                      <a:pPr algn="ctr"/>
                      <a:r>
                        <a:rPr sz="1400" b="0">
                          <a:solidFill>
                            <a:srgbClr val="333333"/>
                          </a:solidFill>
                          <a:latin typeface="微软雅黑" panose="020B0503020204020204" charset="-122"/>
                          <a:ea typeface="微软雅黑" panose="020B0503020204020204" charset="-122"/>
                        </a:rPr>
                        <a:t>5</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5、公卫数据标准新增管理，统一字段标准</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r h="500000">
                <a:tc>
                  <a:txBody>
                    <a:bodyPr wrap="square"/>
                    <a:lstStyle/>
                    <a:p>
                      <a:pPr algn="ctr"/>
                      <a:r>
                        <a:rPr sz="1400" b="0">
                          <a:solidFill>
                            <a:srgbClr val="333333"/>
                          </a:solidFill>
                          <a:latin typeface="微软雅黑" panose="020B0503020204020204" charset="-122"/>
                          <a:ea typeface="微软雅黑" panose="020B0503020204020204" charset="-122"/>
                        </a:rPr>
                        <a:t>6</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rowSpan="4">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全程档案调阅系统1.1</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1、支持整体AI健康画像及健康小结</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r>
              <a:tr h="500000">
                <a:tc>
                  <a:txBody>
                    <a:bodyPr wrap="square"/>
                    <a:lstStyle/>
                    <a:p>
                      <a:pPr algn="ctr"/>
                      <a:r>
                        <a:rPr sz="1400" b="0">
                          <a:solidFill>
                            <a:srgbClr val="333333"/>
                          </a:solidFill>
                          <a:latin typeface="微软雅黑" panose="020B0503020204020204" charset="-122"/>
                          <a:ea typeface="微软雅黑" panose="020B0503020204020204" charset="-122"/>
                        </a:rPr>
                        <a:t>7</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2、完善公卫服务及诊疗服务数据展示</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r h="500000">
                <a:tc>
                  <a:txBody>
                    <a:bodyPr wrap="square"/>
                    <a:lstStyle/>
                    <a:p>
                      <a:pPr algn="ctr"/>
                      <a:r>
                        <a:rPr sz="1400" b="0">
                          <a:solidFill>
                            <a:srgbClr val="333333"/>
                          </a:solidFill>
                          <a:latin typeface="微软雅黑" panose="020B0503020204020204" charset="-122"/>
                          <a:ea typeface="微软雅黑" panose="020B0503020204020204" charset="-122"/>
                        </a:rPr>
                        <a:t>8</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3、新增病案首页展示，检查检验报告AI分析</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r>
              <a:tr h="500000">
                <a:tc>
                  <a:txBody>
                    <a:bodyPr wrap="square"/>
                    <a:lstStyle/>
                    <a:p>
                      <a:pPr algn="ctr"/>
                      <a:r>
                        <a:rPr sz="1400" b="0">
                          <a:solidFill>
                            <a:srgbClr val="333333"/>
                          </a:solidFill>
                          <a:latin typeface="微软雅黑" panose="020B0503020204020204" charset="-122"/>
                          <a:ea typeface="微软雅黑" panose="020B0503020204020204" charset="-122"/>
                        </a:rPr>
                        <a:t>9</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4、隐私权限管理（医域边界、隐私保险箱、调阅安全锁、访问即时通）</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项目概况 · 产品特点</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Rounded Rectangle 15"/>
          <p:cNvSpPr/>
          <p:nvPr/>
        </p:nvSpPr>
        <p:spPr>
          <a:xfrm>
            <a:off x="596900" y="1000000"/>
            <a:ext cx="5420000" cy="2050000"/>
          </a:xfrm>
          <a:prstGeom prst="roundRect">
            <a:avLst>
              <a:gd name="adj" fmla="val 4000"/>
            </a:avLst>
          </a:prstGeom>
          <a:solidFill>
            <a:srgbClr val="EAF1FB"/>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76200" rtlCol="0" anchor="t"/>
          <a:lstStyle/>
          <a:p>
            <a:pPr algn="l">
              <a:spcBef>
                <a:spcPts val="200"/>
              </a:spcBef>
              <a:spcAft>
                <a:spcPts val="600"/>
              </a:spcAft>
            </a:pPr>
            <a:r>
              <a:rPr sz="2000" b="1">
                <a:solidFill>
                  <a:srgbClr val="4472C4"/>
                </a:solidFill>
                <a:latin typeface="微软雅黑" panose="020B0503020204020204" charset="-122"/>
                <a:ea typeface="微软雅黑" panose="020B0503020204020204" charset="-122"/>
                <a:cs typeface="微软雅黑" panose="020B0503020204020204" charset="-122"/>
              </a:rPr>
              <a:t>产品亮点</a:t>
            </a:r>
            <a:endParaRPr sz="2000" b="1">
              <a:solidFill>
                <a:srgbClr val="4472C4"/>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4472C4"/>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AI智能驱动：AI健康画像"一人一档"，报告智能解读辅助诊疗决策</a:t>
            </a:r>
            <a:endParaRPr sz="1350">
              <a:solidFill>
                <a:srgbClr val="333333"/>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4472C4"/>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数据全域覆盖：新增8项公卫专项数据，全生命周期健康档案管理</a:t>
            </a:r>
            <a:endParaRPr sz="1350">
              <a:solidFill>
                <a:srgbClr val="333333"/>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4472C4"/>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视图灵活配置：可视化拖拽布局，多角色一键切换视图模板</a:t>
            </a:r>
            <a:endParaRPr sz="1350">
              <a:solidFill>
                <a:srgbClr val="333333"/>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4472C4"/>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安全全链路：覆盖"调阅-脱敏-加锁-审计"，数据安全合规</a:t>
            </a:r>
            <a:endParaRPr sz="135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17" name="Rounded Rectangle 16"/>
          <p:cNvSpPr/>
          <p:nvPr/>
        </p:nvSpPr>
        <p:spPr>
          <a:xfrm>
            <a:off x="6276900" y="1000000"/>
            <a:ext cx="5420000" cy="2050000"/>
          </a:xfrm>
          <a:prstGeom prst="roundRect">
            <a:avLst>
              <a:gd name="adj" fmla="val 4000"/>
            </a:avLst>
          </a:prstGeom>
          <a:solidFill>
            <a:srgbClr val="E6F5F3"/>
          </a:solidFill>
          <a:ln w="19050">
            <a:solidFill>
              <a:srgbClr val="1A8C7A"/>
            </a:solid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76200" rtlCol="0" anchor="t"/>
          <a:lstStyle/>
          <a:p>
            <a:pPr algn="l">
              <a:spcBef>
                <a:spcPts val="200"/>
              </a:spcBef>
              <a:spcAft>
                <a:spcPts val="600"/>
              </a:spcAft>
            </a:pPr>
            <a:r>
              <a:rPr sz="2000" b="1">
                <a:solidFill>
                  <a:srgbClr val="1A8C7A"/>
                </a:solidFill>
                <a:latin typeface="微软雅黑" panose="020B0503020204020204" charset="-122"/>
                <a:ea typeface="微软雅黑" panose="020B0503020204020204" charset="-122"/>
                <a:cs typeface="微软雅黑" panose="020B0503020204020204" charset="-122"/>
              </a:rPr>
              <a:t>差异化优势</a:t>
            </a:r>
            <a:endParaRPr sz="2000" b="1">
              <a:solidFill>
                <a:srgbClr val="1A8C7A"/>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1A8C7A"/>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拖拽式配置：无需二次开发，快速定制业务界面</a:t>
            </a:r>
            <a:endParaRPr sz="1350">
              <a:solidFill>
                <a:srgbClr val="333333"/>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1A8C7A"/>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AI深度嵌入：从"被动查阅"到"主动辅助决策"</a:t>
            </a:r>
            <a:endParaRPr sz="1350">
              <a:solidFill>
                <a:srgbClr val="333333"/>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1A8C7A"/>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公卫+诊疗融合：打破数据割裂，支撑医防融合</a:t>
            </a:r>
            <a:endParaRPr sz="1350">
              <a:solidFill>
                <a:srgbClr val="333333"/>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1A8C7A"/>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精细化权限：从"角色级"到"人员级"数据脱敏</a:t>
            </a:r>
            <a:endParaRPr sz="135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18" name="Rounded Rectangle 17"/>
          <p:cNvSpPr/>
          <p:nvPr/>
        </p:nvSpPr>
        <p:spPr>
          <a:xfrm>
            <a:off x="596900" y="3230000"/>
            <a:ext cx="5420000" cy="2050000"/>
          </a:xfrm>
          <a:prstGeom prst="roundRect">
            <a:avLst>
              <a:gd name="adj" fmla="val 4000"/>
            </a:avLst>
          </a:prstGeom>
          <a:solidFill>
            <a:srgbClr val="F0E9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76200" rtlCol="0" anchor="t"/>
          <a:lstStyle/>
          <a:p>
            <a:pPr algn="l">
              <a:spcBef>
                <a:spcPts val="200"/>
              </a:spcBef>
              <a:spcAft>
                <a:spcPts val="600"/>
              </a:spcAft>
            </a:pPr>
            <a:r>
              <a:rPr sz="2000" b="1">
                <a:solidFill>
                  <a:srgbClr val="6B3FA0"/>
                </a:solidFill>
                <a:latin typeface="微软雅黑" panose="020B0503020204020204" charset="-122"/>
                <a:ea typeface="微软雅黑" panose="020B0503020204020204" charset="-122"/>
                <a:cs typeface="微软雅黑" panose="020B0503020204020204" charset="-122"/>
              </a:rPr>
              <a:t>产品架构</a:t>
            </a:r>
            <a:endParaRPr sz="2000" b="1">
              <a:solidFill>
                <a:srgbClr val="6B3FA0"/>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6B3FA0"/>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表现层：PC/移动端适配，拖拽配置，多角色视图切换</a:t>
            </a:r>
            <a:endParaRPr sz="1350">
              <a:solidFill>
                <a:srgbClr val="333333"/>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6B3FA0"/>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业务层：档案调阅/公卫展示/诊疗展示/AI分析/权限管理，松耦合</a:t>
            </a:r>
            <a:endParaRPr sz="1350">
              <a:solidFill>
                <a:srgbClr val="333333"/>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6B3FA0"/>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数据层：ES实时计算引擎，统一公卫数据字段标准</a:t>
            </a:r>
            <a:endParaRPr sz="135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19" name="Rounded Rectangle 18"/>
          <p:cNvSpPr/>
          <p:nvPr/>
        </p:nvSpPr>
        <p:spPr>
          <a:xfrm>
            <a:off x="6276900" y="3230000"/>
            <a:ext cx="5420000" cy="2050000"/>
          </a:xfrm>
          <a:prstGeom prst="roundRect">
            <a:avLst>
              <a:gd name="adj" fmla="val 4000"/>
            </a:avLst>
          </a:prstGeom>
          <a:solidFill>
            <a:srgbClr val="FDF1E8"/>
          </a:solidFill>
          <a:ln w="19050">
            <a:solidFill>
              <a:srgbClr val="D46B1C"/>
            </a:solid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76200" rtlCol="0" anchor="t"/>
          <a:lstStyle/>
          <a:p>
            <a:pPr algn="l">
              <a:spcBef>
                <a:spcPts val="200"/>
              </a:spcBef>
              <a:spcAft>
                <a:spcPts val="600"/>
              </a:spcAft>
            </a:pPr>
            <a:r>
              <a:rPr sz="2000" b="1">
                <a:solidFill>
                  <a:srgbClr val="D46B1C"/>
                </a:solidFill>
                <a:latin typeface="微软雅黑" panose="020B0503020204020204" charset="-122"/>
                <a:ea typeface="微软雅黑" panose="020B0503020204020204" charset="-122"/>
                <a:cs typeface="微软雅黑" panose="020B0503020204020204" charset="-122"/>
              </a:rPr>
              <a:t>技术成熟度</a:t>
            </a:r>
            <a:endParaRPr sz="2000" b="1">
              <a:solidFill>
                <a:srgbClr val="D46B1C"/>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D46B1C"/>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AI能力多轮迭代，</a:t>
            </a:r>
            <a:r>
              <a:rPr lang="zh-CN" sz="1350">
                <a:solidFill>
                  <a:srgbClr val="333333"/>
                </a:solidFill>
                <a:latin typeface="微软雅黑" panose="020B0503020204020204" charset="-122"/>
                <a:ea typeface="微软雅黑" panose="020B0503020204020204" charset="-122"/>
                <a:cs typeface="微软雅黑" panose="020B0503020204020204" charset="-122"/>
              </a:rPr>
              <a:t>档案扫描仪即将</a:t>
            </a:r>
            <a:r>
              <a:rPr sz="1350">
                <a:solidFill>
                  <a:srgbClr val="333333"/>
                </a:solidFill>
                <a:latin typeface="微软雅黑" panose="020B0503020204020204" charset="-122"/>
                <a:ea typeface="微软雅黑" panose="020B0503020204020204" charset="-122"/>
                <a:cs typeface="微软雅黑" panose="020B0503020204020204" charset="-122"/>
              </a:rPr>
              <a:t>试点机构临床验证</a:t>
            </a:r>
            <a:endParaRPr sz="1350">
              <a:solidFill>
                <a:srgbClr val="333333"/>
              </a:solidFill>
              <a:latin typeface="微软雅黑" panose="020B0503020204020204" charset="-122"/>
              <a:ea typeface="微软雅黑" panose="020B0503020204020204" charset="-122"/>
              <a:cs typeface="微软雅黑" panose="020B0503020204020204" charset="-122"/>
            </a:endParaRPr>
          </a:p>
          <a:p>
            <a:pPr algn="l">
              <a:spcBef>
                <a:spcPts val="300"/>
              </a:spcBef>
              <a:spcAft>
                <a:spcPts val="300"/>
              </a:spcAft>
            </a:pPr>
            <a:r>
              <a:rPr sz="1300" b="1">
                <a:solidFill>
                  <a:srgbClr val="D46B1C"/>
                </a:solidFill>
                <a:latin typeface="微软雅黑" panose="020B0503020204020204" charset="-122"/>
                <a:ea typeface="微软雅黑" panose="020B0503020204020204" charset="-122"/>
                <a:cs typeface="微软雅黑" panose="020B0503020204020204" charset="-122"/>
              </a:rPr>
              <a:t>▸ </a:t>
            </a:r>
            <a:r>
              <a:rPr sz="1350">
                <a:solidFill>
                  <a:srgbClr val="333333"/>
                </a:solidFill>
                <a:latin typeface="微软雅黑" panose="020B0503020204020204" charset="-122"/>
                <a:ea typeface="微软雅黑" panose="020B0503020204020204" charset="-122"/>
                <a:cs typeface="微软雅黑" panose="020B0503020204020204" charset="-122"/>
              </a:rPr>
              <a:t>模块化架构V1.0稳定运行，升级风险可控</a:t>
            </a:r>
            <a:endParaRPr sz="1350">
              <a:solidFill>
                <a:srgbClr val="333333"/>
              </a:solidFill>
              <a:latin typeface="微软雅黑" panose="020B0503020204020204" charset="-122"/>
              <a:ea typeface="微软雅黑" panose="020B0503020204020204" charset="-122"/>
              <a:cs typeface="微软雅黑" panose="020B0503020204020204" charset="-122"/>
            </a:endParaRPr>
          </a:p>
        </p:txBody>
      </p:sp>
      <p:sp>
        <p:nvSpPr>
          <p:cNvPr id="20" name="TextBox 19"/>
          <p:cNvSpPr txBox="1"/>
          <p:nvPr/>
        </p:nvSpPr>
        <p:spPr>
          <a:xfrm>
            <a:off x="596900" y="5400000"/>
            <a:ext cx="11100000" cy="250825"/>
          </a:xfrm>
          <a:prstGeom prst="rect">
            <a:avLst/>
          </a:prstGeom>
          <a:noFill/>
        </p:spPr>
        <p:txBody>
          <a:bodyPr wrap="square" tIns="50800" bIns="0">
            <a:spAutoFit/>
          </a:bodyPr>
          <a:lstStyle/>
          <a:p>
            <a:pPr algn="ctr"/>
            <a:r>
              <a:rPr lang="zh-CN" sz="1300" i="1">
                <a:solidFill>
                  <a:srgbClr val="4472C4"/>
                </a:solidFill>
                <a:latin typeface="微软雅黑" panose="020B0503020204020204" charset="-122"/>
                <a:ea typeface="微软雅黑" panose="020B0503020204020204" charset="-122"/>
                <a:cs typeface="微软雅黑" panose="020B0503020204020204" charset="-122"/>
              </a:rPr>
              <a:t>健康全景视图</a:t>
            </a:r>
            <a:r>
              <a:rPr lang="en-US" altLang="zh-CN" sz="1300" i="1">
                <a:solidFill>
                  <a:srgbClr val="4472C4"/>
                </a:solidFill>
                <a:latin typeface="微软雅黑" panose="020B0503020204020204" charset="-122"/>
                <a:ea typeface="微软雅黑" panose="020B0503020204020204" charset="-122"/>
                <a:cs typeface="微软雅黑" panose="020B0503020204020204" charset="-122"/>
              </a:rPr>
              <a:t>&amp;</a:t>
            </a:r>
            <a:r>
              <a:rPr sz="1300" i="1">
                <a:solidFill>
                  <a:srgbClr val="4472C4"/>
                </a:solidFill>
                <a:latin typeface="微软雅黑" panose="020B0503020204020204" charset="-122"/>
                <a:ea typeface="微软雅黑" panose="020B0503020204020204" charset="-122"/>
                <a:cs typeface="微软雅黑" panose="020B0503020204020204" charset="-122"/>
              </a:rPr>
              <a:t>全程档案调阅系统 —— 集"AI画像+报告解读+公卫全覆盖+灵活配置+安全可控"于一体，让数据服务临床、惠及居民</a:t>
            </a:r>
            <a:endParaRPr sz="1300" i="1">
              <a:solidFill>
                <a:srgbClr val="4472C4"/>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项目概况 · 遵循标准</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1000000" y="1100000"/>
          <a:ext cx="10505750" cy="4500245"/>
        </p:xfrm>
        <a:graphic>
          <a:graphicData uri="http://schemas.openxmlformats.org/drawingml/2006/table">
            <a:tbl>
              <a:tblPr firstRow="1" bandRow="1"/>
              <a:tblGrid>
                <a:gridCol w="800000"/>
                <a:gridCol w="1205230"/>
                <a:gridCol w="6391685"/>
                <a:gridCol w="2108835"/>
              </a:tblGrid>
              <a:tr h="900000">
                <a:tc>
                  <a:txBody>
                    <a:bodyPr wrap="square"/>
                    <a:lstStyle/>
                    <a:p>
                      <a:pPr algn="ctr"/>
                      <a:r>
                        <a:rPr sz="1400" b="1">
                          <a:solidFill>
                            <a:srgbClr val="FFFFFF"/>
                          </a:solidFill>
                          <a:latin typeface="微软雅黑" panose="020B0503020204020204" charset="-122"/>
                          <a:ea typeface="微软雅黑" panose="020B0503020204020204" charset="-122"/>
                        </a:rPr>
                        <a:t>序号</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类目</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文献</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发布单位</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900000">
                <a:tc>
                  <a:txBody>
                    <a:bodyPr wrap="square"/>
                    <a:lstStyle/>
                    <a:p>
                      <a:pPr algn="ctr"/>
                      <a:r>
                        <a:rPr sz="1400" b="0">
                          <a:solidFill>
                            <a:srgbClr val="333333"/>
                          </a:solidFill>
                          <a:latin typeface="微软雅黑" panose="020B0503020204020204" charset="-122"/>
                          <a:ea typeface="微软雅黑" panose="020B0503020204020204" charset="-122"/>
                        </a:rPr>
                        <a:t>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国家标准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《关于打造国家信创产业高地三年行动方案（2023-2025年）》</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信息化与软件服务业处</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900000">
                <a:tc>
                  <a:txBody>
                    <a:bodyPr wrap="square"/>
                    <a:lstStyle/>
                    <a:p>
                      <a:pPr algn="ctr"/>
                      <a:r>
                        <a:rPr sz="1400" b="0">
                          <a:solidFill>
                            <a:srgbClr val="333333"/>
                          </a:solidFill>
                          <a:latin typeface="微软雅黑" panose="020B0503020204020204" charset="-122"/>
                          <a:ea typeface="微软雅黑" panose="020B0503020204020204" charset="-122"/>
                        </a:rPr>
                        <a:t>2</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《国家卫生健康委办公厅关于印发紧密型县域医共体信息化功能指引的通知》</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国卫健委</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900000">
                <a:tc>
                  <a:txBody>
                    <a:bodyPr wrap="square"/>
                    <a:lstStyle/>
                    <a:p>
                      <a:pPr algn="ctr"/>
                      <a:r>
                        <a:rPr sz="1400" b="0">
                          <a:solidFill>
                            <a:srgbClr val="333333"/>
                          </a:solidFill>
                          <a:latin typeface="微软雅黑" panose="020B0503020204020204" charset="-122"/>
                          <a:ea typeface="微软雅黑" panose="020B0503020204020204" charset="-122"/>
                        </a:rPr>
                        <a:t>3</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《关于进一步规范数字医共体体建设的通知》</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川卫健委</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900000">
                <a:tc>
                  <a:txBody>
                    <a:bodyPr wrap="square"/>
                    <a:lstStyle/>
                    <a:p>
                      <a:pPr algn="ctr"/>
                      <a:r>
                        <a:rPr sz="1400" b="0">
                          <a:solidFill>
                            <a:srgbClr val="333333"/>
                          </a:solidFill>
                          <a:latin typeface="微软雅黑" panose="020B0503020204020204" charset="-122"/>
                          <a:ea typeface="微软雅黑" panose="020B0503020204020204" charset="-122"/>
                        </a:rPr>
                        <a:t>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《区域互联互通测评梳理》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项目概况 · 研发模型</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Rounded Rectangle 15"/>
          <p:cNvSpPr/>
          <p:nvPr/>
        </p:nvSpPr>
        <p:spPr>
          <a:xfrm>
            <a:off x="596900" y="1000125"/>
            <a:ext cx="5450205" cy="3858895"/>
          </a:xfrm>
          <a:prstGeom prst="roundRect">
            <a:avLst>
              <a:gd name="adj" fmla="val 4000"/>
            </a:avLst>
          </a:prstGeom>
          <a:solidFill>
            <a:srgbClr val="EAF1FB"/>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76200" rtlCol="0" anchor="t"/>
          <a:lstStyle/>
          <a:p>
            <a:pPr algn="l">
              <a:lnSpc>
                <a:spcPct val="150000"/>
              </a:lnSpc>
              <a:spcBef>
                <a:spcPts val="200"/>
              </a:spcBef>
              <a:spcAft>
                <a:spcPts val="600"/>
              </a:spcAft>
            </a:pPr>
            <a:r>
              <a:rPr sz="2000" b="1">
                <a:solidFill>
                  <a:srgbClr val="4472C4"/>
                </a:solidFill>
                <a:latin typeface="微软雅黑" panose="020B0503020204020204" charset="-122"/>
                <a:ea typeface="微软雅黑" panose="020B0503020204020204" charset="-122"/>
              </a:rPr>
              <a:t>PDP模型 — 全周期产品开发流程</a:t>
            </a:r>
            <a:endParaRPr sz="2000" b="1">
              <a:solidFill>
                <a:srgbClr val="4472C4"/>
              </a:solidFill>
              <a:latin typeface="微软雅黑" panose="020B0503020204020204" charset="-122"/>
              <a:ea typeface="微软雅黑" panose="020B0503020204020204" charset="-122"/>
            </a:endParaRPr>
          </a:p>
          <a:p>
            <a:pPr algn="l">
              <a:lnSpc>
                <a:spcPct val="150000"/>
              </a:lnSpc>
              <a:spcBef>
                <a:spcPts val="300"/>
              </a:spcBef>
              <a:spcAft>
                <a:spcPts val="300"/>
              </a:spcAft>
            </a:pPr>
            <a:r>
              <a:rPr b="1">
                <a:solidFill>
                  <a:srgbClr val="4472C4"/>
                </a:solidFill>
                <a:latin typeface="微软雅黑" panose="020B0503020204020204" charset="-122"/>
                <a:ea typeface="微软雅黑" panose="020B0503020204020204" charset="-122"/>
              </a:rPr>
              <a:t>▸ </a:t>
            </a:r>
            <a:r>
              <a:rPr>
                <a:solidFill>
                  <a:srgbClr val="333333"/>
                </a:solidFill>
                <a:latin typeface="微软雅黑" panose="020B0503020204020204" charset="-122"/>
                <a:ea typeface="微软雅黑" panose="020B0503020204020204" charset="-122"/>
              </a:rPr>
              <a:t>全周期覆盖：从概念到发布及后续迭代的全过程管理，与产品全周期管理高度契合</a:t>
            </a:r>
            <a:endParaRPr>
              <a:solidFill>
                <a:srgbClr val="333333"/>
              </a:solidFill>
              <a:latin typeface="微软雅黑" panose="020B0503020204020204" charset="-122"/>
              <a:ea typeface="微软雅黑" panose="020B0503020204020204" charset="-122"/>
            </a:endParaRPr>
          </a:p>
          <a:p>
            <a:pPr algn="l">
              <a:lnSpc>
                <a:spcPct val="150000"/>
              </a:lnSpc>
              <a:spcBef>
                <a:spcPts val="300"/>
              </a:spcBef>
              <a:spcAft>
                <a:spcPts val="300"/>
              </a:spcAft>
            </a:pPr>
            <a:r>
              <a:rPr b="1">
                <a:solidFill>
                  <a:srgbClr val="4472C4"/>
                </a:solidFill>
                <a:latin typeface="微软雅黑" panose="020B0503020204020204" charset="-122"/>
                <a:ea typeface="微软雅黑" panose="020B0503020204020204" charset="-122"/>
              </a:rPr>
              <a:t>▸ </a:t>
            </a:r>
            <a:r>
              <a:rPr>
                <a:solidFill>
                  <a:srgbClr val="333333"/>
                </a:solidFill>
                <a:latin typeface="微软雅黑" panose="020B0503020204020204" charset="-122"/>
                <a:ea typeface="微软雅黑" panose="020B0503020204020204" charset="-122"/>
              </a:rPr>
              <a:t>跨部门协同：适合多系统整合和标准化流程设计，促进团队高效合作</a:t>
            </a:r>
            <a:endParaRPr>
              <a:solidFill>
                <a:srgbClr val="333333"/>
              </a:solidFill>
              <a:latin typeface="微软雅黑" panose="020B0503020204020204" charset="-122"/>
              <a:ea typeface="微软雅黑" panose="020B0503020204020204" charset="-122"/>
            </a:endParaRPr>
          </a:p>
          <a:p>
            <a:pPr algn="l">
              <a:lnSpc>
                <a:spcPct val="150000"/>
              </a:lnSpc>
              <a:spcBef>
                <a:spcPts val="300"/>
              </a:spcBef>
              <a:spcAft>
                <a:spcPts val="300"/>
              </a:spcAft>
            </a:pPr>
            <a:r>
              <a:rPr b="1">
                <a:solidFill>
                  <a:srgbClr val="4472C4"/>
                </a:solidFill>
                <a:latin typeface="微软雅黑" panose="020B0503020204020204" charset="-122"/>
                <a:ea typeface="微软雅黑" panose="020B0503020204020204" charset="-122"/>
              </a:rPr>
              <a:t>▸ </a:t>
            </a:r>
            <a:r>
              <a:rPr>
                <a:solidFill>
                  <a:srgbClr val="333333"/>
                </a:solidFill>
                <a:latin typeface="微软雅黑" panose="020B0503020204020204" charset="-122"/>
                <a:ea typeface="微软雅黑" panose="020B0503020204020204" charset="-122"/>
              </a:rPr>
              <a:t>风险管控：注重风险管理和质量控制，确保产品稳定性和可靠性</a:t>
            </a:r>
            <a:endParaRPr>
              <a:solidFill>
                <a:srgbClr val="333333"/>
              </a:solidFill>
              <a:latin typeface="微软雅黑" panose="020B0503020204020204" charset="-122"/>
              <a:ea typeface="微软雅黑" panose="020B0503020204020204" charset="-122"/>
            </a:endParaRPr>
          </a:p>
          <a:p>
            <a:pPr algn="l">
              <a:lnSpc>
                <a:spcPct val="150000"/>
              </a:lnSpc>
              <a:spcBef>
                <a:spcPts val="300"/>
              </a:spcBef>
              <a:spcAft>
                <a:spcPts val="300"/>
              </a:spcAft>
            </a:pPr>
            <a:r>
              <a:rPr b="1">
                <a:solidFill>
                  <a:srgbClr val="4472C4"/>
                </a:solidFill>
                <a:latin typeface="微软雅黑" panose="020B0503020204020204" charset="-122"/>
                <a:ea typeface="微软雅黑" panose="020B0503020204020204" charset="-122"/>
              </a:rPr>
              <a:t>▸ </a:t>
            </a:r>
            <a:r>
              <a:rPr>
                <a:solidFill>
                  <a:srgbClr val="333333"/>
                </a:solidFill>
                <a:latin typeface="微软雅黑" panose="020B0503020204020204" charset="-122"/>
                <a:ea typeface="微软雅黑" panose="020B0503020204020204" charset="-122"/>
              </a:rPr>
              <a:t>灵活迭代：支持灵活迭代优化，适应技术快速变化和环境升级</a:t>
            </a:r>
            <a:endParaRPr>
              <a:solidFill>
                <a:srgbClr val="333333"/>
              </a:solidFill>
              <a:latin typeface="微软雅黑" panose="020B0503020204020204" charset="-122"/>
              <a:ea typeface="微软雅黑" panose="020B0503020204020204" charset="-122"/>
            </a:endParaRPr>
          </a:p>
        </p:txBody>
      </p:sp>
      <p:sp>
        <p:nvSpPr>
          <p:cNvPr id="17" name="Rounded Rectangle 16"/>
          <p:cNvSpPr/>
          <p:nvPr/>
        </p:nvSpPr>
        <p:spPr>
          <a:xfrm>
            <a:off x="6247130" y="1000125"/>
            <a:ext cx="5450205" cy="3858895"/>
          </a:xfrm>
          <a:prstGeom prst="roundRect">
            <a:avLst>
              <a:gd name="adj" fmla="val 4000"/>
            </a:avLst>
          </a:prstGeom>
          <a:solidFill>
            <a:srgbClr val="E6F5F3"/>
          </a:solidFill>
          <a:ln w="19050">
            <a:solidFill>
              <a:srgbClr val="2E9B8B"/>
            </a:solid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76200" rtlCol="0" anchor="t"/>
          <a:lstStyle/>
          <a:p>
            <a:pPr algn="l">
              <a:lnSpc>
                <a:spcPct val="150000"/>
              </a:lnSpc>
              <a:spcBef>
                <a:spcPts val="200"/>
              </a:spcBef>
              <a:spcAft>
                <a:spcPts val="600"/>
              </a:spcAft>
            </a:pPr>
            <a:r>
              <a:rPr sz="2000" b="1">
                <a:solidFill>
                  <a:srgbClr val="2E9B8B"/>
                </a:solidFill>
                <a:latin typeface="微软雅黑" panose="020B0503020204020204" charset="-122"/>
                <a:ea typeface="微软雅黑" panose="020B0503020204020204" charset="-122"/>
              </a:rPr>
              <a:t>选择理由</a:t>
            </a:r>
            <a:endParaRPr sz="2000" b="1">
              <a:solidFill>
                <a:srgbClr val="2E9B8B"/>
              </a:solidFill>
              <a:latin typeface="微软雅黑" panose="020B0503020204020204" charset="-122"/>
              <a:ea typeface="微软雅黑" panose="020B0503020204020204" charset="-122"/>
            </a:endParaRPr>
          </a:p>
          <a:p>
            <a:pPr algn="l">
              <a:lnSpc>
                <a:spcPct val="150000"/>
              </a:lnSpc>
              <a:spcBef>
                <a:spcPts val="300"/>
              </a:spcBef>
              <a:spcAft>
                <a:spcPts val="300"/>
              </a:spcAft>
            </a:pPr>
            <a:r>
              <a:rPr b="1">
                <a:solidFill>
                  <a:srgbClr val="2E9B8B"/>
                </a:solidFill>
                <a:latin typeface="微软雅黑" panose="020B0503020204020204" charset="-122"/>
                <a:ea typeface="微软雅黑" panose="020B0503020204020204" charset="-122"/>
              </a:rPr>
              <a:t>▸ </a:t>
            </a:r>
            <a:r>
              <a:rPr>
                <a:solidFill>
                  <a:srgbClr val="333333"/>
                </a:solidFill>
                <a:latin typeface="微软雅黑" panose="020B0503020204020204" charset="-122"/>
                <a:ea typeface="微软雅黑" panose="020B0503020204020204" charset="-122"/>
              </a:rPr>
              <a:t>需求明确：产品定位与需求清晰明了，已完成合理工期评估</a:t>
            </a:r>
            <a:endParaRPr>
              <a:solidFill>
                <a:srgbClr val="333333"/>
              </a:solidFill>
              <a:latin typeface="微软雅黑" panose="020B0503020204020204" charset="-122"/>
              <a:ea typeface="微软雅黑" panose="020B0503020204020204" charset="-122"/>
            </a:endParaRPr>
          </a:p>
          <a:p>
            <a:pPr algn="l">
              <a:lnSpc>
                <a:spcPct val="150000"/>
              </a:lnSpc>
              <a:spcBef>
                <a:spcPts val="300"/>
              </a:spcBef>
              <a:spcAft>
                <a:spcPts val="300"/>
              </a:spcAft>
            </a:pPr>
            <a:r>
              <a:rPr b="1">
                <a:solidFill>
                  <a:srgbClr val="2E9B8B"/>
                </a:solidFill>
                <a:latin typeface="微软雅黑" panose="020B0503020204020204" charset="-122"/>
                <a:ea typeface="微软雅黑" panose="020B0503020204020204" charset="-122"/>
              </a:rPr>
              <a:t>▸ </a:t>
            </a:r>
            <a:r>
              <a:rPr>
                <a:solidFill>
                  <a:srgbClr val="333333"/>
                </a:solidFill>
                <a:latin typeface="微软雅黑" panose="020B0503020204020204" charset="-122"/>
                <a:ea typeface="微软雅黑" panose="020B0503020204020204" charset="-122"/>
              </a:rPr>
              <a:t>团队成熟：跨部门协作经验丰富，PDP模型执行效率高</a:t>
            </a:r>
            <a:endParaRPr>
              <a:solidFill>
                <a:srgbClr val="333333"/>
              </a:solidFill>
              <a:latin typeface="微软雅黑" panose="020B0503020204020204" charset="-122"/>
              <a:ea typeface="微软雅黑" panose="020B0503020204020204" charset="-122"/>
            </a:endParaRPr>
          </a:p>
          <a:p>
            <a:pPr algn="l">
              <a:lnSpc>
                <a:spcPct val="150000"/>
              </a:lnSpc>
              <a:spcBef>
                <a:spcPts val="300"/>
              </a:spcBef>
              <a:spcAft>
                <a:spcPts val="300"/>
              </a:spcAft>
            </a:pPr>
            <a:r>
              <a:rPr b="1">
                <a:solidFill>
                  <a:srgbClr val="2E9B8B"/>
                </a:solidFill>
                <a:latin typeface="微软雅黑" panose="020B0503020204020204" charset="-122"/>
                <a:ea typeface="微软雅黑" panose="020B0503020204020204" charset="-122"/>
              </a:rPr>
              <a:t>▸ </a:t>
            </a:r>
            <a:r>
              <a:rPr>
                <a:solidFill>
                  <a:srgbClr val="333333"/>
                </a:solidFill>
                <a:latin typeface="微软雅黑" panose="020B0503020204020204" charset="-122"/>
                <a:ea typeface="微软雅黑" panose="020B0503020204020204" charset="-122"/>
              </a:rPr>
              <a:t>风险可控：需求明确+架构稳定，采用PDP可有效控制项目风险</a:t>
            </a:r>
            <a:endParaRPr>
              <a:solidFill>
                <a:srgbClr val="333333"/>
              </a:solidFill>
              <a:latin typeface="微软雅黑" panose="020B0503020204020204" charset="-122"/>
              <a:ea typeface="微软雅黑" panose="020B0503020204020204" charset="-122"/>
            </a:endParaRPr>
          </a:p>
        </p:txBody>
      </p:sp>
      <p:sp>
        <p:nvSpPr>
          <p:cNvPr id="18" name="TextBox 17"/>
          <p:cNvSpPr txBox="1"/>
          <p:nvPr/>
        </p:nvSpPr>
        <p:spPr>
          <a:xfrm>
            <a:off x="405765" y="5234820"/>
            <a:ext cx="11100000" cy="337185"/>
          </a:xfrm>
          <a:prstGeom prst="rect">
            <a:avLst/>
          </a:prstGeom>
          <a:noFill/>
        </p:spPr>
        <p:txBody>
          <a:bodyPr wrap="square" tIns="76200">
            <a:spAutoFit/>
          </a:bodyPr>
          <a:lstStyle/>
          <a:p>
            <a:pPr algn="ctr"/>
            <a:r>
              <a:rPr i="1">
                <a:solidFill>
                  <a:srgbClr val="4472C4"/>
                </a:solidFill>
                <a:latin typeface="微软雅黑" panose="020B0503020204020204" charset="-122"/>
                <a:ea typeface="微软雅黑" panose="020B0503020204020204" charset="-122"/>
              </a:rPr>
              <a:t>PDP模型能确保产品全面管理、高效合作、风险控制及持续迭代，是本产品研发的理想模型</a:t>
            </a:r>
            <a:endParaRPr i="1">
              <a:solidFill>
                <a:srgbClr val="4472C4"/>
              </a:solidFill>
              <a:latin typeface="微软雅黑" panose="020B0503020204020204" charset="-122"/>
              <a:ea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项目概况 · 研发环境</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Rounded Rectangle 15"/>
          <p:cNvSpPr/>
          <p:nvPr/>
        </p:nvSpPr>
        <p:spPr>
          <a:xfrm>
            <a:off x="596900" y="1000000"/>
            <a:ext cx="11100000" cy="2500000"/>
          </a:xfrm>
          <a:prstGeom prst="roundRect">
            <a:avLst>
              <a:gd name="adj" fmla="val 4000"/>
            </a:avLst>
          </a:prstGeom>
          <a:solidFill>
            <a:srgbClr val="EAF1FB"/>
          </a:solidFill>
          <a:ln w="19050">
            <a:solidFill>
              <a:srgbClr val="4472C4"/>
            </a:solidFill>
          </a:ln>
          <a:effectLst/>
        </p:spPr>
        <p:style>
          <a:lnRef idx="1">
            <a:schemeClr val="accent1"/>
          </a:lnRef>
          <a:fillRef idx="3">
            <a:schemeClr val="accent1"/>
          </a:fillRef>
          <a:effectRef idx="2">
            <a:schemeClr val="accent1"/>
          </a:effectRef>
          <a:fontRef idx="minor">
            <a:schemeClr val="lt1"/>
          </a:fontRef>
        </p:style>
        <p:txBody>
          <a:bodyPr wrap="square" lIns="127000" tIns="101600" rIns="127000" bIns="76200" rtlCol="0" anchor="t"/>
          <a:lstStyle/>
          <a:p>
            <a:pPr algn="l">
              <a:lnSpc>
                <a:spcPct val="150000"/>
              </a:lnSpc>
              <a:spcBef>
                <a:spcPts val="300"/>
              </a:spcBef>
              <a:spcAft>
                <a:spcPts val="300"/>
              </a:spcAft>
            </a:pPr>
            <a:r>
              <a:rPr b="1">
                <a:solidFill>
                  <a:srgbClr val="4472C4"/>
                </a:solidFill>
                <a:latin typeface="微软雅黑" panose="020B0503020204020204" charset="-122"/>
                <a:ea typeface="微软雅黑" panose="020B0503020204020204" charset="-122"/>
              </a:rPr>
              <a:t>▸ </a:t>
            </a:r>
            <a:r>
              <a:rPr>
                <a:solidFill>
                  <a:srgbClr val="333333"/>
                </a:solidFill>
                <a:latin typeface="微软雅黑" panose="020B0503020204020204" charset="-122"/>
                <a:ea typeface="微软雅黑" panose="020B0503020204020204" charset="-122"/>
              </a:rPr>
              <a:t>内网</a:t>
            </a:r>
            <a:r>
              <a:rPr lang="en-US">
                <a:solidFill>
                  <a:srgbClr val="333333"/>
                </a:solidFill>
                <a:latin typeface="微软雅黑" panose="020B0503020204020204" charset="-122"/>
                <a:ea typeface="微软雅黑" panose="020B0503020204020204" charset="-122"/>
              </a:rPr>
              <a:t>./</a:t>
            </a:r>
            <a:r>
              <a:rPr lang="zh-CN" altLang="en-US">
                <a:solidFill>
                  <a:srgbClr val="333333"/>
                </a:solidFill>
                <a:latin typeface="微软雅黑" panose="020B0503020204020204" charset="-122"/>
                <a:ea typeface="微软雅黑" panose="020B0503020204020204" charset="-122"/>
              </a:rPr>
              <a:t>外网</a:t>
            </a:r>
            <a:r>
              <a:rPr>
                <a:solidFill>
                  <a:srgbClr val="333333"/>
                </a:solidFill>
                <a:latin typeface="微软雅黑" panose="020B0503020204020204" charset="-122"/>
                <a:ea typeface="微软雅黑" panose="020B0503020204020204" charset="-122"/>
              </a:rPr>
              <a:t>研发：按照公司产品研发要求，</a:t>
            </a:r>
            <a:r>
              <a:rPr lang="zh-CN">
                <a:solidFill>
                  <a:srgbClr val="333333"/>
                </a:solidFill>
                <a:latin typeface="微软雅黑" panose="020B0503020204020204" charset="-122"/>
                <a:ea typeface="微软雅黑" panose="020B0503020204020204" charset="-122"/>
              </a:rPr>
              <a:t>健康全景视图</a:t>
            </a:r>
            <a:r>
              <a:rPr lang="en-US" altLang="zh-CN">
                <a:solidFill>
                  <a:srgbClr val="333333"/>
                </a:solidFill>
                <a:latin typeface="微软雅黑" panose="020B0503020204020204" charset="-122"/>
                <a:ea typeface="微软雅黑" panose="020B0503020204020204" charset="-122"/>
              </a:rPr>
              <a:t>1.4</a:t>
            </a:r>
            <a:r>
              <a:rPr>
                <a:solidFill>
                  <a:srgbClr val="333333"/>
                </a:solidFill>
                <a:latin typeface="微软雅黑" panose="020B0503020204020204" charset="-122"/>
                <a:ea typeface="微软雅黑" panose="020B0503020204020204" charset="-122"/>
              </a:rPr>
              <a:t>采用内网环境进行开发</a:t>
            </a:r>
            <a:r>
              <a:rPr lang="zh-CN">
                <a:solidFill>
                  <a:srgbClr val="333333"/>
                </a:solidFill>
                <a:latin typeface="微软雅黑" panose="020B0503020204020204" charset="-122"/>
                <a:ea typeface="微软雅黑" panose="020B0503020204020204" charset="-122"/>
              </a:rPr>
              <a:t>，全程档案调阅系统（</a:t>
            </a:r>
            <a:r>
              <a:rPr lang="zh-CN">
                <a:solidFill>
                  <a:srgbClr val="333333"/>
                </a:solidFill>
                <a:latin typeface="微软雅黑" panose="020B0503020204020204" charset="-122"/>
                <a:ea typeface="微软雅黑" panose="020B0503020204020204" charset="-122"/>
                <a:sym typeface="+mn-ea"/>
              </a:rPr>
              <a:t>小程序系统</a:t>
            </a:r>
            <a:r>
              <a:rPr lang="zh-CN">
                <a:solidFill>
                  <a:srgbClr val="333333"/>
                </a:solidFill>
                <a:latin typeface="微软雅黑" panose="020B0503020204020204" charset="-122"/>
                <a:ea typeface="微软雅黑" panose="020B0503020204020204" charset="-122"/>
              </a:rPr>
              <a:t>）采用外网环境进行开发</a:t>
            </a:r>
            <a:endParaRPr>
              <a:solidFill>
                <a:srgbClr val="333333"/>
              </a:solidFill>
              <a:latin typeface="微软雅黑" panose="020B0503020204020204" charset="-122"/>
              <a:ea typeface="微软雅黑" panose="020B0503020204020204" charset="-122"/>
            </a:endParaRPr>
          </a:p>
          <a:p>
            <a:pPr algn="l">
              <a:lnSpc>
                <a:spcPct val="150000"/>
              </a:lnSpc>
              <a:spcBef>
                <a:spcPts val="300"/>
              </a:spcBef>
              <a:spcAft>
                <a:spcPts val="300"/>
              </a:spcAft>
            </a:pPr>
            <a:r>
              <a:rPr b="1">
                <a:solidFill>
                  <a:srgbClr val="4472C4"/>
                </a:solidFill>
                <a:latin typeface="微软雅黑" panose="020B0503020204020204" charset="-122"/>
                <a:ea typeface="微软雅黑" panose="020B0503020204020204" charset="-122"/>
              </a:rPr>
              <a:t>▸ </a:t>
            </a:r>
            <a:r>
              <a:rPr>
                <a:solidFill>
                  <a:srgbClr val="333333"/>
                </a:solidFill>
                <a:latin typeface="微软雅黑" panose="020B0503020204020204" charset="-122"/>
                <a:ea typeface="微软雅黑" panose="020B0503020204020204" charset="-122"/>
              </a:rPr>
              <a:t>外网对接：涉及外部系统对接需求，按需使用外网</a:t>
            </a:r>
            <a:r>
              <a:rPr lang="zh-CN">
                <a:solidFill>
                  <a:srgbClr val="333333"/>
                </a:solidFill>
                <a:latin typeface="微软雅黑" panose="020B0503020204020204" charset="-122"/>
                <a:ea typeface="微软雅黑" panose="020B0503020204020204" charset="-122"/>
              </a:rPr>
              <a:t>开发</a:t>
            </a:r>
            <a:r>
              <a:rPr>
                <a:solidFill>
                  <a:srgbClr val="333333"/>
                </a:solidFill>
                <a:latin typeface="微软雅黑" panose="020B0503020204020204" charset="-122"/>
                <a:ea typeface="微软雅黑" panose="020B0503020204020204" charset="-122"/>
              </a:rPr>
              <a:t>测试环境</a:t>
            </a:r>
            <a:endParaRPr>
              <a:solidFill>
                <a:srgbClr val="333333"/>
              </a:solidFill>
              <a:latin typeface="微软雅黑" panose="020B0503020204020204" charset="-122"/>
              <a:ea typeface="微软雅黑" panose="020B0503020204020204" charset="-122"/>
            </a:endParaRPr>
          </a:p>
          <a:p>
            <a:pPr algn="l">
              <a:lnSpc>
                <a:spcPct val="150000"/>
              </a:lnSpc>
              <a:spcBef>
                <a:spcPts val="300"/>
              </a:spcBef>
              <a:spcAft>
                <a:spcPts val="300"/>
              </a:spcAft>
            </a:pPr>
            <a:r>
              <a:rPr b="1">
                <a:solidFill>
                  <a:srgbClr val="4472C4"/>
                </a:solidFill>
                <a:latin typeface="微软雅黑" panose="020B0503020204020204" charset="-122"/>
                <a:ea typeface="微软雅黑" panose="020B0503020204020204" charset="-122"/>
              </a:rPr>
              <a:t>▸ </a:t>
            </a:r>
            <a:r>
              <a:rPr>
                <a:solidFill>
                  <a:srgbClr val="333333"/>
                </a:solidFill>
                <a:latin typeface="微软雅黑" panose="020B0503020204020204" charset="-122"/>
                <a:ea typeface="微软雅黑" panose="020B0503020204020204" charset="-122"/>
              </a:rPr>
              <a:t>双网隔离：内外网研发环境严格隔离，确保数据安全合规</a:t>
            </a:r>
            <a:endParaRPr>
              <a:solidFill>
                <a:srgbClr val="333333"/>
              </a:solidFill>
              <a:latin typeface="微软雅黑" panose="020B0503020204020204" charset="-122"/>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298700" y="1943100"/>
            <a:ext cx="647700" cy="647700"/>
          </a:xfrm>
          <a:prstGeom prst="roundRect">
            <a:avLst>
              <a:gd name="adj" fmla="val 17647"/>
            </a:avLst>
          </a:prstGeom>
          <a:gradFill rotWithShape="0">
            <a:gsLst>
              <a:gs pos="0">
                <a:srgbClr val="30C0B4">
                  <a:alpha val="100000"/>
                </a:srgbClr>
              </a:gs>
              <a:gs pos="100000">
                <a:srgbClr val="0BB972">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336800" y="1943100"/>
            <a:ext cx="762000" cy="673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800" b="0" i="0" u="none" strike="noStrike">
                <a:solidFill>
                  <a:srgbClr val="FFFFFF"/>
                </a:solidFill>
                <a:latin typeface="Arial" panose="020B0604020202020204"/>
                <a:ea typeface="Arial" panose="020B0604020202020204"/>
                <a:cs typeface="Arial" panose="020B0604020202020204"/>
                <a:sym typeface="Arial" panose="020B0604020202020204"/>
              </a:rPr>
              <a:t>03</a:t>
            </a:r>
            <a:endParaRPr lang="en-US" sz="1100"/>
          </a:p>
        </p:txBody>
      </p:sp>
      <p:sp>
        <p:nvSpPr>
          <p:cNvPr id="5" name="AutoShape 5"/>
          <p:cNvSpPr/>
          <p:nvPr/>
        </p:nvSpPr>
        <p:spPr>
          <a:xfrm>
            <a:off x="2159000" y="2679700"/>
            <a:ext cx="73279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3600" b="1" i="0" u="none" strike="noStrike">
                <a:solidFill>
                  <a:srgbClr val="333F5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项目需求</a:t>
            </a:r>
            <a:endParaRPr lang="zh-CN" altLang="en-US" sz="3600" b="1" i="0" u="none" strike="noStrike">
              <a:solidFill>
                <a:srgbClr val="333F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2197100" y="3568700"/>
            <a:ext cx="7620000" cy="368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基于业务需求的功能规划</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项目需求 · 健康全景视图1.4</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400000" y="1000000"/>
          <a:ext cx="10500000" cy="5500000"/>
        </p:xfrm>
        <a:graphic>
          <a:graphicData uri="http://schemas.openxmlformats.org/drawingml/2006/table">
            <a:tbl>
              <a:tblPr firstRow="1" bandRow="1"/>
              <a:tblGrid>
                <a:gridCol w="600000"/>
                <a:gridCol w="1400000"/>
                <a:gridCol w="1200000"/>
                <a:gridCol w="1200000"/>
                <a:gridCol w="4600000"/>
                <a:gridCol w="900000"/>
                <a:gridCol w="600000"/>
              </a:tblGrid>
              <a:tr h="550000">
                <a:tc>
                  <a:txBody>
                    <a:bodyPr wrap="square"/>
                    <a:lstStyle/>
                    <a:p>
                      <a:pPr algn="ctr"/>
                      <a:r>
                        <a:rPr sz="1400" b="1">
                          <a:solidFill>
                            <a:srgbClr val="FFFFFF"/>
                          </a:solidFill>
                          <a:latin typeface="微软雅黑" panose="020B0503020204020204" charset="-122"/>
                          <a:ea typeface="微软雅黑" panose="020B0503020204020204" charset="-122"/>
                        </a:rPr>
                        <a:t>序号</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分类</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一级功能</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二级功能</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功能描述</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成本（人天）</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版本</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rowSpan="3">
                  <a:txBody>
                    <a:bodyPr wrap="square"/>
                    <a:lstStyle/>
                    <a:p>
                      <a:pPr algn="l"/>
                      <a:r>
                        <a:rPr sz="1400" b="0">
                          <a:solidFill>
                            <a:srgbClr val="333333"/>
                          </a:solidFill>
                          <a:latin typeface="微软雅黑" panose="020B0503020204020204" charset="-122"/>
                          <a:ea typeface="微软雅黑" panose="020B0503020204020204" charset="-122"/>
                        </a:rPr>
                        <a:t>健康全景视图</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rowSpan="3">
                  <a:txBody>
                    <a:bodyPr wrap="square"/>
                    <a:lstStyle/>
                    <a:p>
                      <a:pPr algn="l"/>
                      <a:r>
                        <a:rPr sz="1400" b="0">
                          <a:solidFill>
                            <a:srgbClr val="333333"/>
                          </a:solidFill>
                          <a:latin typeface="微软雅黑" panose="020B0503020204020204" charset="-122"/>
                          <a:ea typeface="微软雅黑" panose="020B0503020204020204" charset="-122"/>
                        </a:rPr>
                        <a:t>全景视图</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rowSpan="3">
                  <a:txBody>
                    <a:bodyPr wrap="square"/>
                    <a:lstStyle/>
                    <a:p>
                      <a:pPr algn="l"/>
                      <a:r>
                        <a:rPr sz="1400" b="0">
                          <a:solidFill>
                            <a:srgbClr val="333333"/>
                          </a:solidFill>
                          <a:latin typeface="微软雅黑" panose="020B0503020204020204" charset="-122"/>
                          <a:ea typeface="微软雅黑" panose="020B0503020204020204" charset="-122"/>
                        </a:rPr>
                        <a:t>全景视图</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根据概况视图配置进行界面展示</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lang="en-US" sz="1400" b="0">
                          <a:solidFill>
                            <a:srgbClr val="333333"/>
                          </a:solidFill>
                          <a:latin typeface="微软雅黑" panose="020B0503020204020204" charset="-122"/>
                          <a:ea typeface="微软雅黑" panose="020B0503020204020204" charset="-122"/>
                        </a:rPr>
                        <a:t>6</a:t>
                      </a:r>
                      <a:endParaRPr lang="en-US"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1.4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2</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vMerge="1">
                  <a:tcPr marL="50800" marR="50800" marT="25400" marB="25400" anchor="ctr">
                    <a:solidFill>
                      <a:srgbClr val="F2F5FC"/>
                    </a:solidFill>
                  </a:tcPr>
                </a:tc>
                <a:tc vMerge="1">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公卫业务模块数据展示扩展（慢阻肺、心脑血管、肿瘤、高危）</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8</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1.4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3</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vMerge="1">
                  <a:tcPr marL="50800" marR="50800" marT="25400" marB="25400" anchor="ctr">
                    <a:solidFill>
                      <a:srgbClr val="FFFFFF"/>
                    </a:solidFill>
                  </a:tcPr>
                </a:tc>
                <a:tc vMerge="1">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根据权限数据进行数据脱敏展示</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3</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1.4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rowSpan="3">
                  <a:txBody>
                    <a:bodyPr wrap="square"/>
                    <a:lstStyle/>
                    <a:p>
                      <a:pPr algn="l"/>
                      <a:r>
                        <a:rPr sz="1400" b="0">
                          <a:solidFill>
                            <a:srgbClr val="333333"/>
                          </a:solidFill>
                          <a:latin typeface="微软雅黑" panose="020B0503020204020204" charset="-122"/>
                          <a:ea typeface="微软雅黑" panose="020B0503020204020204" charset="-122"/>
                        </a:rPr>
                        <a:t>健康医疗应用中心</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概况视图配置</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概况视图配置</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支持可视化拖拽、勾选等操作，灵活配置概况视图页面布局与业务卡片，支持按场景预制和切换视图模板</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lang="en-US" sz="1400" b="0">
                          <a:solidFill>
                            <a:srgbClr val="333333"/>
                          </a:solidFill>
                          <a:latin typeface="微软雅黑" panose="020B0503020204020204" charset="-122"/>
                          <a:ea typeface="微软雅黑" panose="020B0503020204020204" charset="-122"/>
                        </a:rPr>
                        <a:t>10</a:t>
                      </a:r>
                      <a:endParaRPr lang="en-US"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1.4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5</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vMerge="1">
                  <a:tcPr marL="50800" marR="50800" marT="25400" marB="25400" anchor="ctr">
                    <a:solidFill>
                      <a:srgbClr val="FFFFFF"/>
                    </a:solidFill>
                  </a:tcPr>
                </a:tc>
                <a:tc rowSpan="2">
                  <a:txBody>
                    <a:bodyPr wrap="square"/>
                    <a:lstStyle/>
                    <a:p>
                      <a:pPr algn="l"/>
                      <a:r>
                        <a:rPr sz="1400" b="0">
                          <a:solidFill>
                            <a:srgbClr val="333333"/>
                          </a:solidFill>
                          <a:latin typeface="微软雅黑" panose="020B0503020204020204" charset="-122"/>
                          <a:ea typeface="微软雅黑" panose="020B0503020204020204" charset="-122"/>
                        </a:rPr>
                        <a:t>系统设置</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脱敏配置</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支持根据科室、固定人员进行数据脱敏</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5</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a:solidFill>
                            <a:srgbClr val="333333"/>
                          </a:solidFill>
                          <a:latin typeface="微软雅黑" panose="020B0503020204020204" charset="-122"/>
                          <a:ea typeface="微软雅黑" panose="020B0503020204020204" charset="-122"/>
                          <a:sym typeface="+mn-ea"/>
                        </a:rPr>
                        <a:t>1.4</a:t>
                      </a:r>
                      <a:endParaRPr lang="en-US" sz="1400">
                        <a:solidFill>
                          <a:srgbClr val="333333"/>
                        </a:solidFill>
                        <a:latin typeface="微软雅黑" panose="020B0503020204020204" charset="-122"/>
                        <a:ea typeface="微软雅黑" panose="020B0503020204020204" charset="-122"/>
                        <a:sym typeface="+mn-ea"/>
                      </a:endParaRPr>
                    </a:p>
                  </a:txBody>
                  <a:tcPr marL="50800" marR="50800" marT="25400" marB="25400" anchor="ctr">
                    <a:solidFill>
                      <a:srgbClr val="FFFFFF"/>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6</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vMerge="1">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场景配置改造</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优化，支持多角色一键配置</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2</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a:solidFill>
                            <a:srgbClr val="333333"/>
                          </a:solidFill>
                          <a:latin typeface="微软雅黑" panose="020B0503020204020204" charset="-122"/>
                          <a:ea typeface="微软雅黑" panose="020B0503020204020204" charset="-122"/>
                          <a:sym typeface="+mn-ea"/>
                        </a:rPr>
                        <a:t>1.4</a:t>
                      </a:r>
                      <a:endParaRPr sz="1400">
                        <a:solidFill>
                          <a:srgbClr val="333333"/>
                        </a:solidFill>
                        <a:latin typeface="微软雅黑" panose="020B0503020204020204" charset="-122"/>
                        <a:ea typeface="微软雅黑" panose="020B0503020204020204" charset="-122"/>
                        <a:sym typeface="+mn-ea"/>
                      </a:endParaRPr>
                    </a:p>
                  </a:txBody>
                  <a:tcPr marL="50800" marR="50800" marT="25400" marB="25400" anchor="ctr">
                    <a:solidFill>
                      <a:srgbClr val="F2F5FC"/>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7</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rowSpan="2">
                  <a:txBody>
                    <a:bodyPr wrap="square"/>
                    <a:lstStyle/>
                    <a:p>
                      <a:pPr algn="l"/>
                      <a:r>
                        <a:rPr sz="1400" b="0">
                          <a:solidFill>
                            <a:srgbClr val="333333"/>
                          </a:solidFill>
                          <a:latin typeface="微软雅黑" panose="020B0503020204020204" charset="-122"/>
                          <a:ea typeface="微软雅黑" panose="020B0503020204020204" charset="-122"/>
                        </a:rPr>
                        <a:t>其他</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效率管理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根据就诊构建业务数据索引，加速查询效率，去掉chzsycdtj表，根据ES实时计算</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20</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1.4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8</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标准管理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标准梳理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公卫数据标准新增管理，统一字段标准，涉及接口进行调整，去掉统一接口</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20</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1.4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550000">
                <a:tc>
                  <a:txBody>
                    <a:bodyPr wrap="square"/>
                    <a:lstStyle/>
                    <a:p>
                      <a:pPr algn="ctr"/>
                      <a:r>
                        <a:rPr sz="1400" b="1">
                          <a:solidFill>
                            <a:srgbClr val="333333"/>
                          </a:solidFill>
                          <a:latin typeface="微软雅黑" panose="020B0503020204020204" charset="-122"/>
                          <a:ea typeface="微软雅黑" panose="020B0503020204020204" charset="-122"/>
                        </a:rPr>
                        <a:t>合计</a:t>
                      </a:r>
                      <a:endParaRPr sz="1400" b="1">
                        <a:solidFill>
                          <a:srgbClr val="333333"/>
                        </a:solidFill>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r>
                        <a:rPr lang="en-US" sz="1400" b="1">
                          <a:solidFill>
                            <a:srgbClr val="333333"/>
                          </a:solidFill>
                          <a:latin typeface="微软雅黑" panose="020B0503020204020204" charset="-122"/>
                          <a:ea typeface="微软雅黑" panose="020B0503020204020204" charset="-122"/>
                        </a:rPr>
                        <a:t>74</a:t>
                      </a:r>
                      <a:endParaRPr lang="en-US" sz="1400" b="1">
                        <a:solidFill>
                          <a:srgbClr val="333333"/>
                        </a:solidFill>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D9E2F3"/>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项目需求 · 全程档案调阅系统1.1</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400000" y="1000000"/>
          <a:ext cx="10500000" cy="5500000"/>
        </p:xfrm>
        <a:graphic>
          <a:graphicData uri="http://schemas.openxmlformats.org/drawingml/2006/table">
            <a:tbl>
              <a:tblPr firstRow="1" bandRow="1"/>
              <a:tblGrid>
                <a:gridCol w="600000"/>
                <a:gridCol w="1400000"/>
                <a:gridCol w="1200000"/>
                <a:gridCol w="1200000"/>
                <a:gridCol w="4600000"/>
                <a:gridCol w="900000"/>
                <a:gridCol w="600000"/>
              </a:tblGrid>
              <a:tr h="550000">
                <a:tc>
                  <a:txBody>
                    <a:bodyPr wrap="square"/>
                    <a:lstStyle/>
                    <a:p>
                      <a:pPr algn="ctr"/>
                      <a:r>
                        <a:rPr sz="1400" b="1">
                          <a:solidFill>
                            <a:srgbClr val="FFFFFF"/>
                          </a:solidFill>
                          <a:latin typeface="微软雅黑" panose="020B0503020204020204" charset="-122"/>
                          <a:ea typeface="微软雅黑" panose="020B0503020204020204" charset="-122"/>
                        </a:rPr>
                        <a:t>序号</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分类</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一级功能</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二级功能</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功能描述</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成本（人天）</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版本</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rowSpan="7">
                  <a:txBody>
                    <a:bodyPr wrap="square"/>
                    <a:lstStyle/>
                    <a:p>
                      <a:pPr algn="l"/>
                      <a:r>
                        <a:rPr sz="1400" b="0">
                          <a:solidFill>
                            <a:srgbClr val="333333"/>
                          </a:solidFill>
                          <a:latin typeface="微软雅黑" panose="020B0503020204020204" charset="-122"/>
                          <a:ea typeface="微软雅黑" panose="020B0503020204020204" charset="-122"/>
                        </a:rPr>
                        <a:t>全程档案浏览器</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rowSpan="3">
                  <a:txBody>
                    <a:bodyPr wrap="square"/>
                    <a:lstStyle/>
                    <a:p>
                      <a:pPr algn="l"/>
                      <a:r>
                        <a:rPr sz="1400" b="0">
                          <a:solidFill>
                            <a:srgbClr val="333333"/>
                          </a:solidFill>
                          <a:latin typeface="微软雅黑" panose="020B0503020204020204" charset="-122"/>
                          <a:ea typeface="微软雅黑" panose="020B0503020204020204" charset="-122"/>
                        </a:rPr>
                        <a:t>健康档案</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首页</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支持整体AI健康画像，根据患者信息进行AI图像及最近健康小结</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8</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1.1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2</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vMerge="1">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公卫服务</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新增业务数据展示（妇女保健、儿童管理、健康教育、预防接种、肺结核、心脑血管、肿瘤、高危）</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lang="en-US" sz="1400" b="0">
                          <a:solidFill>
                            <a:srgbClr val="333333"/>
                          </a:solidFill>
                          <a:latin typeface="微软雅黑" panose="020B0503020204020204" charset="-122"/>
                          <a:ea typeface="微软雅黑" panose="020B0503020204020204" charset="-122"/>
                        </a:rPr>
                        <a:t>22</a:t>
                      </a:r>
                      <a:endParaRPr lang="en-US"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1.1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3</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vMerge="1">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诊疗服务</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新增病案首页业务数据展示，检查检验报告新增AI分析</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6</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1.1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vMerge="1">
                  <a:tcPr marL="50800" marR="50800" marT="25400" marB="25400" anchor="ctr">
                    <a:solidFill>
                      <a:srgbClr val="F2F5FC"/>
                    </a:solidFill>
                  </a:tcPr>
                </a:tc>
                <a:tc rowSpan="4">
                  <a:txBody>
                    <a:bodyPr wrap="square"/>
                    <a:lstStyle/>
                    <a:p>
                      <a:pPr algn="l"/>
                      <a:r>
                        <a:rPr sz="1400" b="0">
                          <a:solidFill>
                            <a:srgbClr val="333333"/>
                          </a:solidFill>
                          <a:latin typeface="微软雅黑" panose="020B0503020204020204" charset="-122"/>
                          <a:ea typeface="微软雅黑" panose="020B0503020204020204" charset="-122"/>
                        </a:rPr>
                        <a:t>隐私权限设置</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医域边界</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支持根据医域边界控制区域PC端数据调阅权限，黑名单验证、白名单授权，与隐私保险箱联动</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400" b="0">
                          <a:solidFill>
                            <a:srgbClr val="333333"/>
                          </a:solidFill>
                          <a:latin typeface="微软雅黑" panose="020B0503020204020204" charset="-122"/>
                          <a:ea typeface="微软雅黑" panose="020B0503020204020204" charset="-122"/>
                        </a:rPr>
                        <a:t>8</a:t>
                      </a:r>
                      <a:endParaRPr lang="en-US"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1.1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5</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vMerge="1">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隐私保险箱</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设置隐私病历，对特殊病历进行加锁保密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12</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1.1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6</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vMerge="1">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调阅安全锁</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设置6位数字调阅密码，强制验证，异常访问预警锁定</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400" b="0">
                          <a:solidFill>
                            <a:srgbClr val="333333"/>
                          </a:solidFill>
                          <a:latin typeface="微软雅黑" panose="020B0503020204020204" charset="-122"/>
                          <a:ea typeface="微软雅黑" panose="020B0503020204020204" charset="-122"/>
                        </a:rPr>
                        <a:t>7</a:t>
                      </a:r>
                      <a:endParaRPr lang="en-US"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1.1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7</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vMerge="1">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访问即时通</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设置档案调阅通知，实时短信通知，智能过滤，操作审计追踪</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lang="en-US" sz="1400" b="0">
                          <a:solidFill>
                            <a:srgbClr val="333333"/>
                          </a:solidFill>
                          <a:latin typeface="微软雅黑" panose="020B0503020204020204" charset="-122"/>
                          <a:ea typeface="微软雅黑" panose="020B0503020204020204" charset="-122"/>
                        </a:rPr>
                        <a:t>6</a:t>
                      </a:r>
                      <a:endParaRPr lang="en-US"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1.1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550000">
                <a:tc>
                  <a:txBody>
                    <a:bodyPr wrap="square"/>
                    <a:lstStyle/>
                    <a:p>
                      <a:pPr algn="ctr"/>
                      <a:r>
                        <a:rPr sz="1400" b="0">
                          <a:solidFill>
                            <a:srgbClr val="333333"/>
                          </a:solidFill>
                          <a:latin typeface="微软雅黑" panose="020B0503020204020204" charset="-122"/>
                          <a:ea typeface="微软雅黑" panose="020B0503020204020204" charset="-122"/>
                        </a:rPr>
                        <a:t>8</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其他</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配置库合并</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5</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1.1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550000">
                <a:tc>
                  <a:txBody>
                    <a:bodyPr wrap="square"/>
                    <a:lstStyle/>
                    <a:p>
                      <a:pPr algn="ctr"/>
                      <a:r>
                        <a:rPr sz="1400" b="1">
                          <a:solidFill>
                            <a:srgbClr val="333333"/>
                          </a:solidFill>
                          <a:latin typeface="微软雅黑" panose="020B0503020204020204" charset="-122"/>
                          <a:ea typeface="微软雅黑" panose="020B0503020204020204" charset="-122"/>
                        </a:rPr>
                        <a:t>合计</a:t>
                      </a:r>
                      <a:endParaRPr sz="1400" b="1">
                        <a:solidFill>
                          <a:srgbClr val="333333"/>
                        </a:solidFill>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r>
                        <a:rPr lang="en-US" sz="1400" b="1">
                          <a:solidFill>
                            <a:srgbClr val="333333"/>
                          </a:solidFill>
                          <a:latin typeface="微软雅黑" panose="020B0503020204020204" charset="-122"/>
                          <a:ea typeface="微软雅黑" panose="020B0503020204020204" charset="-122"/>
                        </a:rPr>
                        <a:t>74</a:t>
                      </a:r>
                      <a:endParaRPr lang="en-US" sz="1400" b="1">
                        <a:solidFill>
                          <a:srgbClr val="333333"/>
                        </a:solidFill>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D9E2F3"/>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298700" y="1943100"/>
            <a:ext cx="647700" cy="647700"/>
          </a:xfrm>
          <a:prstGeom prst="roundRect">
            <a:avLst>
              <a:gd name="adj" fmla="val 17647"/>
            </a:avLst>
          </a:prstGeom>
          <a:gradFill rotWithShape="0">
            <a:gsLst>
              <a:gs pos="0">
                <a:srgbClr val="30C0B4">
                  <a:alpha val="100000"/>
                </a:srgbClr>
              </a:gs>
              <a:gs pos="100000">
                <a:srgbClr val="0BB972">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336800" y="1943100"/>
            <a:ext cx="762000" cy="673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800" b="0" i="0" u="none" strike="noStrike">
                <a:solidFill>
                  <a:srgbClr val="FFFFFF"/>
                </a:solidFill>
                <a:latin typeface="Arial" panose="020B0604020202020204"/>
                <a:ea typeface="Arial" panose="020B0604020202020204"/>
                <a:cs typeface="Arial" panose="020B0604020202020204"/>
                <a:sym typeface="Arial" panose="020B0604020202020204"/>
              </a:rPr>
              <a:t>04</a:t>
            </a:r>
            <a:endParaRPr lang="en-US" sz="1100"/>
          </a:p>
        </p:txBody>
      </p:sp>
      <p:sp>
        <p:nvSpPr>
          <p:cNvPr id="5" name="AutoShape 5"/>
          <p:cNvSpPr/>
          <p:nvPr/>
        </p:nvSpPr>
        <p:spPr>
          <a:xfrm>
            <a:off x="2159000" y="2679700"/>
            <a:ext cx="73279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3600" b="1" i="0" u="none" strike="noStrike">
                <a:solidFill>
                  <a:srgbClr val="333F5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项目规划</a:t>
            </a:r>
            <a:endParaRPr lang="zh-CN" altLang="en-US" sz="3600" b="1" i="0" u="none" strike="noStrike">
              <a:solidFill>
                <a:srgbClr val="333F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2197100" y="3568700"/>
            <a:ext cx="7620000" cy="368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团队组建与过程管理</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项目规划 · 团队清单</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600000" y="1100000"/>
          <a:ext cx="10400000" cy="5200000"/>
        </p:xfrm>
        <a:graphic>
          <a:graphicData uri="http://schemas.openxmlformats.org/drawingml/2006/table">
            <a:tbl>
              <a:tblPr firstRow="1" bandRow="1"/>
              <a:tblGrid>
                <a:gridCol w="1800000"/>
                <a:gridCol w="1400000"/>
                <a:gridCol w="1800000"/>
                <a:gridCol w="2200000"/>
                <a:gridCol w="1800000"/>
                <a:gridCol w="1400000"/>
              </a:tblGrid>
              <a:tr h="433333">
                <a:tc>
                  <a:txBody>
                    <a:bodyPr wrap="square"/>
                    <a:lstStyle/>
                    <a:p>
                      <a:pPr algn="ctr"/>
                      <a:r>
                        <a:rPr sz="1400" b="1">
                          <a:solidFill>
                            <a:srgbClr val="FFFFFF"/>
                          </a:solidFill>
                          <a:latin typeface="微软雅黑" panose="020B0503020204020204" charset="-122"/>
                          <a:ea typeface="微软雅黑" panose="020B0503020204020204" charset="-122"/>
                        </a:rPr>
                        <a:t>项目角色</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成员姓名</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所在部门</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职责</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负责模块</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联系电话</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433333">
                <a:tc>
                  <a:txBody>
                    <a:bodyPr wrap="square"/>
                    <a:lstStyle/>
                    <a:p>
                      <a:pPr algn="ctr"/>
                      <a:r>
                        <a:rPr sz="1400" b="0">
                          <a:solidFill>
                            <a:srgbClr val="333333"/>
                          </a:solidFill>
                          <a:latin typeface="微软雅黑" panose="020B0503020204020204" charset="-122"/>
                          <a:ea typeface="微软雅黑" panose="020B0503020204020204" charset="-122"/>
                        </a:rPr>
                        <a:t>项目经理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吕雪</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数智平台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总体负责</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r>
              <a:tr h="433333">
                <a:tc>
                  <a:txBody>
                    <a:bodyPr wrap="square"/>
                    <a:lstStyle/>
                    <a:p>
                      <a:pPr algn="ctr"/>
                      <a:r>
                        <a:rPr sz="1400" b="0">
                          <a:solidFill>
                            <a:srgbClr val="333333"/>
                          </a:solidFill>
                          <a:latin typeface="微软雅黑" panose="020B0503020204020204" charset="-122"/>
                          <a:ea typeface="微软雅黑" panose="020B0503020204020204" charset="-122"/>
                        </a:rPr>
                        <a:t>产品经理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吕雪</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数智平台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产品设计</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r>
              <a:tr h="433333">
                <a:tc>
                  <a:txBody>
                    <a:bodyPr wrap="square"/>
                    <a:lstStyle/>
                    <a:p>
                      <a:pPr algn="ctr"/>
                      <a:r>
                        <a:rPr sz="1400" b="0">
                          <a:solidFill>
                            <a:srgbClr val="333333"/>
                          </a:solidFill>
                          <a:latin typeface="微软雅黑" panose="020B0503020204020204" charset="-122"/>
                          <a:ea typeface="微软雅黑" panose="020B0503020204020204" charset="-122"/>
                          <a:cs typeface="微软雅黑" panose="020B0503020204020204" charset="-122"/>
                        </a:rPr>
                        <a:t>UI设计</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吕雪</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数智平台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cs typeface="微软雅黑" panose="020B0503020204020204" charset="-122"/>
                        </a:rPr>
                        <a:t>UI设计，UED规范</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r>
              <a:tr h="433333">
                <a:tc rowSpan="5">
                  <a:txBody>
                    <a:bodyPr wrap="square"/>
                    <a:lstStyle/>
                    <a:p>
                      <a:pPr algn="ctr"/>
                      <a:r>
                        <a:rPr sz="1400" b="0">
                          <a:solidFill>
                            <a:srgbClr val="333333"/>
                          </a:solidFill>
                          <a:latin typeface="微软雅黑" panose="020B0503020204020204" charset="-122"/>
                          <a:ea typeface="微软雅黑" panose="020B0503020204020204" charset="-122"/>
                        </a:rPr>
                        <a:t>开发核心人员</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李艾劲</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数智平台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后端开发</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r>
              <a:tr h="433333">
                <a:tc vMerge="1">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何梦娜</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数智平台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前端开发</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r>
              <a:tr h="433333">
                <a:tc vMerge="1">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欧阳成</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数智平台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前端开发</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r>
              <a:tr h="433333">
                <a:tc vMerge="1">
                  <a:tcPr marL="50800" marR="50800" marT="25400" marB="25400" anchor="ctr">
                    <a:solidFill>
                      <a:srgbClr val="FFFFFF"/>
                    </a:solidFill>
                  </a:tcPr>
                </a:tc>
                <a:tc>
                  <a:txBody>
                    <a:bodyPr wrap="square"/>
                    <a:lstStyle/>
                    <a:p>
                      <a:pPr algn="l"/>
                      <a:r>
                        <a:rPr lang="zh-CN" sz="1400" b="0">
                          <a:solidFill>
                            <a:srgbClr val="333333"/>
                          </a:solidFill>
                          <a:latin typeface="微软雅黑" panose="020B0503020204020204" charset="-122"/>
                          <a:ea typeface="微软雅黑" panose="020B0503020204020204" charset="-122"/>
                        </a:rPr>
                        <a:t>余炳</a:t>
                      </a:r>
                      <a:r>
                        <a:rPr sz="1400" b="0">
                          <a:solidFill>
                            <a:srgbClr val="333333"/>
                          </a:solidFill>
                          <a:latin typeface="微软雅黑" panose="020B0503020204020204" charset="-122"/>
                          <a:ea typeface="微软雅黑" panose="020B0503020204020204" charset="-122"/>
                        </a:rPr>
                        <a:t>材</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数智平台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前端开发</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r>
              <a:tr h="433333">
                <a:tc vMerge="1">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向国柱</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数智平台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后端开发</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r>
              <a:tr h="433333">
                <a:tc>
                  <a:txBody>
                    <a:bodyPr wrap="square"/>
                    <a:lstStyle/>
                    <a:p>
                      <a:pPr algn="ctr"/>
                      <a:r>
                        <a:rPr sz="1400" b="0">
                          <a:solidFill>
                            <a:srgbClr val="333333"/>
                          </a:solidFill>
                          <a:latin typeface="微软雅黑" panose="020B0503020204020204" charset="-122"/>
                          <a:ea typeface="微软雅黑" panose="020B0503020204020204" charset="-122"/>
                        </a:rPr>
                        <a:t>标准支撑人员</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伍丕</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数智平台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数据结构支撑</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r>
              <a:tr h="433333">
                <a:tc>
                  <a:txBody>
                    <a:bodyPr wrap="square"/>
                    <a:lstStyle/>
                    <a:p>
                      <a:pPr algn="ctr"/>
                      <a:r>
                        <a:rPr sz="1400" b="0">
                          <a:solidFill>
                            <a:srgbClr val="333333"/>
                          </a:solidFill>
                          <a:latin typeface="微软雅黑" panose="020B0503020204020204" charset="-122"/>
                          <a:ea typeface="微软雅黑" panose="020B0503020204020204" charset="-122"/>
                        </a:rPr>
                        <a:t>测试人员</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卢威</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测试部</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产品验证</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r>
              <a:tr h="433337">
                <a:tc>
                  <a:txBody>
                    <a:bodyPr wrap="square"/>
                    <a:lstStyle/>
                    <a:p>
                      <a:pPr algn="ctr"/>
                      <a:r>
                        <a:rPr sz="1400" b="0">
                          <a:solidFill>
                            <a:srgbClr val="333333"/>
                          </a:solidFill>
                          <a:latin typeface="微软雅黑" panose="020B0503020204020204" charset="-122"/>
                          <a:ea typeface="微软雅黑" panose="020B0503020204020204" charset="-122"/>
                        </a:rPr>
                        <a:t>QA</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冯黄鹰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科技质量部</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过程监管</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项目规划 · 过程裁剪(1)</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300000" y="950000"/>
          <a:ext cx="10600000" cy="5500000"/>
        </p:xfrm>
        <a:graphic>
          <a:graphicData uri="http://schemas.openxmlformats.org/drawingml/2006/table">
            <a:tbl>
              <a:tblPr firstRow="1" bandRow="1"/>
              <a:tblGrid>
                <a:gridCol w="1000000"/>
                <a:gridCol w="1500000"/>
                <a:gridCol w="1200000"/>
                <a:gridCol w="2400000"/>
                <a:gridCol w="1500000"/>
                <a:gridCol w="800000"/>
                <a:gridCol w="1400000"/>
                <a:gridCol w="800000"/>
              </a:tblGrid>
              <a:tr h="323529">
                <a:tc>
                  <a:txBody>
                    <a:bodyPr wrap="square"/>
                    <a:lstStyle/>
                    <a:p>
                      <a:pPr algn="ctr"/>
                      <a:r>
                        <a:rPr sz="1200" b="1">
                          <a:solidFill>
                            <a:srgbClr val="FFFFFF"/>
                          </a:solidFill>
                          <a:latin typeface="微软雅黑" panose="020B0503020204020204" charset="-122"/>
                          <a:ea typeface="微软雅黑" panose="020B0503020204020204" charset="-122"/>
                        </a:rPr>
                        <a:t>项目阶段</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过程活动</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里程碑</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输出成果</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涉及流程</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是否可裁剪</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裁剪结果/原因</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备注</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323529">
                <a:tc>
                  <a:txBody>
                    <a:bodyPr wrap="square"/>
                    <a:lstStyle/>
                    <a:p>
                      <a:pPr algn="ctr"/>
                      <a:r>
                        <a:rPr sz="1200" b="0">
                          <a:solidFill>
                            <a:srgbClr val="333333"/>
                          </a:solidFill>
                          <a:latin typeface="微软雅黑" panose="020B0503020204020204" charset="-122"/>
                          <a:ea typeface="微软雅黑" panose="020B0503020204020204" charset="-122"/>
                        </a:rPr>
                        <a:t>概念阶段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项目任务书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研发项目任务书下达</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市场需求调研</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《市场需求调研报告》</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是</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非首次立项</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可行性分析</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《可行性分析报告》</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是</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非首次立项</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概念决策评审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可行性评审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是</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非首次立项</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r h="323529">
                <a:tc>
                  <a:txBody>
                    <a:bodyPr wrap="square"/>
                    <a:lstStyle/>
                    <a:p>
                      <a:pPr algn="ctr"/>
                      <a:r>
                        <a:rPr sz="1200" b="0">
                          <a:solidFill>
                            <a:srgbClr val="333333"/>
                          </a:solidFill>
                          <a:latin typeface="微软雅黑" panose="020B0503020204020204" charset="-122"/>
                          <a:ea typeface="微软雅黑" panose="020B0503020204020204" charset="-122"/>
                        </a:rPr>
                        <a:t>启动阶段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立项准备</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《立项评审报告》</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计划决策评审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立项评审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研发项目立项申请</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r h="323529">
                <a:tc>
                  <a:txBody>
                    <a:bodyPr wrap="square"/>
                    <a:lstStyle/>
                    <a:p>
                      <a:pPr algn="ctr"/>
                      <a:r>
                        <a:rPr sz="1200" b="0">
                          <a:solidFill>
                            <a:srgbClr val="333333"/>
                          </a:solidFill>
                          <a:latin typeface="微软雅黑" panose="020B0503020204020204" charset="-122"/>
                          <a:ea typeface="微软雅黑" panose="020B0503020204020204" charset="-122"/>
                        </a:rPr>
                        <a:t>建设阶段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原型/需求设计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原型/PRD评审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《需求规格说明书》《产品原型》《评审记录表》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原型上传</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项目设计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UX设计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UI设计评审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《UI设计图》《评审记录表》</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lang="zh-CN" sz="1200">
                          <a:solidFill>
                            <a:srgbClr val="FF0000"/>
                          </a:solidFill>
                          <a:latin typeface="微软雅黑" panose="020B0503020204020204" charset="-122"/>
                          <a:ea typeface="微软雅黑" panose="020B0503020204020204" charset="-122"/>
                          <a:sym typeface="+mn-ea"/>
                        </a:rPr>
                        <a:t>是</a:t>
                      </a:r>
                      <a:endParaRPr lang="zh-CN" sz="1200" b="0">
                        <a:solidFill>
                          <a:srgbClr val="FF0000"/>
                        </a:solidFill>
                        <a:latin typeface="微软雅黑" panose="020B0503020204020204" charset="-122"/>
                        <a:ea typeface="微软雅黑" panose="020B0503020204020204" charset="-122"/>
                        <a:sym typeface="+mn-ea"/>
                      </a:endParaRPr>
                    </a:p>
                  </a:txBody>
                  <a:tcPr marL="50800" marR="50800" marT="25400" marB="25400" anchor="ctr">
                    <a:solidFill>
                      <a:srgbClr val="F2F5FC"/>
                    </a:solidFill>
                  </a:tcPr>
                </a:tc>
                <a:tc>
                  <a:txBody>
                    <a:bodyPr wrap="square"/>
                    <a:lstStyle/>
                    <a:p>
                      <a:pPr algn="l"/>
                      <a:r>
                        <a:rPr lang="zh-CN" sz="1200" b="0">
                          <a:solidFill>
                            <a:srgbClr val="FF0000"/>
                          </a:solidFill>
                          <a:latin typeface="微软雅黑" panose="020B0503020204020204" charset="-122"/>
                          <a:ea typeface="微软雅黑" panose="020B0503020204020204" charset="-122"/>
                        </a:rPr>
                        <a:t>是</a:t>
                      </a:r>
                      <a:endParaRPr lang="zh-CN" sz="1200" b="0">
                        <a:solidFill>
                          <a:srgbClr val="FF0000"/>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solidFill>
                          <a:srgbClr val="FF0000"/>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概要设计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概要设计评审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《概要设计说明书》《评审记录表》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详细设计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详细设计评审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《详细设计说明书》《评审记录表》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是</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以概要为准</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用例设计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测试用例评审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《测试用例》《评审记录表》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软件编码</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系统程序</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项目开发</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开发自测</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代码审查</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代码评审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内部评审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r h="323529">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UED走查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UED评审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lang="zh-CN" sz="1200">
                          <a:solidFill>
                            <a:srgbClr val="FF0000"/>
                          </a:solidFill>
                          <a:latin typeface="微软雅黑" panose="020B0503020204020204" charset="-122"/>
                          <a:ea typeface="微软雅黑" panose="020B0503020204020204" charset="-122"/>
                          <a:sym typeface="+mn-ea"/>
                        </a:rPr>
                        <a:t>是</a:t>
                      </a:r>
                      <a:endParaRPr lang="zh-CN" sz="1200" b="0">
                        <a:solidFill>
                          <a:srgbClr val="FF0000"/>
                        </a:solidFill>
                        <a:latin typeface="微软雅黑" panose="020B0503020204020204" charset="-122"/>
                        <a:ea typeface="微软雅黑" panose="020B0503020204020204" charset="-122"/>
                        <a:sym typeface="+mn-ea"/>
                      </a:endParaRPr>
                    </a:p>
                  </a:txBody>
                  <a:tcPr marL="50800" marR="50800" marT="25400" marB="25400" anchor="ctr">
                    <a:solidFill>
                      <a:srgbClr val="FFFFFF"/>
                    </a:solidFill>
                  </a:tcPr>
                </a:tc>
                <a:tc>
                  <a:txBody>
                    <a:bodyPr wrap="square"/>
                    <a:lstStyle/>
                    <a:p>
                      <a:pPr algn="l"/>
                      <a:r>
                        <a:rPr lang="zh-CN" sz="1200" b="0">
                          <a:solidFill>
                            <a:srgbClr val="FF0000"/>
                          </a:solidFill>
                          <a:latin typeface="微软雅黑" panose="020B0503020204020204" charset="-122"/>
                          <a:ea typeface="微软雅黑" panose="020B0503020204020204" charset="-122"/>
                        </a:rPr>
                        <a:t>是</a:t>
                      </a:r>
                      <a:endParaRPr lang="zh-CN" sz="1200" b="0">
                        <a:solidFill>
                          <a:srgbClr val="FF0000"/>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r>
              <a:tr h="323536">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系统提测</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提测评审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《提测评审报告》《评审记录表》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研发项目提测申请</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项目规划 · 过程裁剪(2)</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300000" y="1200000"/>
          <a:ext cx="10600000" cy="4000000"/>
        </p:xfrm>
        <a:graphic>
          <a:graphicData uri="http://schemas.openxmlformats.org/drawingml/2006/table">
            <a:tbl>
              <a:tblPr firstRow="1" bandRow="1"/>
              <a:tblGrid>
                <a:gridCol w="1000000"/>
                <a:gridCol w="1500000"/>
                <a:gridCol w="1200000"/>
                <a:gridCol w="2400000"/>
                <a:gridCol w="1500000"/>
                <a:gridCol w="800000"/>
                <a:gridCol w="1400000"/>
                <a:gridCol w="800000"/>
              </a:tblGrid>
              <a:tr h="571428">
                <a:tc>
                  <a:txBody>
                    <a:bodyPr wrap="square"/>
                    <a:lstStyle/>
                    <a:p>
                      <a:pPr algn="ctr"/>
                      <a:r>
                        <a:rPr sz="1200" b="1">
                          <a:solidFill>
                            <a:srgbClr val="FFFFFF"/>
                          </a:solidFill>
                          <a:latin typeface="微软雅黑" panose="020B0503020204020204" charset="-122"/>
                          <a:ea typeface="微软雅黑" panose="020B0503020204020204" charset="-122"/>
                        </a:rPr>
                        <a:t>项目阶段</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过程活动</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里程碑</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输出成果</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涉及流程</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是否可裁剪</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cs typeface="微软雅黑" panose="020B0503020204020204" charset="-122"/>
                        </a:rPr>
                        <a:t>裁剪结果/原因</a:t>
                      </a:r>
                      <a:endParaRPr sz="1200" b="1">
                        <a:solidFill>
                          <a:srgbClr val="FFFFFF"/>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备注</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571428">
                <a:tc>
                  <a:txBody>
                    <a:bodyPr wrap="square"/>
                    <a:lstStyle/>
                    <a:p>
                      <a:pPr algn="ctr"/>
                      <a:r>
                        <a:rPr sz="1200" b="0">
                          <a:solidFill>
                            <a:srgbClr val="333333"/>
                          </a:solidFill>
                          <a:latin typeface="微软雅黑" panose="020B0503020204020204" charset="-122"/>
                          <a:ea typeface="微软雅黑" panose="020B0503020204020204" charset="-122"/>
                        </a:rPr>
                        <a:t>建设阶段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冒烟测试</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项目验证</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571428">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系统测试</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r h="571428">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回归测试</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r>
              <a:tr h="571428">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测试报告编制</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测试报告评审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《测试报告》《评审记录表》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r h="571428">
                <a:tc>
                  <a:txBody>
                    <a:bodyPr wrap="square"/>
                    <a:lstStyle/>
                    <a:p>
                      <a:pPr algn="ctr"/>
                      <a:r>
                        <a:rPr sz="1200" b="0">
                          <a:solidFill>
                            <a:srgbClr val="333333"/>
                          </a:solidFill>
                          <a:latin typeface="微软雅黑" panose="020B0503020204020204" charset="-122"/>
                          <a:ea typeface="微软雅黑" panose="020B0503020204020204" charset="-122"/>
                        </a:rPr>
                        <a:t>结束阶段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结项准备</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《结项报告》</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FFFFF"/>
                    </a:solidFill>
                  </a:tcPr>
                </a:tc>
              </a:tr>
              <a:tr h="571432">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可获得性决策评审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结项评审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《评审记录表》</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研发项目结项申请、产品发布申请</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否</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项目规划 · 项目计划（健康全景视图</a:t>
            </a:r>
            <a:r>
              <a:rPr lang="en-US" altLang="zh-CN"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1.4</a:t>
            </a: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300000" y="1000000"/>
          <a:ext cx="10600000" cy="5200000"/>
        </p:xfrm>
        <a:graphic>
          <a:graphicData uri="http://schemas.openxmlformats.org/drawingml/2006/table">
            <a:tbl>
              <a:tblPr firstRow="1" bandRow="1"/>
              <a:tblGrid>
                <a:gridCol w="900000"/>
                <a:gridCol w="1000000"/>
                <a:gridCol w="1100000"/>
                <a:gridCol w="1600000"/>
                <a:gridCol w="1600000"/>
                <a:gridCol w="1500000"/>
                <a:gridCol w="900000"/>
                <a:gridCol w="2000000"/>
              </a:tblGrid>
              <a:tr h="650000">
                <a:tc>
                  <a:txBody>
                    <a:bodyPr wrap="square"/>
                    <a:lstStyle/>
                    <a:p>
                      <a:pPr algn="ctr"/>
                      <a:r>
                        <a:rPr sz="1200" b="1">
                          <a:solidFill>
                            <a:srgbClr val="FFFFFF"/>
                          </a:solidFill>
                          <a:latin typeface="微软雅黑" panose="020B0503020204020204" charset="-122"/>
                          <a:ea typeface="微软雅黑" panose="020B0503020204020204" charset="-122"/>
                        </a:rPr>
                        <a:t>版本</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阶段</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主要活动</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计划开始时间</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计划结束时间</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成本（人天）</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工作日（天）</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里程碑</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650000">
                <a:tc rowSpan="6">
                  <a:txBody>
                    <a:bodyPr wrap="square"/>
                    <a:lstStyle/>
                    <a:p>
                      <a:pPr algn="ctr"/>
                      <a:r>
                        <a:rPr sz="1200" b="0">
                          <a:solidFill>
                            <a:srgbClr val="333333"/>
                          </a:solidFill>
                          <a:latin typeface="微软雅黑" panose="020B0503020204020204" charset="-122"/>
                          <a:ea typeface="微软雅黑" panose="020B0503020204020204" charset="-122"/>
                        </a:rPr>
                        <a:t>1.4</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启动阶段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项目立项</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a:t>
                      </a:r>
                      <a:r>
                        <a:rPr lang="en-US" sz="1200" b="0">
                          <a:solidFill>
                            <a:srgbClr val="333333"/>
                          </a:solidFill>
                          <a:latin typeface="微软雅黑" panose="020B0503020204020204" charset="-122"/>
                          <a:ea typeface="微软雅黑" panose="020B0503020204020204" charset="-122"/>
                          <a:cs typeface="微软雅黑" panose="020B0503020204020204" charset="-122"/>
                        </a:rPr>
                        <a:t>7</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2026年7月1</a:t>
                      </a:r>
                      <a:r>
                        <a:rPr lang="en-US" sz="1200" b="0">
                          <a:solidFill>
                            <a:srgbClr val="333333"/>
                          </a:solidFill>
                          <a:latin typeface="微软雅黑" panose="020B0503020204020204" charset="-122"/>
                          <a:ea typeface="微软雅黑" panose="020B0503020204020204" charset="-122"/>
                          <a:cs typeface="微软雅黑" panose="020B0503020204020204" charset="-122"/>
                        </a:rPr>
                        <a:t>0</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2</a:t>
                      </a:r>
                      <a:r>
                        <a:rPr sz="1200" b="0">
                          <a:solidFill>
                            <a:srgbClr val="333333"/>
                          </a:solidFill>
                          <a:latin typeface="微软雅黑" panose="020B0503020204020204" charset="-122"/>
                          <a:ea typeface="微软雅黑" panose="020B0503020204020204" charset="-122"/>
                          <a:cs typeface="微软雅黑" panose="020B0503020204020204" charset="-122"/>
                        </a:rPr>
                        <a:t>（0.</a:t>
                      </a:r>
                      <a:r>
                        <a:rPr lang="en-US" sz="1200" b="0">
                          <a:solidFill>
                            <a:srgbClr val="333333"/>
                          </a:solidFill>
                          <a:latin typeface="微软雅黑" panose="020B0503020204020204" charset="-122"/>
                          <a:ea typeface="微软雅黑" panose="020B0503020204020204" charset="-122"/>
                          <a:cs typeface="微软雅黑" panose="020B0503020204020204" charset="-122"/>
                        </a:rPr>
                        <a:t>09</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4</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立项评审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650000">
                <a:tc vMerge="1">
                  <a:tcPr marL="50800" marR="50800" marT="25400" marB="25400" anchor="ctr">
                    <a:solidFill>
                      <a:srgbClr val="F2F5FC"/>
                    </a:solidFill>
                  </a:tcPr>
                </a:tc>
                <a:tc rowSpan="3">
                  <a:txBody>
                    <a:bodyPr wrap="square"/>
                    <a:lstStyle/>
                    <a:p>
                      <a:pPr algn="l"/>
                      <a:r>
                        <a:rPr sz="1200" b="0">
                          <a:solidFill>
                            <a:srgbClr val="333333"/>
                          </a:solidFill>
                          <a:latin typeface="微软雅黑" panose="020B0503020204020204" charset="-122"/>
                          <a:ea typeface="微软雅黑" panose="020B0503020204020204" charset="-122"/>
                        </a:rPr>
                        <a:t>建设阶段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项目设计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2026年7月1</a:t>
                      </a:r>
                      <a:r>
                        <a:rPr lang="en-US" sz="1200" b="0">
                          <a:solidFill>
                            <a:srgbClr val="333333"/>
                          </a:solidFill>
                          <a:latin typeface="微软雅黑" panose="020B0503020204020204" charset="-122"/>
                          <a:ea typeface="微软雅黑" panose="020B0503020204020204" charset="-122"/>
                          <a:cs typeface="微软雅黑" panose="020B0503020204020204" charset="-122"/>
                        </a:rPr>
                        <a:t>3</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2026年8月</a:t>
                      </a:r>
                      <a:r>
                        <a:rPr lang="en-US" sz="1200" b="0">
                          <a:solidFill>
                            <a:srgbClr val="333333"/>
                          </a:solidFill>
                          <a:latin typeface="微软雅黑" panose="020B0503020204020204" charset="-122"/>
                          <a:ea typeface="微软雅黑" panose="020B0503020204020204" charset="-122"/>
                          <a:cs typeface="微软雅黑" panose="020B0503020204020204" charset="-122"/>
                        </a:rPr>
                        <a:t>11</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18</a:t>
                      </a:r>
                      <a:r>
                        <a:rPr sz="1200" b="0">
                          <a:solidFill>
                            <a:srgbClr val="333333"/>
                          </a:solidFill>
                          <a:latin typeface="微软雅黑" panose="020B0503020204020204" charset="-122"/>
                          <a:ea typeface="微软雅黑" panose="020B0503020204020204" charset="-122"/>
                          <a:cs typeface="微软雅黑" panose="020B0503020204020204" charset="-122"/>
                        </a:rPr>
                        <a:t>（</a:t>
                      </a:r>
                      <a:r>
                        <a:rPr lang="en-US" sz="1200" b="0">
                          <a:solidFill>
                            <a:srgbClr val="333333"/>
                          </a:solidFill>
                          <a:latin typeface="微软雅黑" panose="020B0503020204020204" charset="-122"/>
                          <a:ea typeface="微软雅黑" panose="020B0503020204020204" charset="-122"/>
                          <a:cs typeface="微软雅黑" panose="020B0503020204020204" charset="-122"/>
                        </a:rPr>
                        <a:t>0.82</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22</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8</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4</a:t>
                      </a:r>
                      <a:r>
                        <a:rPr sz="1200" b="0">
                          <a:solidFill>
                            <a:srgbClr val="333333"/>
                          </a:solidFill>
                          <a:latin typeface="微软雅黑" panose="020B0503020204020204" charset="-122"/>
                          <a:ea typeface="微软雅黑" panose="020B0503020204020204" charset="-122"/>
                          <a:cs typeface="微软雅黑" panose="020B0503020204020204" charset="-122"/>
                        </a:rPr>
                        <a:t>日 原型评审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8</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11</a:t>
                      </a:r>
                      <a:r>
                        <a:rPr sz="1200" b="0">
                          <a:solidFill>
                            <a:srgbClr val="333333"/>
                          </a:solidFill>
                          <a:latin typeface="微软雅黑" panose="020B0503020204020204" charset="-122"/>
                          <a:ea typeface="微软雅黑" panose="020B0503020204020204" charset="-122"/>
                          <a:cs typeface="微软雅黑" panose="020B0503020204020204" charset="-122"/>
                        </a:rPr>
                        <a:t>日 概要设计评审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zh-CN" sz="1200" b="0">
                          <a:solidFill>
                            <a:srgbClr val="333333"/>
                          </a:solidFill>
                          <a:latin typeface="微软雅黑" panose="020B0503020204020204" charset="-122"/>
                          <a:ea typeface="微软雅黑" panose="020B0503020204020204" charset="-122"/>
                          <a:cs typeface="微软雅黑" panose="020B0503020204020204" charset="-122"/>
                        </a:rPr>
                        <a:t>开发环境统一</a:t>
                      </a:r>
                      <a:endParaRPr lang="zh-CN"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r>
              <a:tr h="650000">
                <a:tc vMerge="1">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项目开发</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a:t>
                      </a:r>
                      <a:r>
                        <a:rPr lang="en-US" sz="1200" b="0">
                          <a:solidFill>
                            <a:srgbClr val="333333"/>
                          </a:solidFill>
                          <a:latin typeface="微软雅黑" panose="020B0503020204020204" charset="-122"/>
                          <a:ea typeface="微软雅黑" panose="020B0503020204020204" charset="-122"/>
                          <a:cs typeface="微软雅黑" panose="020B0503020204020204" charset="-122"/>
                        </a:rPr>
                        <a:t>8</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11</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2026年10月</a:t>
                      </a:r>
                      <a:r>
                        <a:rPr lang="en-US" sz="1200" b="0">
                          <a:solidFill>
                            <a:srgbClr val="333333"/>
                          </a:solidFill>
                          <a:latin typeface="微软雅黑" panose="020B0503020204020204" charset="-122"/>
                          <a:ea typeface="微软雅黑" panose="020B0503020204020204" charset="-122"/>
                          <a:cs typeface="微软雅黑" panose="020B0503020204020204" charset="-122"/>
                        </a:rPr>
                        <a:t>28</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78</a:t>
                      </a:r>
                      <a:r>
                        <a:rPr sz="1200" b="0">
                          <a:solidFill>
                            <a:srgbClr val="333333"/>
                          </a:solidFill>
                          <a:latin typeface="微软雅黑" panose="020B0503020204020204" charset="-122"/>
                          <a:ea typeface="微软雅黑" panose="020B0503020204020204" charset="-122"/>
                          <a:cs typeface="微软雅黑" panose="020B0503020204020204" charset="-122"/>
                        </a:rPr>
                        <a:t>（</a:t>
                      </a:r>
                      <a:r>
                        <a:rPr lang="en-US" sz="1200" b="0">
                          <a:solidFill>
                            <a:srgbClr val="333333"/>
                          </a:solidFill>
                          <a:latin typeface="微软雅黑" panose="020B0503020204020204" charset="-122"/>
                          <a:ea typeface="微软雅黑" panose="020B0503020204020204" charset="-122"/>
                          <a:cs typeface="微软雅黑" panose="020B0503020204020204" charset="-122"/>
                        </a:rPr>
                        <a:t>3.55</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53</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10月2</a:t>
                      </a:r>
                      <a:r>
                        <a:rPr lang="en-US" sz="1200" b="0">
                          <a:solidFill>
                            <a:srgbClr val="333333"/>
                          </a:solidFill>
                          <a:latin typeface="微软雅黑" panose="020B0503020204020204" charset="-122"/>
                          <a:ea typeface="微软雅黑" panose="020B0503020204020204" charset="-122"/>
                          <a:cs typeface="微软雅黑" panose="020B0503020204020204" charset="-122"/>
                        </a:rPr>
                        <a:t>0</a:t>
                      </a:r>
                      <a:r>
                        <a:rPr sz="1200" b="0">
                          <a:solidFill>
                            <a:srgbClr val="333333"/>
                          </a:solidFill>
                          <a:latin typeface="微软雅黑" panose="020B0503020204020204" charset="-122"/>
                          <a:ea typeface="微软雅黑" panose="020B0503020204020204" charset="-122"/>
                          <a:cs typeface="微软雅黑" panose="020B0503020204020204" charset="-122"/>
                        </a:rPr>
                        <a:t>日 用例评审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sz="1200" b="0">
                          <a:solidFill>
                            <a:srgbClr val="333333"/>
                          </a:solidFill>
                          <a:latin typeface="微软雅黑" panose="020B0503020204020204" charset="-122"/>
                          <a:ea typeface="微软雅黑" panose="020B0503020204020204" charset="-122"/>
                          <a:cs typeface="微软雅黑" panose="020B0503020204020204" charset="-122"/>
                        </a:rPr>
                        <a:t>10月</a:t>
                      </a:r>
                      <a:r>
                        <a:rPr lang="en-US" sz="1200" b="0">
                          <a:solidFill>
                            <a:srgbClr val="333333"/>
                          </a:solidFill>
                          <a:latin typeface="微软雅黑" panose="020B0503020204020204" charset="-122"/>
                          <a:ea typeface="微软雅黑" panose="020B0503020204020204" charset="-122"/>
                          <a:cs typeface="微软雅黑" panose="020B0503020204020204" charset="-122"/>
                        </a:rPr>
                        <a:t>23</a:t>
                      </a:r>
                      <a:r>
                        <a:rPr sz="1200" b="0">
                          <a:solidFill>
                            <a:srgbClr val="333333"/>
                          </a:solidFill>
                          <a:latin typeface="微软雅黑" panose="020B0503020204020204" charset="-122"/>
                          <a:ea typeface="微软雅黑" panose="020B0503020204020204" charset="-122"/>
                          <a:cs typeface="微软雅黑" panose="020B0503020204020204" charset="-122"/>
                        </a:rPr>
                        <a:t>日 代码评审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r h="650000">
                <a:tc vMerge="1">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项目验证</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2026年10月</a:t>
                      </a:r>
                      <a:r>
                        <a:rPr lang="en-US" sz="1200" b="0">
                          <a:solidFill>
                            <a:srgbClr val="333333"/>
                          </a:solidFill>
                          <a:latin typeface="微软雅黑" panose="020B0503020204020204" charset="-122"/>
                          <a:ea typeface="微软雅黑" panose="020B0503020204020204" charset="-122"/>
                          <a:cs typeface="微软雅黑" panose="020B0503020204020204" charset="-122"/>
                        </a:rPr>
                        <a:t>28</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a:t>
                      </a:r>
                      <a:r>
                        <a:rPr lang="en-US" sz="1200" b="0">
                          <a:solidFill>
                            <a:srgbClr val="333333"/>
                          </a:solidFill>
                          <a:latin typeface="微软雅黑" panose="020B0503020204020204" charset="-122"/>
                          <a:ea typeface="微软雅黑" panose="020B0503020204020204" charset="-122"/>
                          <a:cs typeface="微软雅黑" panose="020B0503020204020204" charset="-122"/>
                        </a:rPr>
                        <a:t>24</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40</a:t>
                      </a:r>
                      <a:r>
                        <a:rPr sz="1200" b="0">
                          <a:solidFill>
                            <a:srgbClr val="333333"/>
                          </a:solidFill>
                          <a:latin typeface="微软雅黑" panose="020B0503020204020204" charset="-122"/>
                          <a:ea typeface="微软雅黑" panose="020B0503020204020204" charset="-122"/>
                          <a:cs typeface="微软雅黑" panose="020B0503020204020204" charset="-122"/>
                        </a:rPr>
                        <a:t>（</a:t>
                      </a:r>
                      <a:r>
                        <a:rPr lang="en-US" sz="1200" b="0">
                          <a:solidFill>
                            <a:srgbClr val="333333"/>
                          </a:solidFill>
                          <a:latin typeface="微软雅黑" panose="020B0503020204020204" charset="-122"/>
                          <a:ea typeface="微软雅黑" panose="020B0503020204020204" charset="-122"/>
                          <a:cs typeface="微软雅黑" panose="020B0503020204020204" charset="-122"/>
                        </a:rPr>
                        <a:t>1.82</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20</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1</a:t>
                      </a:r>
                      <a:r>
                        <a:rPr lang="en-US" sz="1200" b="0">
                          <a:solidFill>
                            <a:srgbClr val="333333"/>
                          </a:solidFill>
                          <a:latin typeface="微软雅黑" panose="020B0503020204020204" charset="-122"/>
                          <a:ea typeface="微软雅黑" panose="020B0503020204020204" charset="-122"/>
                          <a:cs typeface="微软雅黑" panose="020B0503020204020204" charset="-122"/>
                        </a:rPr>
                        <a:t>0</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28</a:t>
                      </a:r>
                      <a:r>
                        <a:rPr sz="1200" b="0">
                          <a:solidFill>
                            <a:srgbClr val="333333"/>
                          </a:solidFill>
                          <a:latin typeface="微软雅黑" panose="020B0503020204020204" charset="-122"/>
                          <a:ea typeface="微软雅黑" panose="020B0503020204020204" charset="-122"/>
                          <a:cs typeface="微软雅黑" panose="020B0503020204020204" charset="-122"/>
                        </a:rPr>
                        <a:t>日 提测评审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sz="1200" b="0">
                          <a:solidFill>
                            <a:srgbClr val="333333"/>
                          </a:solidFill>
                          <a:latin typeface="微软雅黑" panose="020B0503020204020204" charset="-122"/>
                          <a:ea typeface="微软雅黑" panose="020B0503020204020204" charset="-122"/>
                          <a:cs typeface="微软雅黑" panose="020B0503020204020204" charset="-122"/>
                        </a:rPr>
                        <a:t>11月</a:t>
                      </a:r>
                      <a:r>
                        <a:rPr lang="en-US" sz="1200" b="0">
                          <a:solidFill>
                            <a:srgbClr val="333333"/>
                          </a:solidFill>
                          <a:latin typeface="微软雅黑" panose="020B0503020204020204" charset="-122"/>
                          <a:ea typeface="微软雅黑" panose="020B0503020204020204" charset="-122"/>
                          <a:cs typeface="微软雅黑" panose="020B0503020204020204" charset="-122"/>
                        </a:rPr>
                        <a:t>24</a:t>
                      </a:r>
                      <a:r>
                        <a:rPr sz="1200" b="0">
                          <a:solidFill>
                            <a:srgbClr val="333333"/>
                          </a:solidFill>
                          <a:latin typeface="微软雅黑" panose="020B0503020204020204" charset="-122"/>
                          <a:ea typeface="微软雅黑" panose="020B0503020204020204" charset="-122"/>
                          <a:cs typeface="微软雅黑" panose="020B0503020204020204" charset="-122"/>
                        </a:rPr>
                        <a:t>日 测试报告</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zh-CN" altLang="en-US" sz="1200" b="0">
                          <a:solidFill>
                            <a:srgbClr val="333333"/>
                          </a:solidFill>
                          <a:latin typeface="微软雅黑" panose="020B0503020204020204" charset="-122"/>
                          <a:ea typeface="微软雅黑" panose="020B0503020204020204" charset="-122"/>
                          <a:cs typeface="微软雅黑" panose="020B0503020204020204" charset="-122"/>
                        </a:rPr>
                        <a:t>敏捷测试，根据开发进度进行模块化测试</a:t>
                      </a:r>
                      <a:endParaRPr lang="zh-CN" altLang="en-US"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r>
              <a:tr h="650000">
                <a:tc vMerge="1">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结束阶段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项目结项</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2026年11月16日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a:t>
                      </a:r>
                      <a:r>
                        <a:rPr lang="en-US" sz="1200" b="0">
                          <a:solidFill>
                            <a:srgbClr val="333333"/>
                          </a:solidFill>
                          <a:latin typeface="微软雅黑" panose="020B0503020204020204" charset="-122"/>
                          <a:ea typeface="微软雅黑" panose="020B0503020204020204" charset="-122"/>
                          <a:cs typeface="微软雅黑" panose="020B0503020204020204" charset="-122"/>
                        </a:rPr>
                        <a:t>26</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5</a:t>
                      </a:r>
                      <a:r>
                        <a:rPr sz="1200" b="0">
                          <a:solidFill>
                            <a:srgbClr val="333333"/>
                          </a:solidFill>
                          <a:latin typeface="微软雅黑" panose="020B0503020204020204" charset="-122"/>
                          <a:ea typeface="微软雅黑" panose="020B0503020204020204" charset="-122"/>
                          <a:cs typeface="微软雅黑" panose="020B0503020204020204" charset="-122"/>
                        </a:rPr>
                        <a:t>（0.</a:t>
                      </a:r>
                      <a:r>
                        <a:rPr lang="en-US" sz="1200" b="0">
                          <a:solidFill>
                            <a:srgbClr val="333333"/>
                          </a:solidFill>
                          <a:latin typeface="微软雅黑" panose="020B0503020204020204" charset="-122"/>
                          <a:ea typeface="微软雅黑" panose="020B0503020204020204" charset="-122"/>
                          <a:cs typeface="微软雅黑" panose="020B0503020204020204" charset="-122"/>
                        </a:rPr>
                        <a:t>23</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9</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11月</a:t>
                      </a:r>
                      <a:r>
                        <a:rPr lang="en-US" sz="1200" b="0">
                          <a:solidFill>
                            <a:srgbClr val="333333"/>
                          </a:solidFill>
                          <a:latin typeface="微软雅黑" panose="020B0503020204020204" charset="-122"/>
                          <a:ea typeface="微软雅黑" panose="020B0503020204020204" charset="-122"/>
                          <a:cs typeface="微软雅黑" panose="020B0503020204020204" charset="-122"/>
                        </a:rPr>
                        <a:t>26</a:t>
                      </a:r>
                      <a:r>
                        <a:rPr sz="1200" b="0">
                          <a:solidFill>
                            <a:srgbClr val="333333"/>
                          </a:solidFill>
                          <a:latin typeface="微软雅黑" panose="020B0503020204020204" charset="-122"/>
                          <a:ea typeface="微软雅黑" panose="020B0503020204020204" charset="-122"/>
                          <a:cs typeface="微软雅黑" panose="020B0503020204020204" charset="-122"/>
                        </a:rPr>
                        <a:t>日 结项评审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r h="650000">
                <a:tc vMerge="1">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项目管理</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项目管理</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a:t>
                      </a:r>
                      <a:r>
                        <a:rPr lang="en-US" sz="1200" b="0">
                          <a:solidFill>
                            <a:srgbClr val="333333"/>
                          </a:solidFill>
                          <a:latin typeface="微软雅黑" panose="020B0503020204020204" charset="-122"/>
                          <a:ea typeface="微软雅黑" panose="020B0503020204020204" charset="-122"/>
                          <a:cs typeface="微软雅黑" panose="020B0503020204020204" charset="-122"/>
                        </a:rPr>
                        <a:t>7</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a:t>
                      </a:r>
                      <a:r>
                        <a:rPr lang="en-US" sz="1200" b="0">
                          <a:solidFill>
                            <a:srgbClr val="333333"/>
                          </a:solidFill>
                          <a:latin typeface="微软雅黑" panose="020B0503020204020204" charset="-122"/>
                          <a:ea typeface="微软雅黑" panose="020B0503020204020204" charset="-122"/>
                          <a:cs typeface="微软雅黑" panose="020B0503020204020204" charset="-122"/>
                        </a:rPr>
                        <a:t>26</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22</a:t>
                      </a:r>
                      <a:r>
                        <a:rPr sz="1200" b="0">
                          <a:solidFill>
                            <a:srgbClr val="333333"/>
                          </a:solidFill>
                          <a:latin typeface="微软雅黑" panose="020B0503020204020204" charset="-122"/>
                          <a:ea typeface="微软雅黑" panose="020B0503020204020204" charset="-122"/>
                          <a:cs typeface="微软雅黑" panose="020B0503020204020204" charset="-122"/>
                        </a:rPr>
                        <a:t>（1人月）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99</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r h="650000">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r>
                        <a:rPr sz="1200" b="1">
                          <a:solidFill>
                            <a:srgbClr val="333333"/>
                          </a:solidFill>
                          <a:latin typeface="微软雅黑" panose="020B0503020204020204" charset="-122"/>
                          <a:ea typeface="微软雅黑" panose="020B0503020204020204" charset="-122"/>
                        </a:rPr>
                        <a:t>合计</a:t>
                      </a:r>
                      <a:endParaRPr sz="1200" b="1">
                        <a:solidFill>
                          <a:srgbClr val="333333"/>
                        </a:solidFill>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r>
                        <a:rPr lang="en-US" sz="1200" b="1">
                          <a:solidFill>
                            <a:srgbClr val="333333"/>
                          </a:solidFill>
                          <a:latin typeface="微软雅黑" panose="020B0503020204020204" charset="-122"/>
                          <a:ea typeface="微软雅黑" panose="020B0503020204020204" charset="-122"/>
                          <a:cs typeface="微软雅黑" panose="020B0503020204020204" charset="-122"/>
                        </a:rPr>
                        <a:t>165</a:t>
                      </a:r>
                      <a:r>
                        <a:rPr sz="1200" b="1">
                          <a:solidFill>
                            <a:srgbClr val="333333"/>
                          </a:solidFill>
                          <a:latin typeface="微软雅黑" panose="020B0503020204020204" charset="-122"/>
                          <a:ea typeface="微软雅黑" panose="020B0503020204020204" charset="-122"/>
                          <a:cs typeface="微软雅黑" panose="020B0503020204020204" charset="-122"/>
                        </a:rPr>
                        <a:t>（</a:t>
                      </a:r>
                      <a:r>
                        <a:rPr lang="en-US" sz="1200" b="1">
                          <a:solidFill>
                            <a:srgbClr val="333333"/>
                          </a:solidFill>
                          <a:latin typeface="微软雅黑" panose="020B0503020204020204" charset="-122"/>
                          <a:ea typeface="微软雅黑" panose="020B0503020204020204" charset="-122"/>
                          <a:cs typeface="微软雅黑" panose="020B0503020204020204" charset="-122"/>
                        </a:rPr>
                        <a:t>7.5</a:t>
                      </a:r>
                      <a:r>
                        <a:rPr sz="1200" b="1">
                          <a:solidFill>
                            <a:srgbClr val="333333"/>
                          </a:solidFill>
                          <a:latin typeface="微软雅黑" panose="020B0503020204020204" charset="-122"/>
                          <a:ea typeface="微软雅黑" panose="020B0503020204020204" charset="-122"/>
                          <a:cs typeface="微软雅黑" panose="020B0503020204020204" charset="-122"/>
                        </a:rPr>
                        <a:t>人月）</a:t>
                      </a:r>
                      <a:endParaRPr sz="1200" b="1">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D9E2F3"/>
                    </a:solidFill>
                  </a:tcPr>
                </a:tc>
                <a:tc>
                  <a:txBody>
                    <a:bodyPr wrap="square"/>
                    <a:lstStyle/>
                    <a:p>
                      <a:pPr algn="l"/>
                      <a:r>
                        <a:rPr sz="1200" b="1">
                          <a:solidFill>
                            <a:srgbClr val="333333"/>
                          </a:solidFill>
                          <a:latin typeface="微软雅黑" panose="020B0503020204020204" charset="-122"/>
                          <a:ea typeface="微软雅黑" panose="020B0503020204020204" charset="-122"/>
                        </a:rPr>
                        <a:t>9</a:t>
                      </a:r>
                      <a:r>
                        <a:rPr lang="en-US" sz="1200" b="1">
                          <a:solidFill>
                            <a:srgbClr val="333333"/>
                          </a:solidFill>
                          <a:latin typeface="微软雅黑" panose="020B0503020204020204" charset="-122"/>
                          <a:ea typeface="微软雅黑" panose="020B0503020204020204" charset="-122"/>
                        </a:rPr>
                        <a:t>9</a:t>
                      </a:r>
                      <a:endParaRPr lang="en-US" sz="1200" b="1">
                        <a:solidFill>
                          <a:srgbClr val="333333"/>
                        </a:solidFill>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r>
            </a:tbl>
          </a:graphicData>
        </a:graphic>
      </p:graphicFrame>
      <p:sp>
        <p:nvSpPr>
          <p:cNvPr id="17" name="TextBox 16"/>
          <p:cNvSpPr txBox="1"/>
          <p:nvPr/>
        </p:nvSpPr>
        <p:spPr>
          <a:xfrm>
            <a:off x="400000" y="6300000"/>
            <a:ext cx="8000000" cy="400000"/>
          </a:xfrm>
          <a:prstGeom prst="rect">
            <a:avLst/>
          </a:prstGeom>
          <a:noFill/>
        </p:spPr>
        <p:txBody>
          <a:bodyPr wrap="square">
            <a:spAutoFit/>
          </a:bodyPr>
          <a:lstStyle/>
          <a:p>
            <a:r>
              <a:rPr sz="1000" b="0">
                <a:solidFill>
                  <a:srgbClr val="FF0000"/>
                </a:solidFill>
                <a:latin typeface="仿宋" panose="02010609060101010101" charset="-122"/>
                <a:ea typeface="仿宋" panose="02010609060101010101" charset="-122"/>
              </a:rPr>
              <a:t>注：1人月=22人天，1人天=8人时</a:t>
            </a:r>
            <a:endParaRPr sz="1000" b="0">
              <a:solidFill>
                <a:srgbClr val="FF0000"/>
              </a:solidFill>
              <a:latin typeface="仿宋" panose="02010609060101010101" charset="-122"/>
              <a:ea typeface="仿宋" panose="0201060906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项目规划 · 项目计划（全程档案调阅系统</a:t>
            </a:r>
            <a:r>
              <a:rPr lang="en-US" altLang="zh-CN"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1.1</a:t>
            </a: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300000" y="1000000"/>
          <a:ext cx="10600000" cy="5200000"/>
        </p:xfrm>
        <a:graphic>
          <a:graphicData uri="http://schemas.openxmlformats.org/drawingml/2006/table">
            <a:tbl>
              <a:tblPr firstRow="1" bandRow="1"/>
              <a:tblGrid>
                <a:gridCol w="900000"/>
                <a:gridCol w="1000000"/>
                <a:gridCol w="1100000"/>
                <a:gridCol w="1600000"/>
                <a:gridCol w="1600000"/>
                <a:gridCol w="1500000"/>
                <a:gridCol w="900000"/>
                <a:gridCol w="2000000"/>
              </a:tblGrid>
              <a:tr h="650000">
                <a:tc>
                  <a:txBody>
                    <a:bodyPr wrap="square"/>
                    <a:lstStyle/>
                    <a:p>
                      <a:pPr algn="ctr"/>
                      <a:r>
                        <a:rPr sz="1200" b="1">
                          <a:solidFill>
                            <a:srgbClr val="FFFFFF"/>
                          </a:solidFill>
                          <a:latin typeface="微软雅黑" panose="020B0503020204020204" charset="-122"/>
                          <a:ea typeface="微软雅黑" panose="020B0503020204020204" charset="-122"/>
                        </a:rPr>
                        <a:t>版本</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阶段</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主要活动</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计划开始时间</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计划结束时间</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成本（人天）</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工作日（天）</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里程碑</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650000">
                <a:tc rowSpan="6">
                  <a:txBody>
                    <a:bodyPr wrap="square"/>
                    <a:lstStyle/>
                    <a:p>
                      <a:pPr algn="ctr"/>
                      <a:r>
                        <a:rPr sz="1200" b="0">
                          <a:solidFill>
                            <a:srgbClr val="333333"/>
                          </a:solidFill>
                          <a:latin typeface="微软雅黑" panose="020B0503020204020204" charset="-122"/>
                          <a:ea typeface="微软雅黑" panose="020B0503020204020204" charset="-122"/>
                        </a:rPr>
                        <a:t>1.1</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启动阶段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项目立项</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a:t>
                      </a:r>
                      <a:r>
                        <a:rPr lang="en-US" sz="1200" b="0">
                          <a:solidFill>
                            <a:srgbClr val="333333"/>
                          </a:solidFill>
                          <a:latin typeface="微软雅黑" panose="020B0503020204020204" charset="-122"/>
                          <a:ea typeface="微软雅黑" panose="020B0503020204020204" charset="-122"/>
                          <a:cs typeface="微软雅黑" panose="020B0503020204020204" charset="-122"/>
                        </a:rPr>
                        <a:t>7</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2026年7月1</a:t>
                      </a:r>
                      <a:r>
                        <a:rPr lang="en-US" sz="1200" b="0">
                          <a:solidFill>
                            <a:srgbClr val="333333"/>
                          </a:solidFill>
                          <a:latin typeface="微软雅黑" panose="020B0503020204020204" charset="-122"/>
                          <a:ea typeface="微软雅黑" panose="020B0503020204020204" charset="-122"/>
                          <a:cs typeface="微软雅黑" panose="020B0503020204020204" charset="-122"/>
                        </a:rPr>
                        <a:t>0</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2</a:t>
                      </a:r>
                      <a:r>
                        <a:rPr sz="1200" b="0">
                          <a:solidFill>
                            <a:srgbClr val="333333"/>
                          </a:solidFill>
                          <a:latin typeface="微软雅黑" panose="020B0503020204020204" charset="-122"/>
                          <a:ea typeface="微软雅黑" panose="020B0503020204020204" charset="-122"/>
                          <a:cs typeface="微软雅黑" panose="020B0503020204020204" charset="-122"/>
                        </a:rPr>
                        <a:t>（0.</a:t>
                      </a:r>
                      <a:r>
                        <a:rPr lang="en-US" sz="1200" b="0">
                          <a:solidFill>
                            <a:srgbClr val="333333"/>
                          </a:solidFill>
                          <a:latin typeface="微软雅黑" panose="020B0503020204020204" charset="-122"/>
                          <a:ea typeface="微软雅黑" panose="020B0503020204020204" charset="-122"/>
                          <a:cs typeface="微软雅黑" panose="020B0503020204020204" charset="-122"/>
                        </a:rPr>
                        <a:t>09</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4</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立项评审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650000">
                <a:tc vMerge="1">
                  <a:tcPr marL="50800" marR="50800" marT="25400" marB="25400" anchor="ctr">
                    <a:solidFill>
                      <a:srgbClr val="F2F5FC"/>
                    </a:solidFill>
                  </a:tcPr>
                </a:tc>
                <a:tc rowSpan="3">
                  <a:txBody>
                    <a:bodyPr wrap="square"/>
                    <a:lstStyle/>
                    <a:p>
                      <a:pPr algn="l"/>
                      <a:r>
                        <a:rPr sz="1200" b="0">
                          <a:solidFill>
                            <a:srgbClr val="333333"/>
                          </a:solidFill>
                          <a:latin typeface="微软雅黑" panose="020B0503020204020204" charset="-122"/>
                          <a:ea typeface="微软雅黑" panose="020B0503020204020204" charset="-122"/>
                        </a:rPr>
                        <a:t>建设阶段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项目设计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2026年7月1</a:t>
                      </a:r>
                      <a:r>
                        <a:rPr lang="en-US" sz="1200" b="0">
                          <a:solidFill>
                            <a:srgbClr val="333333"/>
                          </a:solidFill>
                          <a:latin typeface="微软雅黑" panose="020B0503020204020204" charset="-122"/>
                          <a:ea typeface="微软雅黑" panose="020B0503020204020204" charset="-122"/>
                          <a:cs typeface="微软雅黑" panose="020B0503020204020204" charset="-122"/>
                        </a:rPr>
                        <a:t>3</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2026年8月</a:t>
                      </a:r>
                      <a:r>
                        <a:rPr lang="en-US" sz="1200" b="0">
                          <a:solidFill>
                            <a:srgbClr val="333333"/>
                          </a:solidFill>
                          <a:latin typeface="微软雅黑" panose="020B0503020204020204" charset="-122"/>
                          <a:ea typeface="微软雅黑" panose="020B0503020204020204" charset="-122"/>
                          <a:cs typeface="微软雅黑" panose="020B0503020204020204" charset="-122"/>
                        </a:rPr>
                        <a:t>11</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18</a:t>
                      </a:r>
                      <a:r>
                        <a:rPr sz="1200" b="0">
                          <a:solidFill>
                            <a:srgbClr val="333333"/>
                          </a:solidFill>
                          <a:latin typeface="微软雅黑" panose="020B0503020204020204" charset="-122"/>
                          <a:ea typeface="微软雅黑" panose="020B0503020204020204" charset="-122"/>
                          <a:cs typeface="微软雅黑" panose="020B0503020204020204" charset="-122"/>
                        </a:rPr>
                        <a:t>（</a:t>
                      </a:r>
                      <a:r>
                        <a:rPr lang="en-US" sz="1200" b="0">
                          <a:solidFill>
                            <a:srgbClr val="333333"/>
                          </a:solidFill>
                          <a:latin typeface="微软雅黑" panose="020B0503020204020204" charset="-122"/>
                          <a:ea typeface="微软雅黑" panose="020B0503020204020204" charset="-122"/>
                          <a:cs typeface="微软雅黑" panose="020B0503020204020204" charset="-122"/>
                        </a:rPr>
                        <a:t>0.82</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22</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8</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4</a:t>
                      </a:r>
                      <a:r>
                        <a:rPr sz="1200" b="0">
                          <a:solidFill>
                            <a:srgbClr val="333333"/>
                          </a:solidFill>
                          <a:latin typeface="微软雅黑" panose="020B0503020204020204" charset="-122"/>
                          <a:ea typeface="微软雅黑" panose="020B0503020204020204" charset="-122"/>
                          <a:cs typeface="微软雅黑" panose="020B0503020204020204" charset="-122"/>
                        </a:rPr>
                        <a:t>日 原型评审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8</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11</a:t>
                      </a:r>
                      <a:r>
                        <a:rPr sz="1200" b="0">
                          <a:solidFill>
                            <a:srgbClr val="333333"/>
                          </a:solidFill>
                          <a:latin typeface="微软雅黑" panose="020B0503020204020204" charset="-122"/>
                          <a:ea typeface="微软雅黑" panose="020B0503020204020204" charset="-122"/>
                          <a:cs typeface="微软雅黑" panose="020B0503020204020204" charset="-122"/>
                        </a:rPr>
                        <a:t>日 概要设计评审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zh-CN" sz="1200" b="0">
                          <a:solidFill>
                            <a:srgbClr val="333333"/>
                          </a:solidFill>
                          <a:latin typeface="微软雅黑" panose="020B0503020204020204" charset="-122"/>
                          <a:ea typeface="微软雅黑" panose="020B0503020204020204" charset="-122"/>
                          <a:cs typeface="微软雅黑" panose="020B0503020204020204" charset="-122"/>
                        </a:rPr>
                        <a:t>开发环境统一</a:t>
                      </a:r>
                      <a:endParaRPr lang="zh-CN"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r>
              <a:tr h="650000">
                <a:tc vMerge="1">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项目开发</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a:t>
                      </a:r>
                      <a:r>
                        <a:rPr lang="en-US" sz="1200" b="0">
                          <a:solidFill>
                            <a:srgbClr val="333333"/>
                          </a:solidFill>
                          <a:latin typeface="微软雅黑" panose="020B0503020204020204" charset="-122"/>
                          <a:ea typeface="微软雅黑" panose="020B0503020204020204" charset="-122"/>
                          <a:cs typeface="微软雅黑" panose="020B0503020204020204" charset="-122"/>
                        </a:rPr>
                        <a:t>8</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11</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2026年10月</a:t>
                      </a:r>
                      <a:r>
                        <a:rPr lang="en-US" sz="1200" b="0">
                          <a:solidFill>
                            <a:srgbClr val="333333"/>
                          </a:solidFill>
                          <a:latin typeface="微软雅黑" panose="020B0503020204020204" charset="-122"/>
                          <a:ea typeface="微软雅黑" panose="020B0503020204020204" charset="-122"/>
                          <a:cs typeface="微软雅黑" panose="020B0503020204020204" charset="-122"/>
                        </a:rPr>
                        <a:t>28</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78</a:t>
                      </a:r>
                      <a:r>
                        <a:rPr sz="1200" b="0">
                          <a:solidFill>
                            <a:srgbClr val="333333"/>
                          </a:solidFill>
                          <a:latin typeface="微软雅黑" panose="020B0503020204020204" charset="-122"/>
                          <a:ea typeface="微软雅黑" panose="020B0503020204020204" charset="-122"/>
                          <a:cs typeface="微软雅黑" panose="020B0503020204020204" charset="-122"/>
                        </a:rPr>
                        <a:t>（</a:t>
                      </a:r>
                      <a:r>
                        <a:rPr lang="en-US" sz="1200" b="0">
                          <a:solidFill>
                            <a:srgbClr val="333333"/>
                          </a:solidFill>
                          <a:latin typeface="微软雅黑" panose="020B0503020204020204" charset="-122"/>
                          <a:ea typeface="微软雅黑" panose="020B0503020204020204" charset="-122"/>
                          <a:cs typeface="微软雅黑" panose="020B0503020204020204" charset="-122"/>
                        </a:rPr>
                        <a:t>3.55</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53</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10月2</a:t>
                      </a:r>
                      <a:r>
                        <a:rPr lang="en-US" sz="1200" b="0">
                          <a:solidFill>
                            <a:srgbClr val="333333"/>
                          </a:solidFill>
                          <a:latin typeface="微软雅黑" panose="020B0503020204020204" charset="-122"/>
                          <a:ea typeface="微软雅黑" panose="020B0503020204020204" charset="-122"/>
                          <a:cs typeface="微软雅黑" panose="020B0503020204020204" charset="-122"/>
                        </a:rPr>
                        <a:t>0</a:t>
                      </a:r>
                      <a:r>
                        <a:rPr sz="1200" b="0">
                          <a:solidFill>
                            <a:srgbClr val="333333"/>
                          </a:solidFill>
                          <a:latin typeface="微软雅黑" panose="020B0503020204020204" charset="-122"/>
                          <a:ea typeface="微软雅黑" panose="020B0503020204020204" charset="-122"/>
                          <a:cs typeface="微软雅黑" panose="020B0503020204020204" charset="-122"/>
                        </a:rPr>
                        <a:t>日 用例评审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sz="1200" b="0">
                          <a:solidFill>
                            <a:srgbClr val="333333"/>
                          </a:solidFill>
                          <a:latin typeface="微软雅黑" panose="020B0503020204020204" charset="-122"/>
                          <a:ea typeface="微软雅黑" panose="020B0503020204020204" charset="-122"/>
                          <a:cs typeface="微软雅黑" panose="020B0503020204020204" charset="-122"/>
                        </a:rPr>
                        <a:t>10月</a:t>
                      </a:r>
                      <a:r>
                        <a:rPr lang="en-US" sz="1200" b="0">
                          <a:solidFill>
                            <a:srgbClr val="333333"/>
                          </a:solidFill>
                          <a:latin typeface="微软雅黑" panose="020B0503020204020204" charset="-122"/>
                          <a:ea typeface="微软雅黑" panose="020B0503020204020204" charset="-122"/>
                          <a:cs typeface="微软雅黑" panose="020B0503020204020204" charset="-122"/>
                        </a:rPr>
                        <a:t>23</a:t>
                      </a:r>
                      <a:r>
                        <a:rPr sz="1200" b="0">
                          <a:solidFill>
                            <a:srgbClr val="333333"/>
                          </a:solidFill>
                          <a:latin typeface="微软雅黑" panose="020B0503020204020204" charset="-122"/>
                          <a:ea typeface="微软雅黑" panose="020B0503020204020204" charset="-122"/>
                          <a:cs typeface="微软雅黑" panose="020B0503020204020204" charset="-122"/>
                        </a:rPr>
                        <a:t>日 代码评审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r h="650000">
                <a:tc vMerge="1">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项目验证</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2026年10月</a:t>
                      </a:r>
                      <a:r>
                        <a:rPr lang="en-US" sz="1200" b="0">
                          <a:solidFill>
                            <a:srgbClr val="333333"/>
                          </a:solidFill>
                          <a:latin typeface="微软雅黑" panose="020B0503020204020204" charset="-122"/>
                          <a:ea typeface="微软雅黑" panose="020B0503020204020204" charset="-122"/>
                          <a:cs typeface="微软雅黑" panose="020B0503020204020204" charset="-122"/>
                        </a:rPr>
                        <a:t>28</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a:t>
                      </a:r>
                      <a:r>
                        <a:rPr lang="en-US" sz="1200" b="0">
                          <a:solidFill>
                            <a:srgbClr val="333333"/>
                          </a:solidFill>
                          <a:latin typeface="微软雅黑" panose="020B0503020204020204" charset="-122"/>
                          <a:ea typeface="微软雅黑" panose="020B0503020204020204" charset="-122"/>
                          <a:cs typeface="微软雅黑" panose="020B0503020204020204" charset="-122"/>
                        </a:rPr>
                        <a:t>24</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40</a:t>
                      </a:r>
                      <a:r>
                        <a:rPr sz="1200" b="0">
                          <a:solidFill>
                            <a:srgbClr val="333333"/>
                          </a:solidFill>
                          <a:latin typeface="微软雅黑" panose="020B0503020204020204" charset="-122"/>
                          <a:ea typeface="微软雅黑" panose="020B0503020204020204" charset="-122"/>
                          <a:cs typeface="微软雅黑" panose="020B0503020204020204" charset="-122"/>
                        </a:rPr>
                        <a:t>（</a:t>
                      </a:r>
                      <a:r>
                        <a:rPr lang="en-US" sz="1200" b="0">
                          <a:solidFill>
                            <a:srgbClr val="333333"/>
                          </a:solidFill>
                          <a:latin typeface="微软雅黑" panose="020B0503020204020204" charset="-122"/>
                          <a:ea typeface="微软雅黑" panose="020B0503020204020204" charset="-122"/>
                          <a:cs typeface="微软雅黑" panose="020B0503020204020204" charset="-122"/>
                        </a:rPr>
                        <a:t>1.82</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20</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1</a:t>
                      </a:r>
                      <a:r>
                        <a:rPr lang="en-US" sz="1200" b="0">
                          <a:solidFill>
                            <a:srgbClr val="333333"/>
                          </a:solidFill>
                          <a:latin typeface="微软雅黑" panose="020B0503020204020204" charset="-122"/>
                          <a:ea typeface="微软雅黑" panose="020B0503020204020204" charset="-122"/>
                          <a:cs typeface="微软雅黑" panose="020B0503020204020204" charset="-122"/>
                        </a:rPr>
                        <a:t>0</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28</a:t>
                      </a:r>
                      <a:r>
                        <a:rPr sz="1200" b="0">
                          <a:solidFill>
                            <a:srgbClr val="333333"/>
                          </a:solidFill>
                          <a:latin typeface="微软雅黑" panose="020B0503020204020204" charset="-122"/>
                          <a:ea typeface="微软雅黑" panose="020B0503020204020204" charset="-122"/>
                          <a:cs typeface="微软雅黑" panose="020B0503020204020204" charset="-122"/>
                        </a:rPr>
                        <a:t>日 提测评审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sz="1200" b="0">
                          <a:solidFill>
                            <a:srgbClr val="333333"/>
                          </a:solidFill>
                          <a:latin typeface="微软雅黑" panose="020B0503020204020204" charset="-122"/>
                          <a:ea typeface="微软雅黑" panose="020B0503020204020204" charset="-122"/>
                          <a:cs typeface="微软雅黑" panose="020B0503020204020204" charset="-122"/>
                        </a:rPr>
                        <a:t>11月</a:t>
                      </a:r>
                      <a:r>
                        <a:rPr lang="en-US" sz="1200" b="0">
                          <a:solidFill>
                            <a:srgbClr val="333333"/>
                          </a:solidFill>
                          <a:latin typeface="微软雅黑" panose="020B0503020204020204" charset="-122"/>
                          <a:ea typeface="微软雅黑" panose="020B0503020204020204" charset="-122"/>
                          <a:cs typeface="微软雅黑" panose="020B0503020204020204" charset="-122"/>
                        </a:rPr>
                        <a:t>24</a:t>
                      </a:r>
                      <a:r>
                        <a:rPr sz="1200" b="0">
                          <a:solidFill>
                            <a:srgbClr val="333333"/>
                          </a:solidFill>
                          <a:latin typeface="微软雅黑" panose="020B0503020204020204" charset="-122"/>
                          <a:ea typeface="微软雅黑" panose="020B0503020204020204" charset="-122"/>
                          <a:cs typeface="微软雅黑" panose="020B0503020204020204" charset="-122"/>
                        </a:rPr>
                        <a:t>日 测试报告</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zh-CN" altLang="en-US" sz="1200" b="0">
                          <a:solidFill>
                            <a:srgbClr val="333333"/>
                          </a:solidFill>
                          <a:latin typeface="微软雅黑" panose="020B0503020204020204" charset="-122"/>
                          <a:ea typeface="微软雅黑" panose="020B0503020204020204" charset="-122"/>
                          <a:cs typeface="微软雅黑" panose="020B0503020204020204" charset="-122"/>
                        </a:rPr>
                        <a:t>敏捷测试，根据开发进度进行模块化测试</a:t>
                      </a:r>
                      <a:endParaRPr lang="zh-CN" altLang="en-US"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r>
              <a:tr h="650000">
                <a:tc vMerge="1">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结束阶段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项目结项</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2026年11月16日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a:t>
                      </a:r>
                      <a:r>
                        <a:rPr lang="en-US" sz="1200" b="0">
                          <a:solidFill>
                            <a:srgbClr val="333333"/>
                          </a:solidFill>
                          <a:latin typeface="微软雅黑" panose="020B0503020204020204" charset="-122"/>
                          <a:ea typeface="微软雅黑" panose="020B0503020204020204" charset="-122"/>
                          <a:cs typeface="微软雅黑" panose="020B0503020204020204" charset="-122"/>
                        </a:rPr>
                        <a:t>26</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5</a:t>
                      </a:r>
                      <a:r>
                        <a:rPr sz="1200" b="0">
                          <a:solidFill>
                            <a:srgbClr val="333333"/>
                          </a:solidFill>
                          <a:latin typeface="微软雅黑" panose="020B0503020204020204" charset="-122"/>
                          <a:ea typeface="微软雅黑" panose="020B0503020204020204" charset="-122"/>
                          <a:cs typeface="微软雅黑" panose="020B0503020204020204" charset="-122"/>
                        </a:rPr>
                        <a:t>（0.</a:t>
                      </a:r>
                      <a:r>
                        <a:rPr lang="en-US" sz="1200" b="0">
                          <a:solidFill>
                            <a:srgbClr val="333333"/>
                          </a:solidFill>
                          <a:latin typeface="微软雅黑" panose="020B0503020204020204" charset="-122"/>
                          <a:ea typeface="微软雅黑" panose="020B0503020204020204" charset="-122"/>
                          <a:cs typeface="微软雅黑" panose="020B0503020204020204" charset="-122"/>
                        </a:rPr>
                        <a:t>23</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9</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11月</a:t>
                      </a:r>
                      <a:r>
                        <a:rPr lang="en-US" sz="1200" b="0">
                          <a:solidFill>
                            <a:srgbClr val="333333"/>
                          </a:solidFill>
                          <a:latin typeface="微软雅黑" panose="020B0503020204020204" charset="-122"/>
                          <a:ea typeface="微软雅黑" panose="020B0503020204020204" charset="-122"/>
                          <a:cs typeface="微软雅黑" panose="020B0503020204020204" charset="-122"/>
                        </a:rPr>
                        <a:t>26</a:t>
                      </a:r>
                      <a:r>
                        <a:rPr sz="1200" b="0">
                          <a:solidFill>
                            <a:srgbClr val="333333"/>
                          </a:solidFill>
                          <a:latin typeface="微软雅黑" panose="020B0503020204020204" charset="-122"/>
                          <a:ea typeface="微软雅黑" panose="020B0503020204020204" charset="-122"/>
                          <a:cs typeface="微软雅黑" panose="020B0503020204020204" charset="-122"/>
                        </a:rPr>
                        <a:t>日 结项评审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r h="650000">
                <a:tc vMerge="1">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项目管理</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项目管理</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a:t>
                      </a:r>
                      <a:r>
                        <a:rPr lang="en-US" sz="1200" b="0">
                          <a:solidFill>
                            <a:srgbClr val="333333"/>
                          </a:solidFill>
                          <a:latin typeface="微软雅黑" panose="020B0503020204020204" charset="-122"/>
                          <a:ea typeface="微软雅黑" panose="020B0503020204020204" charset="-122"/>
                          <a:cs typeface="微软雅黑" panose="020B0503020204020204" charset="-122"/>
                        </a:rPr>
                        <a:t>7</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a:t>
                      </a:r>
                      <a:r>
                        <a:rPr lang="en-US" sz="1200" b="0">
                          <a:solidFill>
                            <a:srgbClr val="333333"/>
                          </a:solidFill>
                          <a:latin typeface="微软雅黑" panose="020B0503020204020204" charset="-122"/>
                          <a:ea typeface="微软雅黑" panose="020B0503020204020204" charset="-122"/>
                          <a:cs typeface="微软雅黑" panose="020B0503020204020204" charset="-122"/>
                        </a:rPr>
                        <a:t>26</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22</a:t>
                      </a:r>
                      <a:r>
                        <a:rPr sz="1200" b="0">
                          <a:solidFill>
                            <a:srgbClr val="333333"/>
                          </a:solidFill>
                          <a:latin typeface="微软雅黑" panose="020B0503020204020204" charset="-122"/>
                          <a:ea typeface="微软雅黑" panose="020B0503020204020204" charset="-122"/>
                          <a:cs typeface="微软雅黑" panose="020B0503020204020204" charset="-122"/>
                        </a:rPr>
                        <a:t>（1人月）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99</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r h="650000">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r>
                        <a:rPr sz="1200" b="1">
                          <a:solidFill>
                            <a:srgbClr val="333333"/>
                          </a:solidFill>
                          <a:latin typeface="微软雅黑" panose="020B0503020204020204" charset="-122"/>
                          <a:ea typeface="微软雅黑" panose="020B0503020204020204" charset="-122"/>
                        </a:rPr>
                        <a:t>合计</a:t>
                      </a:r>
                      <a:endParaRPr sz="1200" b="1">
                        <a:solidFill>
                          <a:srgbClr val="333333"/>
                        </a:solidFill>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r>
                        <a:rPr lang="en-US" sz="1200" b="1">
                          <a:solidFill>
                            <a:srgbClr val="333333"/>
                          </a:solidFill>
                          <a:latin typeface="微软雅黑" panose="020B0503020204020204" charset="-122"/>
                          <a:ea typeface="微软雅黑" panose="020B0503020204020204" charset="-122"/>
                          <a:cs typeface="微软雅黑" panose="020B0503020204020204" charset="-122"/>
                        </a:rPr>
                        <a:t>165</a:t>
                      </a:r>
                      <a:r>
                        <a:rPr sz="1200" b="1">
                          <a:solidFill>
                            <a:srgbClr val="333333"/>
                          </a:solidFill>
                          <a:latin typeface="微软雅黑" panose="020B0503020204020204" charset="-122"/>
                          <a:ea typeface="微软雅黑" panose="020B0503020204020204" charset="-122"/>
                          <a:cs typeface="微软雅黑" panose="020B0503020204020204" charset="-122"/>
                        </a:rPr>
                        <a:t>（</a:t>
                      </a:r>
                      <a:r>
                        <a:rPr lang="en-US" sz="1200" b="1">
                          <a:solidFill>
                            <a:srgbClr val="333333"/>
                          </a:solidFill>
                          <a:latin typeface="微软雅黑" panose="020B0503020204020204" charset="-122"/>
                          <a:ea typeface="微软雅黑" panose="020B0503020204020204" charset="-122"/>
                          <a:cs typeface="微软雅黑" panose="020B0503020204020204" charset="-122"/>
                        </a:rPr>
                        <a:t>7.5</a:t>
                      </a:r>
                      <a:r>
                        <a:rPr sz="1200" b="1">
                          <a:solidFill>
                            <a:srgbClr val="333333"/>
                          </a:solidFill>
                          <a:latin typeface="微软雅黑" panose="020B0503020204020204" charset="-122"/>
                          <a:ea typeface="微软雅黑" panose="020B0503020204020204" charset="-122"/>
                          <a:cs typeface="微软雅黑" panose="020B0503020204020204" charset="-122"/>
                        </a:rPr>
                        <a:t>人月）</a:t>
                      </a:r>
                      <a:endParaRPr sz="1200" b="1">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D9E2F3"/>
                    </a:solidFill>
                  </a:tcPr>
                </a:tc>
                <a:tc>
                  <a:txBody>
                    <a:bodyPr wrap="square"/>
                    <a:lstStyle/>
                    <a:p>
                      <a:pPr algn="l"/>
                      <a:r>
                        <a:rPr sz="1200" b="1">
                          <a:solidFill>
                            <a:srgbClr val="333333"/>
                          </a:solidFill>
                          <a:latin typeface="微软雅黑" panose="020B0503020204020204" charset="-122"/>
                          <a:ea typeface="微软雅黑" panose="020B0503020204020204" charset="-122"/>
                        </a:rPr>
                        <a:t>9</a:t>
                      </a:r>
                      <a:r>
                        <a:rPr lang="en-US" sz="1200" b="1">
                          <a:solidFill>
                            <a:srgbClr val="333333"/>
                          </a:solidFill>
                          <a:latin typeface="微软雅黑" panose="020B0503020204020204" charset="-122"/>
                          <a:ea typeface="微软雅黑" panose="020B0503020204020204" charset="-122"/>
                        </a:rPr>
                        <a:t>9</a:t>
                      </a:r>
                      <a:endParaRPr lang="en-US" sz="1200" b="1">
                        <a:solidFill>
                          <a:srgbClr val="333333"/>
                        </a:solidFill>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r>
            </a:tbl>
          </a:graphicData>
        </a:graphic>
      </p:graphicFrame>
      <p:sp>
        <p:nvSpPr>
          <p:cNvPr id="17" name="TextBox 16"/>
          <p:cNvSpPr txBox="1"/>
          <p:nvPr/>
        </p:nvSpPr>
        <p:spPr>
          <a:xfrm>
            <a:off x="400000" y="6300000"/>
            <a:ext cx="8000000" cy="400000"/>
          </a:xfrm>
          <a:prstGeom prst="rect">
            <a:avLst/>
          </a:prstGeom>
          <a:noFill/>
        </p:spPr>
        <p:txBody>
          <a:bodyPr wrap="square">
            <a:spAutoFit/>
          </a:bodyPr>
          <a:lstStyle/>
          <a:p>
            <a:r>
              <a:rPr sz="1000" b="0">
                <a:solidFill>
                  <a:srgbClr val="FF0000"/>
                </a:solidFill>
                <a:latin typeface="仿宋" panose="02010609060101010101" charset="-122"/>
                <a:ea typeface="仿宋" panose="02010609060101010101" charset="-122"/>
              </a:rPr>
              <a:t>注：1人月=22人天，1人天=8人时</a:t>
            </a:r>
            <a:endParaRPr sz="1000" b="0">
              <a:solidFill>
                <a:srgbClr val="FF0000"/>
              </a:solidFill>
              <a:latin typeface="仿宋" panose="02010609060101010101" charset="-122"/>
              <a:ea typeface="仿宋" panose="0201060906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项目规划 · 项目计划（合并）</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300000" y="1000000"/>
          <a:ext cx="10600000" cy="5200000"/>
        </p:xfrm>
        <a:graphic>
          <a:graphicData uri="http://schemas.openxmlformats.org/drawingml/2006/table">
            <a:tbl>
              <a:tblPr firstRow="1" bandRow="1"/>
              <a:tblGrid>
                <a:gridCol w="900000"/>
                <a:gridCol w="1000000"/>
                <a:gridCol w="1100000"/>
                <a:gridCol w="1600000"/>
                <a:gridCol w="1600000"/>
                <a:gridCol w="1500000"/>
                <a:gridCol w="900000"/>
                <a:gridCol w="2000000"/>
              </a:tblGrid>
              <a:tr h="650000">
                <a:tc>
                  <a:txBody>
                    <a:bodyPr wrap="square"/>
                    <a:lstStyle/>
                    <a:p>
                      <a:pPr algn="ctr"/>
                      <a:r>
                        <a:rPr sz="1200" b="1">
                          <a:solidFill>
                            <a:srgbClr val="FFFFFF"/>
                          </a:solidFill>
                          <a:latin typeface="微软雅黑" panose="020B0503020204020204" charset="-122"/>
                          <a:ea typeface="微软雅黑" panose="020B0503020204020204" charset="-122"/>
                        </a:rPr>
                        <a:t>版本</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阶段</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主要活动</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计划开始时间</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计划结束时间</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成本（人天）</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工作日（天）</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200" b="1">
                          <a:solidFill>
                            <a:srgbClr val="FFFFFF"/>
                          </a:solidFill>
                          <a:latin typeface="微软雅黑" panose="020B0503020204020204" charset="-122"/>
                          <a:ea typeface="微软雅黑" panose="020B0503020204020204" charset="-122"/>
                        </a:rPr>
                        <a:t>里程碑</a:t>
                      </a:r>
                      <a:endParaRPr sz="12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650000">
                <a:tc rowSpan="6">
                  <a:txBody>
                    <a:bodyPr wrap="square"/>
                    <a:lstStyle/>
                    <a:p>
                      <a:pPr algn="ctr"/>
                      <a:r>
                        <a:rPr sz="1200" b="0">
                          <a:solidFill>
                            <a:srgbClr val="333333"/>
                          </a:solidFill>
                          <a:latin typeface="微软雅黑" panose="020B0503020204020204" charset="-122"/>
                          <a:ea typeface="微软雅黑" panose="020B0503020204020204" charset="-122"/>
                        </a:rPr>
                        <a:t>1.4&amp;1.1</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启动阶段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项目立项</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a:t>
                      </a:r>
                      <a:r>
                        <a:rPr lang="en-US" sz="1200" b="0">
                          <a:solidFill>
                            <a:srgbClr val="333333"/>
                          </a:solidFill>
                          <a:latin typeface="微软雅黑" panose="020B0503020204020204" charset="-122"/>
                          <a:ea typeface="微软雅黑" panose="020B0503020204020204" charset="-122"/>
                          <a:cs typeface="微软雅黑" panose="020B0503020204020204" charset="-122"/>
                        </a:rPr>
                        <a:t>7</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2026年7月1</a:t>
                      </a:r>
                      <a:r>
                        <a:rPr lang="en-US" sz="1200" b="0">
                          <a:solidFill>
                            <a:srgbClr val="333333"/>
                          </a:solidFill>
                          <a:latin typeface="微软雅黑" panose="020B0503020204020204" charset="-122"/>
                          <a:ea typeface="微软雅黑" panose="020B0503020204020204" charset="-122"/>
                          <a:cs typeface="微软雅黑" panose="020B0503020204020204" charset="-122"/>
                        </a:rPr>
                        <a:t>0</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4</a:t>
                      </a:r>
                      <a:r>
                        <a:rPr sz="1200" b="0">
                          <a:solidFill>
                            <a:srgbClr val="333333"/>
                          </a:solidFill>
                          <a:latin typeface="微软雅黑" panose="020B0503020204020204" charset="-122"/>
                          <a:ea typeface="微软雅黑" panose="020B0503020204020204" charset="-122"/>
                          <a:cs typeface="微软雅黑" panose="020B0503020204020204" charset="-122"/>
                        </a:rPr>
                        <a:t>（0.</a:t>
                      </a:r>
                      <a:r>
                        <a:rPr lang="en-US" sz="1200" b="0">
                          <a:solidFill>
                            <a:srgbClr val="333333"/>
                          </a:solidFill>
                          <a:latin typeface="微软雅黑" panose="020B0503020204020204" charset="-122"/>
                          <a:ea typeface="微软雅黑" panose="020B0503020204020204" charset="-122"/>
                          <a:cs typeface="微软雅黑" panose="020B0503020204020204" charset="-122"/>
                        </a:rPr>
                        <a:t>18</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4</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立项评审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650000">
                <a:tc vMerge="1">
                  <a:tcPr marL="50800" marR="50800" marT="25400" marB="25400" anchor="ctr">
                    <a:solidFill>
                      <a:srgbClr val="F2F5FC"/>
                    </a:solidFill>
                  </a:tcPr>
                </a:tc>
                <a:tc rowSpan="3">
                  <a:txBody>
                    <a:bodyPr wrap="square"/>
                    <a:lstStyle/>
                    <a:p>
                      <a:pPr algn="l"/>
                      <a:r>
                        <a:rPr sz="1200" b="0">
                          <a:solidFill>
                            <a:srgbClr val="333333"/>
                          </a:solidFill>
                          <a:latin typeface="微软雅黑" panose="020B0503020204020204" charset="-122"/>
                          <a:ea typeface="微软雅黑" panose="020B0503020204020204" charset="-122"/>
                        </a:rPr>
                        <a:t>建设阶段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项目设计</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2026年7月1</a:t>
                      </a:r>
                      <a:r>
                        <a:rPr lang="en-US" sz="1200" b="0">
                          <a:solidFill>
                            <a:srgbClr val="333333"/>
                          </a:solidFill>
                          <a:latin typeface="微软雅黑" panose="020B0503020204020204" charset="-122"/>
                          <a:ea typeface="微软雅黑" panose="020B0503020204020204" charset="-122"/>
                          <a:cs typeface="微软雅黑" panose="020B0503020204020204" charset="-122"/>
                        </a:rPr>
                        <a:t>3</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2026年8月</a:t>
                      </a:r>
                      <a:r>
                        <a:rPr lang="en-US" sz="1200" b="0">
                          <a:solidFill>
                            <a:srgbClr val="333333"/>
                          </a:solidFill>
                          <a:latin typeface="微软雅黑" panose="020B0503020204020204" charset="-122"/>
                          <a:ea typeface="微软雅黑" panose="020B0503020204020204" charset="-122"/>
                          <a:cs typeface="微软雅黑" panose="020B0503020204020204" charset="-122"/>
                        </a:rPr>
                        <a:t>11</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36</a:t>
                      </a:r>
                      <a:r>
                        <a:rPr sz="1200" b="0">
                          <a:solidFill>
                            <a:srgbClr val="333333"/>
                          </a:solidFill>
                          <a:latin typeface="微软雅黑" panose="020B0503020204020204" charset="-122"/>
                          <a:ea typeface="微软雅黑" panose="020B0503020204020204" charset="-122"/>
                          <a:cs typeface="微软雅黑" panose="020B0503020204020204" charset="-122"/>
                        </a:rPr>
                        <a:t>（</a:t>
                      </a:r>
                      <a:r>
                        <a:rPr lang="en-US" sz="1200" b="0">
                          <a:solidFill>
                            <a:srgbClr val="333333"/>
                          </a:solidFill>
                          <a:latin typeface="微软雅黑" panose="020B0503020204020204" charset="-122"/>
                          <a:ea typeface="微软雅黑" panose="020B0503020204020204" charset="-122"/>
                          <a:cs typeface="微软雅黑" panose="020B0503020204020204" charset="-122"/>
                        </a:rPr>
                        <a:t>1.64</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22</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8</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4</a:t>
                      </a:r>
                      <a:r>
                        <a:rPr sz="1200" b="0">
                          <a:solidFill>
                            <a:srgbClr val="333333"/>
                          </a:solidFill>
                          <a:latin typeface="微软雅黑" panose="020B0503020204020204" charset="-122"/>
                          <a:ea typeface="微软雅黑" panose="020B0503020204020204" charset="-122"/>
                          <a:cs typeface="微软雅黑" panose="020B0503020204020204" charset="-122"/>
                        </a:rPr>
                        <a:t>日 原型评审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8</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11</a:t>
                      </a:r>
                      <a:r>
                        <a:rPr sz="1200" b="0">
                          <a:solidFill>
                            <a:srgbClr val="333333"/>
                          </a:solidFill>
                          <a:latin typeface="微软雅黑" panose="020B0503020204020204" charset="-122"/>
                          <a:ea typeface="微软雅黑" panose="020B0503020204020204" charset="-122"/>
                          <a:cs typeface="微软雅黑" panose="020B0503020204020204" charset="-122"/>
                        </a:rPr>
                        <a:t>日 概要设计评审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zh-CN" sz="1200" b="0">
                          <a:solidFill>
                            <a:srgbClr val="333333"/>
                          </a:solidFill>
                          <a:latin typeface="微软雅黑" panose="020B0503020204020204" charset="-122"/>
                          <a:ea typeface="微软雅黑" panose="020B0503020204020204" charset="-122"/>
                          <a:cs typeface="微软雅黑" panose="020B0503020204020204" charset="-122"/>
                        </a:rPr>
                        <a:t>开发环境统一</a:t>
                      </a:r>
                      <a:endParaRPr lang="zh-CN"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r>
              <a:tr h="650000">
                <a:tc vMerge="1">
                  <a:tcPr marL="50800" marR="50800" marT="25400" marB="25400" anchor="ctr">
                    <a:solidFill>
                      <a:srgbClr val="FFFFFF"/>
                    </a:solidFill>
                  </a:tcPr>
                </a:tc>
                <a:tc vMerge="1">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项目开发</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a:t>
                      </a:r>
                      <a:r>
                        <a:rPr lang="en-US" sz="1200" b="0">
                          <a:solidFill>
                            <a:srgbClr val="333333"/>
                          </a:solidFill>
                          <a:latin typeface="微软雅黑" panose="020B0503020204020204" charset="-122"/>
                          <a:ea typeface="微软雅黑" panose="020B0503020204020204" charset="-122"/>
                          <a:cs typeface="微软雅黑" panose="020B0503020204020204" charset="-122"/>
                        </a:rPr>
                        <a:t>8</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11</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2026年10月</a:t>
                      </a:r>
                      <a:r>
                        <a:rPr lang="en-US" sz="1200" b="0">
                          <a:solidFill>
                            <a:srgbClr val="333333"/>
                          </a:solidFill>
                          <a:latin typeface="微软雅黑" panose="020B0503020204020204" charset="-122"/>
                          <a:ea typeface="微软雅黑" panose="020B0503020204020204" charset="-122"/>
                          <a:cs typeface="微软雅黑" panose="020B0503020204020204" charset="-122"/>
                        </a:rPr>
                        <a:t>28</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1</a:t>
                      </a:r>
                      <a:r>
                        <a:rPr lang="en-US" sz="1200" b="0">
                          <a:solidFill>
                            <a:srgbClr val="333333"/>
                          </a:solidFill>
                          <a:latin typeface="微软雅黑" panose="020B0503020204020204" charset="-122"/>
                          <a:ea typeface="微软雅黑" panose="020B0503020204020204" charset="-122"/>
                          <a:cs typeface="微软雅黑" panose="020B0503020204020204" charset="-122"/>
                        </a:rPr>
                        <a:t>56</a:t>
                      </a:r>
                      <a:r>
                        <a:rPr sz="1200" b="0">
                          <a:solidFill>
                            <a:srgbClr val="333333"/>
                          </a:solidFill>
                          <a:latin typeface="微软雅黑" panose="020B0503020204020204" charset="-122"/>
                          <a:ea typeface="微软雅黑" panose="020B0503020204020204" charset="-122"/>
                          <a:cs typeface="微软雅黑" panose="020B0503020204020204" charset="-122"/>
                        </a:rPr>
                        <a:t>（</a:t>
                      </a:r>
                      <a:r>
                        <a:rPr lang="en-US" sz="1200" b="0">
                          <a:solidFill>
                            <a:srgbClr val="333333"/>
                          </a:solidFill>
                          <a:latin typeface="微软雅黑" panose="020B0503020204020204" charset="-122"/>
                          <a:ea typeface="微软雅黑" panose="020B0503020204020204" charset="-122"/>
                          <a:cs typeface="微软雅黑" panose="020B0503020204020204" charset="-122"/>
                        </a:rPr>
                        <a:t>7.1</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53</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10月2</a:t>
                      </a:r>
                      <a:r>
                        <a:rPr lang="en-US" sz="1200" b="0">
                          <a:solidFill>
                            <a:srgbClr val="333333"/>
                          </a:solidFill>
                          <a:latin typeface="微软雅黑" panose="020B0503020204020204" charset="-122"/>
                          <a:ea typeface="微软雅黑" panose="020B0503020204020204" charset="-122"/>
                          <a:cs typeface="微软雅黑" panose="020B0503020204020204" charset="-122"/>
                        </a:rPr>
                        <a:t>0</a:t>
                      </a:r>
                      <a:r>
                        <a:rPr sz="1200" b="0">
                          <a:solidFill>
                            <a:srgbClr val="333333"/>
                          </a:solidFill>
                          <a:latin typeface="微软雅黑" panose="020B0503020204020204" charset="-122"/>
                          <a:ea typeface="微软雅黑" panose="020B0503020204020204" charset="-122"/>
                          <a:cs typeface="微软雅黑" panose="020B0503020204020204" charset="-122"/>
                        </a:rPr>
                        <a:t>日 用例评审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sz="1200" b="0">
                          <a:solidFill>
                            <a:srgbClr val="333333"/>
                          </a:solidFill>
                          <a:latin typeface="微软雅黑" panose="020B0503020204020204" charset="-122"/>
                          <a:ea typeface="微软雅黑" panose="020B0503020204020204" charset="-122"/>
                          <a:cs typeface="微软雅黑" panose="020B0503020204020204" charset="-122"/>
                        </a:rPr>
                        <a:t>10月</a:t>
                      </a:r>
                      <a:r>
                        <a:rPr lang="en-US" sz="1200" b="0">
                          <a:solidFill>
                            <a:srgbClr val="333333"/>
                          </a:solidFill>
                          <a:latin typeface="微软雅黑" panose="020B0503020204020204" charset="-122"/>
                          <a:ea typeface="微软雅黑" panose="020B0503020204020204" charset="-122"/>
                          <a:cs typeface="微软雅黑" panose="020B0503020204020204" charset="-122"/>
                        </a:rPr>
                        <a:t>23</a:t>
                      </a:r>
                      <a:r>
                        <a:rPr sz="1200" b="0">
                          <a:solidFill>
                            <a:srgbClr val="333333"/>
                          </a:solidFill>
                          <a:latin typeface="微软雅黑" panose="020B0503020204020204" charset="-122"/>
                          <a:ea typeface="微软雅黑" panose="020B0503020204020204" charset="-122"/>
                          <a:cs typeface="微软雅黑" panose="020B0503020204020204" charset="-122"/>
                        </a:rPr>
                        <a:t>日 代码评审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r h="650000">
                <a:tc vMerge="1">
                  <a:tcPr marL="50800" marR="50800" marT="25400" marB="25400" anchor="ctr">
                    <a:solidFill>
                      <a:srgbClr val="F2F5FC"/>
                    </a:solidFill>
                  </a:tcPr>
                </a:tc>
                <a:tc vMerge="1">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项目验证</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2026年10月</a:t>
                      </a:r>
                      <a:r>
                        <a:rPr lang="en-US" sz="1200" b="0">
                          <a:solidFill>
                            <a:srgbClr val="333333"/>
                          </a:solidFill>
                          <a:latin typeface="微软雅黑" panose="020B0503020204020204" charset="-122"/>
                          <a:ea typeface="微软雅黑" panose="020B0503020204020204" charset="-122"/>
                          <a:cs typeface="微软雅黑" panose="020B0503020204020204" charset="-122"/>
                        </a:rPr>
                        <a:t>28</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a:t>
                      </a:r>
                      <a:r>
                        <a:rPr lang="en-US" sz="1200" b="0">
                          <a:solidFill>
                            <a:srgbClr val="333333"/>
                          </a:solidFill>
                          <a:latin typeface="微软雅黑" panose="020B0503020204020204" charset="-122"/>
                          <a:ea typeface="微软雅黑" panose="020B0503020204020204" charset="-122"/>
                          <a:cs typeface="微软雅黑" panose="020B0503020204020204" charset="-122"/>
                        </a:rPr>
                        <a:t>24</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80</a:t>
                      </a:r>
                      <a:r>
                        <a:rPr sz="1200" b="0">
                          <a:solidFill>
                            <a:srgbClr val="333333"/>
                          </a:solidFill>
                          <a:latin typeface="微软雅黑" panose="020B0503020204020204" charset="-122"/>
                          <a:ea typeface="微软雅黑" panose="020B0503020204020204" charset="-122"/>
                          <a:cs typeface="微软雅黑" panose="020B0503020204020204" charset="-122"/>
                        </a:rPr>
                        <a:t>（</a:t>
                      </a:r>
                      <a:r>
                        <a:rPr lang="en-US" sz="1200" b="0">
                          <a:solidFill>
                            <a:srgbClr val="333333"/>
                          </a:solidFill>
                          <a:latin typeface="微软雅黑" panose="020B0503020204020204" charset="-122"/>
                          <a:ea typeface="微软雅黑" panose="020B0503020204020204" charset="-122"/>
                          <a:cs typeface="微软雅黑" panose="020B0503020204020204" charset="-122"/>
                        </a:rPr>
                        <a:t>3.64</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20</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1</a:t>
                      </a:r>
                      <a:r>
                        <a:rPr lang="en-US" sz="1200" b="0">
                          <a:solidFill>
                            <a:srgbClr val="333333"/>
                          </a:solidFill>
                          <a:latin typeface="微软雅黑" panose="020B0503020204020204" charset="-122"/>
                          <a:ea typeface="微软雅黑" panose="020B0503020204020204" charset="-122"/>
                          <a:cs typeface="微软雅黑" panose="020B0503020204020204" charset="-122"/>
                        </a:rPr>
                        <a:t>0</a:t>
                      </a:r>
                      <a:r>
                        <a:rPr sz="1200" b="0">
                          <a:solidFill>
                            <a:srgbClr val="333333"/>
                          </a:solidFill>
                          <a:latin typeface="微软雅黑" panose="020B0503020204020204" charset="-122"/>
                          <a:ea typeface="微软雅黑" panose="020B0503020204020204" charset="-122"/>
                          <a:cs typeface="微软雅黑" panose="020B0503020204020204" charset="-122"/>
                        </a:rPr>
                        <a:t>月</a:t>
                      </a:r>
                      <a:r>
                        <a:rPr lang="en-US" sz="1200" b="0">
                          <a:solidFill>
                            <a:srgbClr val="333333"/>
                          </a:solidFill>
                          <a:latin typeface="微软雅黑" panose="020B0503020204020204" charset="-122"/>
                          <a:ea typeface="微软雅黑" panose="020B0503020204020204" charset="-122"/>
                          <a:cs typeface="微软雅黑" panose="020B0503020204020204" charset="-122"/>
                        </a:rPr>
                        <a:t>28</a:t>
                      </a:r>
                      <a:r>
                        <a:rPr sz="1200" b="0">
                          <a:solidFill>
                            <a:srgbClr val="333333"/>
                          </a:solidFill>
                          <a:latin typeface="微软雅黑" panose="020B0503020204020204" charset="-122"/>
                          <a:ea typeface="微软雅黑" panose="020B0503020204020204" charset="-122"/>
                          <a:cs typeface="微软雅黑" panose="020B0503020204020204" charset="-122"/>
                        </a:rPr>
                        <a:t>日 提测评审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sz="1200" b="0">
                          <a:solidFill>
                            <a:srgbClr val="333333"/>
                          </a:solidFill>
                          <a:latin typeface="微软雅黑" panose="020B0503020204020204" charset="-122"/>
                          <a:ea typeface="微软雅黑" panose="020B0503020204020204" charset="-122"/>
                          <a:cs typeface="微软雅黑" panose="020B0503020204020204" charset="-122"/>
                        </a:rPr>
                        <a:t>11月</a:t>
                      </a:r>
                      <a:r>
                        <a:rPr lang="en-US" sz="1200" b="0">
                          <a:solidFill>
                            <a:srgbClr val="333333"/>
                          </a:solidFill>
                          <a:latin typeface="微软雅黑" panose="020B0503020204020204" charset="-122"/>
                          <a:ea typeface="微软雅黑" panose="020B0503020204020204" charset="-122"/>
                          <a:cs typeface="微软雅黑" panose="020B0503020204020204" charset="-122"/>
                        </a:rPr>
                        <a:t>24</a:t>
                      </a:r>
                      <a:r>
                        <a:rPr sz="1200" b="0">
                          <a:solidFill>
                            <a:srgbClr val="333333"/>
                          </a:solidFill>
                          <a:latin typeface="微软雅黑" panose="020B0503020204020204" charset="-122"/>
                          <a:ea typeface="微软雅黑" panose="020B0503020204020204" charset="-122"/>
                          <a:cs typeface="微软雅黑" panose="020B0503020204020204" charset="-122"/>
                        </a:rPr>
                        <a:t>日 测试报告</a:t>
                      </a:r>
                      <a:endParaRPr sz="12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zh-CN" altLang="en-US" sz="1200" b="0">
                          <a:solidFill>
                            <a:srgbClr val="333333"/>
                          </a:solidFill>
                          <a:latin typeface="微软雅黑" panose="020B0503020204020204" charset="-122"/>
                          <a:ea typeface="微软雅黑" panose="020B0503020204020204" charset="-122"/>
                          <a:cs typeface="微软雅黑" panose="020B0503020204020204" charset="-122"/>
                        </a:rPr>
                        <a:t>敏捷测试，根据开发进度进行模块化测试</a:t>
                      </a:r>
                      <a:endParaRPr lang="zh-CN" altLang="en-US"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r>
              <a:tr h="650000">
                <a:tc vMerge="1">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结束阶段</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rPr>
                        <a:t>项目结项</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2026年11月16日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a:t>
                      </a:r>
                      <a:r>
                        <a:rPr lang="en-US" sz="1200" b="0">
                          <a:solidFill>
                            <a:srgbClr val="333333"/>
                          </a:solidFill>
                          <a:latin typeface="微软雅黑" panose="020B0503020204020204" charset="-122"/>
                          <a:ea typeface="微软雅黑" panose="020B0503020204020204" charset="-122"/>
                          <a:cs typeface="微软雅黑" panose="020B0503020204020204" charset="-122"/>
                        </a:rPr>
                        <a:t>26</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10</a:t>
                      </a:r>
                      <a:r>
                        <a:rPr sz="1200" b="0">
                          <a:solidFill>
                            <a:srgbClr val="333333"/>
                          </a:solidFill>
                          <a:latin typeface="微软雅黑" panose="020B0503020204020204" charset="-122"/>
                          <a:ea typeface="微软雅黑" panose="020B0503020204020204" charset="-122"/>
                          <a:cs typeface="微软雅黑" panose="020B0503020204020204" charset="-122"/>
                        </a:rPr>
                        <a:t>（0.</a:t>
                      </a:r>
                      <a:r>
                        <a:rPr lang="en-US" sz="1200" b="0">
                          <a:solidFill>
                            <a:srgbClr val="333333"/>
                          </a:solidFill>
                          <a:latin typeface="微软雅黑" panose="020B0503020204020204" charset="-122"/>
                          <a:ea typeface="微软雅黑" panose="020B0503020204020204" charset="-122"/>
                          <a:cs typeface="微软雅黑" panose="020B0503020204020204" charset="-122"/>
                        </a:rPr>
                        <a:t>45</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9</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11月</a:t>
                      </a:r>
                      <a:r>
                        <a:rPr lang="en-US" sz="1200" b="0">
                          <a:solidFill>
                            <a:srgbClr val="333333"/>
                          </a:solidFill>
                          <a:latin typeface="微软雅黑" panose="020B0503020204020204" charset="-122"/>
                          <a:ea typeface="微软雅黑" panose="020B0503020204020204" charset="-122"/>
                          <a:cs typeface="微软雅黑" panose="020B0503020204020204" charset="-122"/>
                        </a:rPr>
                        <a:t>26</a:t>
                      </a:r>
                      <a:r>
                        <a:rPr sz="1200" b="0">
                          <a:solidFill>
                            <a:srgbClr val="333333"/>
                          </a:solidFill>
                          <a:latin typeface="微软雅黑" panose="020B0503020204020204" charset="-122"/>
                          <a:ea typeface="微软雅黑" panose="020B0503020204020204" charset="-122"/>
                          <a:cs typeface="微软雅黑" panose="020B0503020204020204" charset="-122"/>
                        </a:rPr>
                        <a:t>日 结项评审</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r>
              <a:tr h="650000">
                <a:tc vMerge="1">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项目管理</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rPr>
                        <a:t>项目管理</a:t>
                      </a:r>
                      <a:endParaRPr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2026年7月</a:t>
                      </a:r>
                      <a:r>
                        <a:rPr lang="en-US" sz="1200" b="0">
                          <a:solidFill>
                            <a:srgbClr val="333333"/>
                          </a:solidFill>
                          <a:latin typeface="微软雅黑" panose="020B0503020204020204" charset="-122"/>
                          <a:ea typeface="微软雅黑" panose="020B0503020204020204" charset="-122"/>
                          <a:cs typeface="微软雅黑" panose="020B0503020204020204" charset="-122"/>
                        </a:rPr>
                        <a:t>7</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sz="1200" b="0">
                          <a:solidFill>
                            <a:srgbClr val="333333"/>
                          </a:solidFill>
                          <a:latin typeface="微软雅黑" panose="020B0503020204020204" charset="-122"/>
                          <a:ea typeface="微软雅黑" panose="020B0503020204020204" charset="-122"/>
                          <a:cs typeface="微软雅黑" panose="020B0503020204020204" charset="-122"/>
                        </a:rPr>
                        <a:t>2026年11月</a:t>
                      </a:r>
                      <a:r>
                        <a:rPr lang="en-US" sz="1200" b="0">
                          <a:solidFill>
                            <a:srgbClr val="333333"/>
                          </a:solidFill>
                          <a:latin typeface="微软雅黑" panose="020B0503020204020204" charset="-122"/>
                          <a:ea typeface="微软雅黑" panose="020B0503020204020204" charset="-122"/>
                          <a:cs typeface="微软雅黑" panose="020B0503020204020204" charset="-122"/>
                        </a:rPr>
                        <a:t>26</a:t>
                      </a:r>
                      <a:r>
                        <a:rPr sz="1200" b="0">
                          <a:solidFill>
                            <a:srgbClr val="333333"/>
                          </a:solidFill>
                          <a:latin typeface="微软雅黑" panose="020B0503020204020204" charset="-122"/>
                          <a:ea typeface="微软雅黑" panose="020B0503020204020204" charset="-122"/>
                          <a:cs typeface="微软雅黑" panose="020B0503020204020204" charset="-122"/>
                        </a:rPr>
                        <a:t>日</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cs typeface="微软雅黑" panose="020B0503020204020204" charset="-122"/>
                        </a:rPr>
                        <a:t>44</a:t>
                      </a:r>
                      <a:r>
                        <a:rPr sz="1200" b="0">
                          <a:solidFill>
                            <a:srgbClr val="333333"/>
                          </a:solidFill>
                          <a:latin typeface="微软雅黑" panose="020B0503020204020204" charset="-122"/>
                          <a:ea typeface="微软雅黑" panose="020B0503020204020204" charset="-122"/>
                          <a:cs typeface="微软雅黑" panose="020B0503020204020204" charset="-122"/>
                        </a:rPr>
                        <a:t>（</a:t>
                      </a:r>
                      <a:r>
                        <a:rPr lang="en-US" sz="1200" b="0">
                          <a:solidFill>
                            <a:srgbClr val="333333"/>
                          </a:solidFill>
                          <a:latin typeface="微软雅黑" panose="020B0503020204020204" charset="-122"/>
                          <a:ea typeface="微软雅黑" panose="020B0503020204020204" charset="-122"/>
                          <a:cs typeface="微软雅黑" panose="020B0503020204020204" charset="-122"/>
                        </a:rPr>
                        <a:t>2</a:t>
                      </a:r>
                      <a:r>
                        <a:rPr sz="1200" b="0">
                          <a:solidFill>
                            <a:srgbClr val="333333"/>
                          </a:solidFill>
                          <a:latin typeface="微软雅黑" panose="020B0503020204020204" charset="-122"/>
                          <a:ea typeface="微软雅黑" panose="020B0503020204020204" charset="-122"/>
                          <a:cs typeface="微软雅黑" panose="020B0503020204020204" charset="-122"/>
                        </a:rPr>
                        <a:t>人月）</a:t>
                      </a:r>
                      <a:endParaRPr sz="12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2F5FC"/>
                    </a:solidFill>
                  </a:tcPr>
                </a:tc>
                <a:tc>
                  <a:txBody>
                    <a:bodyPr wrap="square"/>
                    <a:lstStyle/>
                    <a:p>
                      <a:pPr algn="l"/>
                      <a:r>
                        <a:rPr lang="en-US" sz="1200" b="0">
                          <a:solidFill>
                            <a:srgbClr val="333333"/>
                          </a:solidFill>
                          <a:latin typeface="微软雅黑" panose="020B0503020204020204" charset="-122"/>
                          <a:ea typeface="微软雅黑" panose="020B0503020204020204" charset="-122"/>
                        </a:rPr>
                        <a:t>99</a:t>
                      </a:r>
                      <a:endParaRPr lang="en-US" sz="12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F2F5FC"/>
                    </a:solidFill>
                  </a:tcPr>
                </a:tc>
              </a:tr>
              <a:tr h="650000">
                <a:tc>
                  <a:txBody>
                    <a:bodyPr wrap="square"/>
                    <a:lstStyle/>
                    <a:p>
                      <a:pPr algn="ctr"/>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r>
                        <a:rPr sz="1200" b="1">
                          <a:solidFill>
                            <a:srgbClr val="333333"/>
                          </a:solidFill>
                          <a:latin typeface="微软雅黑" panose="020B0503020204020204" charset="-122"/>
                          <a:ea typeface="微软雅黑" panose="020B0503020204020204" charset="-122"/>
                        </a:rPr>
                        <a:t>合计</a:t>
                      </a:r>
                      <a:endParaRPr sz="1200" b="1">
                        <a:solidFill>
                          <a:srgbClr val="333333"/>
                        </a:solidFill>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r>
                        <a:rPr lang="en-US" sz="1200" b="1">
                          <a:solidFill>
                            <a:srgbClr val="333333"/>
                          </a:solidFill>
                          <a:latin typeface="微软雅黑" panose="020B0503020204020204" charset="-122"/>
                          <a:ea typeface="微软雅黑" panose="020B0503020204020204" charset="-122"/>
                          <a:cs typeface="微软雅黑" panose="020B0503020204020204" charset="-122"/>
                        </a:rPr>
                        <a:t>330</a:t>
                      </a:r>
                      <a:r>
                        <a:rPr sz="1200" b="1">
                          <a:solidFill>
                            <a:srgbClr val="333333"/>
                          </a:solidFill>
                          <a:latin typeface="微软雅黑" panose="020B0503020204020204" charset="-122"/>
                          <a:ea typeface="微软雅黑" panose="020B0503020204020204" charset="-122"/>
                          <a:cs typeface="微软雅黑" panose="020B0503020204020204" charset="-122"/>
                        </a:rPr>
                        <a:t>（1</a:t>
                      </a:r>
                      <a:r>
                        <a:rPr lang="en-US" sz="1200" b="1">
                          <a:solidFill>
                            <a:srgbClr val="333333"/>
                          </a:solidFill>
                          <a:latin typeface="微软雅黑" panose="020B0503020204020204" charset="-122"/>
                          <a:ea typeface="微软雅黑" panose="020B0503020204020204" charset="-122"/>
                          <a:cs typeface="微软雅黑" panose="020B0503020204020204" charset="-122"/>
                        </a:rPr>
                        <a:t>5</a:t>
                      </a:r>
                      <a:r>
                        <a:rPr sz="1200" b="1">
                          <a:solidFill>
                            <a:srgbClr val="333333"/>
                          </a:solidFill>
                          <a:latin typeface="微软雅黑" panose="020B0503020204020204" charset="-122"/>
                          <a:ea typeface="微软雅黑" panose="020B0503020204020204" charset="-122"/>
                          <a:cs typeface="微软雅黑" panose="020B0503020204020204" charset="-122"/>
                        </a:rPr>
                        <a:t>人月）</a:t>
                      </a:r>
                      <a:endParaRPr sz="1200" b="1">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D9E2F3"/>
                    </a:solidFill>
                  </a:tcPr>
                </a:tc>
                <a:tc>
                  <a:txBody>
                    <a:bodyPr wrap="square"/>
                    <a:lstStyle/>
                    <a:p>
                      <a:pPr algn="l"/>
                      <a:r>
                        <a:rPr sz="1200" b="1">
                          <a:solidFill>
                            <a:srgbClr val="333333"/>
                          </a:solidFill>
                          <a:latin typeface="微软雅黑" panose="020B0503020204020204" charset="-122"/>
                          <a:ea typeface="微软雅黑" panose="020B0503020204020204" charset="-122"/>
                        </a:rPr>
                        <a:t>9</a:t>
                      </a:r>
                      <a:r>
                        <a:rPr lang="en-US" sz="1200" b="1">
                          <a:solidFill>
                            <a:srgbClr val="333333"/>
                          </a:solidFill>
                          <a:latin typeface="微软雅黑" panose="020B0503020204020204" charset="-122"/>
                          <a:ea typeface="微软雅黑" panose="020B0503020204020204" charset="-122"/>
                        </a:rPr>
                        <a:t>9</a:t>
                      </a:r>
                      <a:endParaRPr lang="en-US" sz="1200" b="1">
                        <a:solidFill>
                          <a:srgbClr val="333333"/>
                        </a:solidFill>
                        <a:latin typeface="微软雅黑" panose="020B0503020204020204" charset="-122"/>
                        <a:ea typeface="微软雅黑" panose="020B0503020204020204" charset="-122"/>
                      </a:endParaRPr>
                    </a:p>
                  </a:txBody>
                  <a:tcPr marL="50800" marR="50800" marT="25400" marB="25400" anchor="ctr">
                    <a:solidFill>
                      <a:srgbClr val="D9E2F3"/>
                    </a:solidFill>
                  </a:tcPr>
                </a:tc>
                <a:tc>
                  <a:txBody>
                    <a:bodyPr wrap="square"/>
                    <a:lstStyle/>
                    <a:p>
                      <a:pPr algn="l"/>
                      <a:endParaRPr sz="1600">
                        <a:latin typeface="微软雅黑" panose="020B0503020204020204" charset="-122"/>
                        <a:ea typeface="微软雅黑" panose="020B0503020204020204" charset="-122"/>
                      </a:endParaRPr>
                    </a:p>
                  </a:txBody>
                  <a:tcPr marL="50800" marR="50800" marT="25400" marB="25400" anchor="ctr">
                    <a:solidFill>
                      <a:srgbClr val="D9E2F3"/>
                    </a:solidFill>
                  </a:tcPr>
                </a:tc>
              </a:tr>
            </a:tbl>
          </a:graphicData>
        </a:graphic>
      </p:graphicFrame>
      <p:sp>
        <p:nvSpPr>
          <p:cNvPr id="17" name="TextBox 16"/>
          <p:cNvSpPr txBox="1"/>
          <p:nvPr/>
        </p:nvSpPr>
        <p:spPr>
          <a:xfrm>
            <a:off x="400000" y="6300000"/>
            <a:ext cx="8000000" cy="400000"/>
          </a:xfrm>
          <a:prstGeom prst="rect">
            <a:avLst/>
          </a:prstGeom>
          <a:noFill/>
        </p:spPr>
        <p:txBody>
          <a:bodyPr wrap="square">
            <a:spAutoFit/>
          </a:bodyPr>
          <a:lstStyle/>
          <a:p>
            <a:r>
              <a:rPr sz="1000" b="0">
                <a:solidFill>
                  <a:srgbClr val="FF0000"/>
                </a:solidFill>
                <a:latin typeface="仿宋" panose="02010609060101010101" charset="-122"/>
                <a:ea typeface="仿宋" panose="02010609060101010101" charset="-122"/>
              </a:rPr>
              <a:t>注：1人月=22人天，1人天=8人时</a:t>
            </a:r>
            <a:endParaRPr sz="1000" b="0">
              <a:solidFill>
                <a:srgbClr val="FF0000"/>
              </a:solidFill>
              <a:latin typeface="仿宋" panose="02010609060101010101" charset="-122"/>
              <a:ea typeface="仿宋" panose="0201060906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项目规划 · 依赖系统</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496470" y="1000000"/>
          <a:ext cx="11200130" cy="5485765"/>
        </p:xfrm>
        <a:graphic>
          <a:graphicData uri="http://schemas.openxmlformats.org/drawingml/2006/table">
            <a:tbl>
              <a:tblPr firstRow="1" bandRow="1"/>
              <a:tblGrid>
                <a:gridCol w="2000000"/>
                <a:gridCol w="2000000"/>
                <a:gridCol w="1200000"/>
                <a:gridCol w="1200000"/>
                <a:gridCol w="2200000"/>
                <a:gridCol w="2600000"/>
              </a:tblGrid>
              <a:tr h="685714">
                <a:tc>
                  <a:txBody>
                    <a:bodyPr wrap="square"/>
                    <a:lstStyle/>
                    <a:p>
                      <a:pPr algn="ctr"/>
                      <a:r>
                        <a:rPr sz="1400" b="1">
                          <a:solidFill>
                            <a:srgbClr val="FFFFFF"/>
                          </a:solidFill>
                          <a:latin typeface="微软雅黑" panose="020B0503020204020204" charset="-122"/>
                          <a:ea typeface="微软雅黑" panose="020B0503020204020204" charset="-122"/>
                        </a:rPr>
                        <a:t>项目名称</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版本号</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负责人</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对接日期</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问题风险</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备注</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685714">
                <a:tc>
                  <a:txBody>
                    <a:bodyPr wrap="square"/>
                    <a:lstStyle/>
                    <a:p>
                      <a:pPr algn="ctr"/>
                      <a:r>
                        <a:rPr sz="1400" b="0">
                          <a:solidFill>
                            <a:srgbClr val="333333"/>
                          </a:solidFill>
                          <a:latin typeface="微软雅黑" panose="020B0503020204020204" charset="-122"/>
                          <a:ea typeface="微软雅黑" panose="020B0503020204020204" charset="-122"/>
                        </a:rPr>
                        <a:t>综合运维</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以公共开发环境为准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魏子钧</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685714">
                <a:tc>
                  <a:txBody>
                    <a:bodyPr wrap="square"/>
                    <a:lstStyle/>
                    <a:p>
                      <a:pPr algn="ctr"/>
                      <a:r>
                        <a:rPr sz="1400" b="0">
                          <a:solidFill>
                            <a:srgbClr val="333333"/>
                          </a:solidFill>
                          <a:latin typeface="微软雅黑" panose="020B0503020204020204" charset="-122"/>
                          <a:ea typeface="微软雅黑" panose="020B0503020204020204" charset="-122"/>
                        </a:rPr>
                        <a:t>统一网关</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以公共开发环境为准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魏子钧</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685714">
                <a:tc>
                  <a:txBody>
                    <a:bodyPr/>
                    <a:p>
                      <a:pPr algn="ctr">
                        <a:buNone/>
                      </a:pPr>
                      <a:r>
                        <a:rPr lang="zh-CN" altLang="en-US" sz="1400" b="0">
                          <a:solidFill>
                            <a:srgbClr val="333333"/>
                          </a:solidFill>
                          <a:latin typeface="微软雅黑" panose="020B0503020204020204" charset="-122"/>
                          <a:ea typeface="微软雅黑" panose="020B0503020204020204" charset="-122"/>
                        </a:rPr>
                        <a:t>主数据系统</a:t>
                      </a:r>
                      <a:endParaRPr lang="zh-CN" altLang="en-US"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a:p>
                      <a:pPr algn="l"/>
                      <a:r>
                        <a:rPr sz="1400" b="0">
                          <a:solidFill>
                            <a:srgbClr val="333333"/>
                          </a:solidFill>
                          <a:latin typeface="微软雅黑" panose="020B0503020204020204" charset="-122"/>
                          <a:ea typeface="微软雅黑" panose="020B0503020204020204" charset="-122"/>
                        </a:rPr>
                        <a:t>以公共开发环境为准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a:p>
                      <a:pPr algn="l"/>
                      <a:r>
                        <a:rPr lang="zh-CN" sz="1400" b="0">
                          <a:solidFill>
                            <a:srgbClr val="333333"/>
                          </a:solidFill>
                          <a:latin typeface="微软雅黑" panose="020B0503020204020204" charset="-122"/>
                          <a:ea typeface="微软雅黑" panose="020B0503020204020204" charset="-122"/>
                        </a:rPr>
                        <a:t>梅娟</a:t>
                      </a:r>
                      <a:endParaRPr lang="zh-CN"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685714">
                <a:tc>
                  <a:txBody>
                    <a:bodyPr wrap="square"/>
                    <a:lstStyle/>
                    <a:p>
                      <a:pPr algn="ctr"/>
                      <a:r>
                        <a:rPr lang="zh-CN" sz="1400" b="0">
                          <a:solidFill>
                            <a:srgbClr val="333333"/>
                          </a:solidFill>
                          <a:latin typeface="微软雅黑" panose="020B0503020204020204" charset="-122"/>
                          <a:ea typeface="微软雅黑" panose="020B0503020204020204" charset="-122"/>
                        </a:rPr>
                        <a:t>数据中台</a:t>
                      </a:r>
                      <a:endParaRPr lang="zh-CN"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以公共开发环境为准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李彬槐</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lang="en-US" altLang="zh-CN" sz="1400" b="0">
                          <a:solidFill>
                            <a:srgbClr val="333333"/>
                          </a:solidFill>
                          <a:latin typeface="微软雅黑" panose="020B0503020204020204" charset="-122"/>
                          <a:ea typeface="微软雅黑" panose="020B0503020204020204" charset="-122"/>
                        </a:rPr>
                        <a:t>-</a:t>
                      </a:r>
                      <a:endParaRPr lang="en-US" altLang="zh-CN"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685714">
                <a:tc>
                  <a:txBody>
                    <a:bodyPr wrap="square"/>
                    <a:lstStyle/>
                    <a:p>
                      <a:pPr algn="ctr"/>
                      <a:r>
                        <a:rPr sz="1400" b="0">
                          <a:solidFill>
                            <a:srgbClr val="333333"/>
                          </a:solidFill>
                          <a:latin typeface="微软雅黑" panose="020B0503020204020204" charset="-122"/>
                          <a:ea typeface="微软雅黑" panose="020B0503020204020204" charset="-122"/>
                        </a:rPr>
                        <a:t>鲸落平台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以公共开发环境为准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杨薛情</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lang="en-US" altLang="zh-CN" sz="1400" b="0">
                          <a:solidFill>
                            <a:srgbClr val="333333"/>
                          </a:solidFill>
                          <a:latin typeface="微软雅黑" panose="020B0503020204020204" charset="-122"/>
                          <a:ea typeface="微软雅黑" panose="020B0503020204020204" charset="-122"/>
                        </a:rPr>
                        <a:t>-</a:t>
                      </a:r>
                      <a:endParaRPr lang="en-US" altLang="zh-CN"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r h="685714">
                <a:tc>
                  <a:txBody>
                    <a:bodyPr wrap="square"/>
                    <a:lstStyle/>
                    <a:p>
                      <a:pPr algn="ctr"/>
                      <a:r>
                        <a:rPr sz="1400" b="0">
                          <a:solidFill>
                            <a:srgbClr val="333333"/>
                          </a:solidFill>
                          <a:latin typeface="微软雅黑" panose="020B0503020204020204" charset="-122"/>
                          <a:ea typeface="微软雅黑" panose="020B0503020204020204" charset="-122"/>
                          <a:cs typeface="微软雅黑" panose="020B0503020204020204" charset="-122"/>
                        </a:rPr>
                        <a:t>AI中台</a:t>
                      </a:r>
                      <a:endParaRPr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以公共开发环境为准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lang="zh-CN" sz="1400" b="0">
                          <a:solidFill>
                            <a:srgbClr val="333333"/>
                          </a:solidFill>
                          <a:latin typeface="微软雅黑" panose="020B0503020204020204" charset="-122"/>
                          <a:ea typeface="微软雅黑" panose="020B0503020204020204" charset="-122"/>
                        </a:rPr>
                        <a:t>古绍俊</a:t>
                      </a:r>
                      <a:endParaRPr lang="zh-CN"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r>
              <a:tr h="685716">
                <a:tc>
                  <a:txBody>
                    <a:bodyPr wrap="square"/>
                    <a:lstStyle/>
                    <a:p>
                      <a:pPr algn="ctr"/>
                      <a:r>
                        <a:rPr sz="1400" b="0">
                          <a:solidFill>
                            <a:srgbClr val="333333"/>
                          </a:solidFill>
                          <a:latin typeface="微软雅黑" panose="020B0503020204020204" charset="-122"/>
                          <a:ea typeface="微软雅黑" panose="020B0503020204020204" charset="-122"/>
                        </a:rPr>
                        <a:t>低代码平台</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以公共开发环境为准</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lang="zh-CN" sz="1400">
                          <a:solidFill>
                            <a:srgbClr val="333333"/>
                          </a:solidFill>
                          <a:latin typeface="微软雅黑" panose="020B0503020204020204" charset="-122"/>
                          <a:ea typeface="微软雅黑" panose="020B0503020204020204" charset="-122"/>
                          <a:sym typeface="+mn-ea"/>
                        </a:rPr>
                        <a:t>古绍俊</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整合低代码平台进行视图自定义配置</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概况视图可视化拖拽配置</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项目规划 · 问题风险</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400000" y="1000000"/>
          <a:ext cx="11000000" cy="4500000"/>
        </p:xfrm>
        <a:graphic>
          <a:graphicData uri="http://schemas.openxmlformats.org/drawingml/2006/table">
            <a:tbl>
              <a:tblPr firstRow="1" bandRow="1"/>
              <a:tblGrid>
                <a:gridCol w="600000"/>
                <a:gridCol w="1500000"/>
                <a:gridCol w="3500000"/>
                <a:gridCol w="900000"/>
                <a:gridCol w="900000"/>
                <a:gridCol w="2000000"/>
                <a:gridCol w="800000"/>
                <a:gridCol w="800000"/>
              </a:tblGrid>
              <a:tr h="642857">
                <a:tc>
                  <a:txBody>
                    <a:bodyPr wrap="square"/>
                    <a:lstStyle/>
                    <a:p>
                      <a:pPr algn="ctr"/>
                      <a:r>
                        <a:rPr sz="1400" b="1">
                          <a:solidFill>
                            <a:srgbClr val="FFFFFF"/>
                          </a:solidFill>
                          <a:latin typeface="微软雅黑" panose="020B0503020204020204" charset="-122"/>
                          <a:ea typeface="微软雅黑" panose="020B0503020204020204" charset="-122"/>
                        </a:rPr>
                        <a:t>编号</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识别日期</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风险描述</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问题等级</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发生概率</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风险缓解措施</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状态</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跟踪人</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642857">
                <a:tc>
                  <a:txBody>
                    <a:bodyPr wrap="square"/>
                    <a:lstStyle/>
                    <a:p>
                      <a:pPr algn="ctr"/>
                      <a:r>
                        <a:rPr sz="1400" b="0">
                          <a:solidFill>
                            <a:srgbClr val="333333"/>
                          </a:solidFill>
                          <a:latin typeface="微软雅黑" panose="020B0503020204020204" charset="-122"/>
                          <a:ea typeface="微软雅黑" panose="020B0503020204020204" charset="-122"/>
                        </a:rPr>
                        <a:t>1</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lang="en-US" sz="1400" b="0">
                          <a:solidFill>
                            <a:srgbClr val="333333"/>
                          </a:solidFill>
                          <a:latin typeface="微软雅黑" panose="020B0503020204020204" charset="-122"/>
                          <a:ea typeface="微软雅黑" panose="020B0503020204020204" charset="-122"/>
                          <a:cs typeface="微软雅黑" panose="020B0503020204020204" charset="-122"/>
                        </a:rPr>
                        <a:t>2026</a:t>
                      </a:r>
                      <a:r>
                        <a:rPr lang="zh-CN" altLang="en-US" sz="1400" b="0">
                          <a:solidFill>
                            <a:srgbClr val="333333"/>
                          </a:solidFill>
                          <a:latin typeface="微软雅黑" panose="020B0503020204020204" charset="-122"/>
                          <a:ea typeface="微软雅黑" panose="020B0503020204020204" charset="-122"/>
                          <a:cs typeface="微软雅黑" panose="020B0503020204020204" charset="-122"/>
                        </a:rPr>
                        <a:t>年</a:t>
                      </a:r>
                      <a:r>
                        <a:rPr lang="en-US" altLang="zh-CN" sz="1400" b="0">
                          <a:solidFill>
                            <a:srgbClr val="333333"/>
                          </a:solidFill>
                          <a:latin typeface="微软雅黑" panose="020B0503020204020204" charset="-122"/>
                          <a:ea typeface="微软雅黑" panose="020B0503020204020204" charset="-122"/>
                          <a:cs typeface="微软雅黑" panose="020B0503020204020204" charset="-122"/>
                        </a:rPr>
                        <a:t>7</a:t>
                      </a:r>
                      <a:r>
                        <a:rPr lang="zh-CN" altLang="en-US" sz="1400" b="0">
                          <a:solidFill>
                            <a:srgbClr val="333333"/>
                          </a:solidFill>
                          <a:latin typeface="微软雅黑" panose="020B0503020204020204" charset="-122"/>
                          <a:ea typeface="微软雅黑" panose="020B0503020204020204" charset="-122"/>
                          <a:cs typeface="微软雅黑" panose="020B0503020204020204" charset="-122"/>
                        </a:rPr>
                        <a:t>月</a:t>
                      </a:r>
                      <a:r>
                        <a:rPr lang="en-US" altLang="zh-CN" sz="1400" b="0">
                          <a:solidFill>
                            <a:srgbClr val="333333"/>
                          </a:solidFill>
                          <a:latin typeface="微软雅黑" panose="020B0503020204020204" charset="-122"/>
                          <a:ea typeface="微软雅黑" panose="020B0503020204020204" charset="-122"/>
                          <a:cs typeface="微软雅黑" panose="020B0503020204020204" charset="-122"/>
                        </a:rPr>
                        <a:t>8</a:t>
                      </a:r>
                      <a:r>
                        <a:rPr lang="zh-CN" altLang="en-US" sz="1400" b="0">
                          <a:solidFill>
                            <a:srgbClr val="333333"/>
                          </a:solidFill>
                          <a:latin typeface="微软雅黑" panose="020B0503020204020204" charset="-122"/>
                          <a:ea typeface="微软雅黑" panose="020B0503020204020204" charset="-122"/>
                          <a:cs typeface="微软雅黑" panose="020B0503020204020204" charset="-122"/>
                        </a:rPr>
                        <a:t>日</a:t>
                      </a:r>
                      <a:endParaRPr lang="zh-CN" altLang="en-US"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zh-CN" sz="1400" b="0">
                          <a:solidFill>
                            <a:srgbClr val="333333"/>
                          </a:solidFill>
                          <a:latin typeface="微软雅黑" panose="020B0503020204020204" charset="-122"/>
                          <a:ea typeface="微软雅黑" panose="020B0503020204020204" charset="-122"/>
                        </a:rPr>
                        <a:t>依赖产品低代码平台进行</a:t>
                      </a:r>
                      <a:r>
                        <a:rPr lang="zh-CN" altLang="en-US" sz="1400" b="0">
                          <a:solidFill>
                            <a:srgbClr val="333333"/>
                          </a:solidFill>
                          <a:latin typeface="微软雅黑" panose="020B0503020204020204" charset="-122"/>
                          <a:ea typeface="微软雅黑" panose="020B0503020204020204" charset="-122"/>
                        </a:rPr>
                        <a:t>专项视图界面配置</a:t>
                      </a:r>
                      <a:r>
                        <a:rPr lang="zh-CN" sz="1400" b="0">
                          <a:solidFill>
                            <a:srgbClr val="333333"/>
                          </a:solidFill>
                          <a:latin typeface="微软雅黑" panose="020B0503020204020204" charset="-122"/>
                          <a:ea typeface="微软雅黑" panose="020B0503020204020204" charset="-122"/>
                        </a:rPr>
                        <a:t>需要进行改造</a:t>
                      </a:r>
                      <a:endParaRPr lang="zh-CN" altLang="en-US"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lang="zh-CN" sz="1400">
                          <a:solidFill>
                            <a:srgbClr val="333333"/>
                          </a:solidFill>
                          <a:latin typeface="微软雅黑" panose="020B0503020204020204" charset="-122"/>
                          <a:ea typeface="微软雅黑" panose="020B0503020204020204" charset="-122"/>
                          <a:sym typeface="+mn-ea"/>
                        </a:rPr>
                        <a:t>高</a:t>
                      </a:r>
                      <a:endParaRPr lang="zh-CN" sz="1400" b="0">
                        <a:solidFill>
                          <a:srgbClr val="333333"/>
                        </a:solidFill>
                        <a:latin typeface="微软雅黑" panose="020B0503020204020204" charset="-122"/>
                        <a:ea typeface="微软雅黑" panose="020B0503020204020204" charset="-122"/>
                        <a:sym typeface="+mn-ea"/>
                      </a:endParaRPr>
                    </a:p>
                  </a:txBody>
                  <a:tcPr marL="50800" marR="50800" marT="25400" marB="25400" anchor="ctr">
                    <a:solidFill>
                      <a:srgbClr val="FFFFFF"/>
                    </a:solidFill>
                  </a:tcPr>
                </a:tc>
                <a:tc>
                  <a:txBody>
                    <a:bodyPr wrap="square"/>
                    <a:lstStyle/>
                    <a:p>
                      <a:pPr algn="l"/>
                      <a:r>
                        <a:rPr lang="zh-CN" sz="1400" b="0">
                          <a:solidFill>
                            <a:srgbClr val="333333"/>
                          </a:solidFill>
                          <a:latin typeface="微软雅黑" panose="020B0503020204020204" charset="-122"/>
                          <a:ea typeface="微软雅黑" panose="020B0503020204020204" charset="-122"/>
                        </a:rPr>
                        <a:t>高</a:t>
                      </a:r>
                      <a:endParaRPr lang="zh-CN"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lang="en-US" altLang="zh-CN" sz="1400" b="0">
                          <a:solidFill>
                            <a:srgbClr val="333333"/>
                          </a:solidFill>
                          <a:latin typeface="微软雅黑" panose="020B0503020204020204" charset="-122"/>
                          <a:ea typeface="微软雅黑" panose="020B0503020204020204" charset="-122"/>
                          <a:cs typeface="微软雅黑" panose="020B0503020204020204" charset="-122"/>
                        </a:rPr>
                        <a:t>1</a:t>
                      </a:r>
                      <a:r>
                        <a:rPr lang="zh-CN" altLang="en-US" sz="1400" b="0">
                          <a:solidFill>
                            <a:srgbClr val="333333"/>
                          </a:solidFill>
                          <a:latin typeface="微软雅黑" panose="020B0503020204020204" charset="-122"/>
                          <a:ea typeface="微软雅黑" panose="020B0503020204020204" charset="-122"/>
                          <a:cs typeface="微软雅黑" panose="020B0503020204020204" charset="-122"/>
                        </a:rPr>
                        <a:t>、</a:t>
                      </a:r>
                      <a:r>
                        <a:rPr lang="en-US" altLang="zh-CN" sz="1400" b="0">
                          <a:solidFill>
                            <a:srgbClr val="333333"/>
                          </a:solidFill>
                          <a:latin typeface="微软雅黑" panose="020B0503020204020204" charset="-122"/>
                          <a:ea typeface="微软雅黑" panose="020B0503020204020204" charset="-122"/>
                          <a:cs typeface="微软雅黑" panose="020B0503020204020204" charset="-122"/>
                        </a:rPr>
                        <a:t>7.15</a:t>
                      </a:r>
                      <a:r>
                        <a:rPr lang="zh-CN" altLang="en-US" sz="1400" b="0">
                          <a:solidFill>
                            <a:srgbClr val="333333"/>
                          </a:solidFill>
                          <a:latin typeface="微软雅黑" panose="020B0503020204020204" charset="-122"/>
                          <a:ea typeface="微软雅黑" panose="020B0503020204020204" charset="-122"/>
                          <a:cs typeface="微软雅黑" panose="020B0503020204020204" charset="-122"/>
                        </a:rPr>
                        <a:t>之前对齐改造细节并锁定最终排期</a:t>
                      </a:r>
                      <a:endParaRPr lang="zh-CN" altLang="en-US" sz="14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en-US" altLang="zh-CN" sz="1400" b="0">
                          <a:solidFill>
                            <a:srgbClr val="333333"/>
                          </a:solidFill>
                          <a:latin typeface="微软雅黑" panose="020B0503020204020204" charset="-122"/>
                          <a:ea typeface="微软雅黑" panose="020B0503020204020204" charset="-122"/>
                          <a:cs typeface="微软雅黑" panose="020B0503020204020204" charset="-122"/>
                        </a:rPr>
                        <a:t>2</a:t>
                      </a:r>
                      <a:r>
                        <a:rPr lang="zh-CN" altLang="en-US" sz="1400" b="0">
                          <a:solidFill>
                            <a:srgbClr val="333333"/>
                          </a:solidFill>
                          <a:latin typeface="微软雅黑" panose="020B0503020204020204" charset="-122"/>
                          <a:ea typeface="微软雅黑" panose="020B0503020204020204" charset="-122"/>
                          <a:cs typeface="微软雅黑" panose="020B0503020204020204" charset="-122"/>
                        </a:rPr>
                        <a:t>、调整内部开发计划，将非依赖模块前置开发</a:t>
                      </a:r>
                      <a:endParaRPr lang="zh-CN" altLang="en-US" sz="1400" b="0">
                        <a:solidFill>
                          <a:srgbClr val="333333"/>
                        </a:solidFill>
                        <a:latin typeface="微软雅黑" panose="020B0503020204020204" charset="-122"/>
                        <a:ea typeface="微软雅黑" panose="020B0503020204020204" charset="-122"/>
                        <a:cs typeface="微软雅黑" panose="020B0503020204020204" charset="-122"/>
                      </a:endParaRPr>
                    </a:p>
                    <a:p>
                      <a:pPr algn="l"/>
                      <a:r>
                        <a:rPr lang="en-US" altLang="zh-CN" sz="1400" b="0">
                          <a:solidFill>
                            <a:srgbClr val="333333"/>
                          </a:solidFill>
                          <a:latin typeface="微软雅黑" panose="020B0503020204020204" charset="-122"/>
                          <a:ea typeface="微软雅黑" panose="020B0503020204020204" charset="-122"/>
                          <a:cs typeface="微软雅黑" panose="020B0503020204020204" charset="-122"/>
                        </a:rPr>
                        <a:t>3</a:t>
                      </a:r>
                      <a:r>
                        <a:rPr lang="zh-CN" altLang="en-US" sz="1400" b="0">
                          <a:solidFill>
                            <a:srgbClr val="333333"/>
                          </a:solidFill>
                          <a:latin typeface="微软雅黑" panose="020B0503020204020204" charset="-122"/>
                          <a:ea typeface="微软雅黑" panose="020B0503020204020204" charset="-122"/>
                          <a:cs typeface="微软雅黑" panose="020B0503020204020204" charset="-122"/>
                        </a:rPr>
                        <a:t>、风险改造点，安排专人每周跟进进度</a:t>
                      </a:r>
                      <a:endParaRPr lang="zh-CN" altLang="en-US" sz="1400" b="0">
                        <a:solidFill>
                          <a:srgbClr val="333333"/>
                        </a:solidFill>
                        <a:latin typeface="微软雅黑" panose="020B0503020204020204" charset="-122"/>
                        <a:ea typeface="微软雅黑" panose="020B0503020204020204" charset="-122"/>
                        <a:cs typeface="微软雅黑" panose="020B0503020204020204" charset="-122"/>
                      </a:endParaRPr>
                    </a:p>
                  </a:txBody>
                  <a:tcPr marL="50800" marR="50800" marT="25400" marB="25400" anchor="ctr">
                    <a:solidFill>
                      <a:srgbClr val="FFFFFF"/>
                    </a:solidFill>
                  </a:tcPr>
                </a:tc>
                <a:tc>
                  <a:txBody>
                    <a:bodyPr wrap="square"/>
                    <a:lstStyle/>
                    <a:p>
                      <a:pPr algn="l"/>
                      <a:r>
                        <a:rPr lang="zh-CN" sz="1400">
                          <a:latin typeface="微软雅黑" panose="020B0503020204020204" charset="-122"/>
                          <a:ea typeface="微软雅黑" panose="020B0503020204020204" charset="-122"/>
                        </a:rPr>
                        <a:t>跟进中</a:t>
                      </a:r>
                      <a:endParaRPr lang="zh-CN" sz="14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lang="zh-CN" sz="1400">
                          <a:latin typeface="微软雅黑" panose="020B0503020204020204" charset="-122"/>
                          <a:ea typeface="微软雅黑" panose="020B0503020204020204" charset="-122"/>
                        </a:rPr>
                        <a:t>吕雪</a:t>
                      </a:r>
                      <a:endParaRPr lang="zh-CN" sz="1400">
                        <a:latin typeface="微软雅黑" panose="020B0503020204020204" charset="-122"/>
                        <a:ea typeface="微软雅黑" panose="020B0503020204020204" charset="-122"/>
                      </a:endParaRPr>
                    </a:p>
                  </a:txBody>
                  <a:tcPr marL="50800" marR="50800" marT="25400" marB="25400" anchor="ctr">
                    <a:solidFill>
                      <a:srgbClr val="FFFFFF"/>
                    </a:solidFill>
                  </a:tcPr>
                </a:tc>
              </a:tr>
              <a:tr h="642857">
                <a:tc>
                  <a:txBody>
                    <a:bodyPr wrap="square"/>
                    <a:lstStyle/>
                    <a:p>
                      <a:pPr algn="ctr"/>
                      <a:r>
                        <a:rPr sz="1400" b="0">
                          <a:solidFill>
                            <a:srgbClr val="333333"/>
                          </a:solidFill>
                          <a:latin typeface="微软雅黑" panose="020B0503020204020204" charset="-122"/>
                          <a:ea typeface="微软雅黑" panose="020B0503020204020204" charset="-122"/>
                        </a:rPr>
                        <a:t>2</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r>
              <a:tr h="642857">
                <a:tc>
                  <a:txBody>
                    <a:bodyPr wrap="square"/>
                    <a:lstStyle/>
                    <a:p>
                      <a:pPr algn="ctr"/>
                      <a:r>
                        <a:rPr sz="1400" b="0">
                          <a:solidFill>
                            <a:srgbClr val="333333"/>
                          </a:solidFill>
                          <a:latin typeface="微软雅黑" panose="020B0503020204020204" charset="-122"/>
                          <a:ea typeface="微软雅黑" panose="020B0503020204020204" charset="-122"/>
                        </a:rPr>
                        <a:t>3</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r>
              <a:tr h="642857">
                <a:tc>
                  <a:txBody>
                    <a:bodyPr wrap="square"/>
                    <a:lstStyle/>
                    <a:p>
                      <a:pPr algn="ctr"/>
                      <a:r>
                        <a:rPr sz="1400" b="0">
                          <a:solidFill>
                            <a:srgbClr val="333333"/>
                          </a:solidFill>
                          <a:latin typeface="微软雅黑" panose="020B0503020204020204" charset="-122"/>
                          <a:ea typeface="微软雅黑" panose="020B0503020204020204" charset="-122"/>
                        </a:rPr>
                        <a:t>4</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298700" y="1943100"/>
            <a:ext cx="647700" cy="647700"/>
          </a:xfrm>
          <a:prstGeom prst="roundRect">
            <a:avLst>
              <a:gd name="adj" fmla="val 17647"/>
            </a:avLst>
          </a:prstGeom>
          <a:gradFill rotWithShape="0">
            <a:gsLst>
              <a:gs pos="0">
                <a:srgbClr val="30C0B4">
                  <a:alpha val="100000"/>
                </a:srgbClr>
              </a:gs>
              <a:gs pos="100000">
                <a:srgbClr val="0BB972">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2336800" y="1943100"/>
            <a:ext cx="762000" cy="673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800" b="0" i="0" u="none" strike="noStrike">
                <a:solidFill>
                  <a:srgbClr val="FFFFFF"/>
                </a:solidFill>
                <a:latin typeface="Arial" panose="020B0604020202020204"/>
                <a:ea typeface="Arial" panose="020B0604020202020204"/>
                <a:cs typeface="Arial" panose="020B0604020202020204"/>
                <a:sym typeface="Arial" panose="020B0604020202020204"/>
              </a:rPr>
              <a:t>05</a:t>
            </a:r>
            <a:endParaRPr lang="en-US" sz="1100"/>
          </a:p>
        </p:txBody>
      </p:sp>
      <p:sp>
        <p:nvSpPr>
          <p:cNvPr id="5" name="AutoShape 5"/>
          <p:cNvSpPr/>
          <p:nvPr/>
        </p:nvSpPr>
        <p:spPr>
          <a:xfrm>
            <a:off x="2159000" y="2679700"/>
            <a:ext cx="7327900" cy="647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3600" b="1" i="0" u="none" strike="noStrike">
                <a:solidFill>
                  <a:srgbClr val="333F50"/>
                </a:solidFill>
                <a:latin typeface="微软雅黑" panose="020B0503020204020204" charset="-122"/>
                <a:ea typeface="微软雅黑" panose="020B0503020204020204" charset="-122"/>
                <a:cs typeface="微软雅黑" panose="020B0503020204020204" charset="-122"/>
                <a:sym typeface="微软雅黑" panose="020B0503020204020204" charset="-122"/>
              </a:rPr>
              <a:t>知识产权</a:t>
            </a:r>
            <a:endParaRPr lang="zh-CN" altLang="en-US" sz="3600" b="1" i="0" u="none" strike="noStrike">
              <a:solidFill>
                <a:srgbClr val="333F5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2197100" y="3568700"/>
            <a:ext cx="7620000" cy="368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知识产权规划与管理</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2"/>
          <p:cNvPicPr>
            <a:picLocks noChangeAspect="1"/>
          </p:cNvPicPr>
          <p:nvPr/>
        </p:nvPicPr>
        <p:blipFill>
          <a:blip r:embed="rId1">
            <a:alphaModFix amt="74000"/>
          </a:blip>
          <a:srcRect t="3" b="3"/>
          <a:stretch>
            <a:fillRect/>
          </a:stretch>
        </p:blipFill>
        <p:spPr>
          <a:xfrm>
            <a:off x="635" y="-12700"/>
            <a:ext cx="12192000" cy="6858000"/>
          </a:xfrm>
          <a:prstGeom prst="rect">
            <a:avLst/>
          </a:prstGeom>
          <a:noFill/>
          <a:ln w="25400" cap="flat" cmpd="sng">
            <a:noFill/>
            <a:prstDash val="solid"/>
            <a:round/>
          </a:ln>
        </p:spPr>
      </p:pic>
      <p:sp>
        <p:nvSpPr>
          <p:cNvPr id="3" name="AutoShape 3"/>
          <p:cNvSpPr/>
          <p:nvPr/>
        </p:nvSpPr>
        <p:spPr>
          <a:xfrm>
            <a:off x="635" y="0"/>
            <a:ext cx="12192000" cy="6858000"/>
          </a:xfrm>
          <a:prstGeom prst="roundRect">
            <a:avLst>
              <a:gd name="adj" fmla="val 0"/>
            </a:avLst>
          </a:prstGeom>
          <a:gradFill rotWithShape="0">
            <a:gsLst>
              <a:gs pos="0">
                <a:srgbClr val="FFFFFF">
                  <a:alpha val="100000"/>
                </a:srgbClr>
              </a:gs>
              <a:gs pos="100000">
                <a:srgbClr val="FFFFFF">
                  <a:alpha val="65000"/>
                </a:srgbClr>
              </a:gs>
            </a:gsLst>
            <a:lin ang="4800000"/>
          </a:gra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0" y="266700"/>
            <a:ext cx="405524" cy="431999"/>
          </a:xfrm>
          <a:custGeom>
            <a:avLst/>
            <a:gdLst/>
            <a:ahLst/>
            <a:cxnLst/>
            <a:rect l="l" t="t" r="r" b="b"/>
            <a:pathLst>
              <a:path w="405524" h="431999">
                <a:moveTo>
                  <a:pt x="0" y="0"/>
                </a:moveTo>
                <a:lnTo>
                  <a:pt x="405524" y="0"/>
                </a:lnTo>
                <a:lnTo>
                  <a:pt x="354119" y="431999"/>
                </a:lnTo>
                <a:lnTo>
                  <a:pt x="0" y="431999"/>
                </a:lnTo>
                <a:lnTo>
                  <a:pt x="0" y="0"/>
                </a:lnTo>
                <a:close/>
              </a:path>
            </a:pathLst>
          </a:custGeom>
          <a:gradFill rotWithShape="0">
            <a:gsLst>
              <a:gs pos="0">
                <a:srgbClr val="11A0A1">
                  <a:alpha val="100000"/>
                </a:srgbClr>
              </a:gs>
              <a:gs pos="100000">
                <a:srgbClr val="24A494">
                  <a:alpha val="20000"/>
                </a:srgbClr>
              </a:gs>
            </a:gsLst>
            <a:lin ang="108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406400" y="342900"/>
            <a:ext cx="215235" cy="283210"/>
          </a:xfrm>
          <a:custGeom>
            <a:avLst/>
            <a:gdLst/>
            <a:ahLst/>
            <a:cxnLst/>
            <a:rect l="l" t="t" r="r" b="b"/>
            <a:pathLst>
              <a:path w="215235" h="283210">
                <a:moveTo>
                  <a:pt x="37460" y="0"/>
                </a:moveTo>
                <a:lnTo>
                  <a:pt x="215235" y="0"/>
                </a:lnTo>
                <a:lnTo>
                  <a:pt x="181583" y="283210"/>
                </a:lnTo>
                <a:lnTo>
                  <a:pt x="0" y="283210"/>
                </a:lnTo>
                <a:lnTo>
                  <a:pt x="37460" y="0"/>
                </a:lnTo>
                <a:close/>
              </a:path>
            </a:pathLst>
          </a:custGeom>
          <a:solidFill>
            <a:srgbClr val="1181DC">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791700" y="330200"/>
            <a:ext cx="1993900" cy="279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200" b="0" i="0" u="none" strike="noStrike" spc="100">
                <a:solidFill>
                  <a:srgbClr val="ADB9CA"/>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政策驱动 · 智慧医疗新生态</a:t>
            </a:r>
            <a:endParaRPr lang="en-US" sz="1100"/>
          </a:p>
        </p:txBody>
      </p:sp>
      <p:sp>
        <p:nvSpPr>
          <p:cNvPr id="7" name="Freeform 7"/>
          <p:cNvSpPr/>
          <p:nvPr/>
        </p:nvSpPr>
        <p:spPr>
          <a:xfrm>
            <a:off x="95123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1180DC">
              <a:alpha val="61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9652000" y="457200"/>
            <a:ext cx="144145" cy="29210"/>
          </a:xfrm>
          <a:custGeom>
            <a:avLst/>
            <a:gdLst/>
            <a:ahLst/>
            <a:cxnLst/>
            <a:rect l="l" t="t" r="r" b="b"/>
            <a:pathLst>
              <a:path w="144145" h="29210">
                <a:moveTo>
                  <a:pt x="13669" y="0"/>
                </a:moveTo>
                <a:lnTo>
                  <a:pt x="144145" y="0"/>
                </a:lnTo>
                <a:lnTo>
                  <a:pt x="130476" y="29210"/>
                </a:lnTo>
                <a:lnTo>
                  <a:pt x="0" y="29210"/>
                </a:lnTo>
                <a:close/>
              </a:path>
            </a:pathLst>
          </a:custGeom>
          <a:solidFill>
            <a:srgbClr val="00886F">
              <a:alpha val="41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96900" y="228600"/>
            <a:ext cx="10160000" cy="4953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知识产权 · 规划</a:t>
            </a:r>
            <a:endParaRPr lang="zh-CN" altLang="en-US" sz="26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aphicFrame>
        <p:nvGraphicFramePr>
          <p:cNvPr id="16" name="Table 15"/>
          <p:cNvGraphicFramePr>
            <a:graphicFrameLocks noGrp="1"/>
          </p:cNvGraphicFramePr>
          <p:nvPr/>
        </p:nvGraphicFramePr>
        <p:xfrm>
          <a:off x="706885" y="1500000"/>
          <a:ext cx="10500000" cy="2500000"/>
        </p:xfrm>
        <a:graphic>
          <a:graphicData uri="http://schemas.openxmlformats.org/drawingml/2006/table">
            <a:tbl>
              <a:tblPr firstRow="1" bandRow="1"/>
              <a:tblGrid>
                <a:gridCol w="2000000"/>
                <a:gridCol w="5000000"/>
                <a:gridCol w="1500000"/>
                <a:gridCol w="2000000"/>
              </a:tblGrid>
              <a:tr h="833333">
                <a:tc>
                  <a:txBody>
                    <a:bodyPr wrap="square"/>
                    <a:lstStyle/>
                    <a:p>
                      <a:pPr algn="ctr"/>
                      <a:r>
                        <a:rPr sz="1400" b="1">
                          <a:solidFill>
                            <a:srgbClr val="FFFFFF"/>
                          </a:solidFill>
                          <a:latin typeface="微软雅黑" panose="020B0503020204020204" charset="-122"/>
                          <a:ea typeface="微软雅黑" panose="020B0503020204020204" charset="-122"/>
                        </a:rPr>
                        <a:t>类型</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成果内容（产品名称）</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数量（个）</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c>
                  <a:txBody>
                    <a:bodyPr wrap="square"/>
                    <a:lstStyle/>
                    <a:p>
                      <a:pPr algn="ctr"/>
                      <a:r>
                        <a:rPr sz="1400" b="1">
                          <a:solidFill>
                            <a:srgbClr val="FFFFFF"/>
                          </a:solidFill>
                          <a:latin typeface="微软雅黑" panose="020B0503020204020204" charset="-122"/>
                          <a:ea typeface="微软雅黑" panose="020B0503020204020204" charset="-122"/>
                        </a:rPr>
                        <a:t>备注</a:t>
                      </a:r>
                      <a:endParaRPr sz="1400" b="1">
                        <a:solidFill>
                          <a:srgbClr val="FFFFFF"/>
                        </a:solidFill>
                        <a:latin typeface="微软雅黑" panose="020B0503020204020204" charset="-122"/>
                        <a:ea typeface="微软雅黑" panose="020B0503020204020204" charset="-122"/>
                      </a:endParaRPr>
                    </a:p>
                  </a:txBody>
                  <a:tcPr marL="50800" marR="50800" marT="25400" marB="25400" anchor="ctr">
                    <a:solidFill>
                      <a:srgbClr val="4472C4"/>
                    </a:solidFill>
                  </a:tcPr>
                </a:tc>
              </a:tr>
              <a:tr h="833333">
                <a:tc>
                  <a:txBody>
                    <a:bodyPr wrap="square"/>
                    <a:lstStyle/>
                    <a:p>
                      <a:pPr algn="ctr"/>
                      <a:r>
                        <a:rPr sz="1400" b="0">
                          <a:solidFill>
                            <a:srgbClr val="333333"/>
                          </a:solidFill>
                          <a:latin typeface="微软雅黑" panose="020B0503020204020204" charset="-122"/>
                          <a:ea typeface="微软雅黑" panose="020B0503020204020204" charset="-122"/>
                        </a:rPr>
                        <a:t>专利</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无</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r>
                        <a:rPr sz="1400" b="0">
                          <a:solidFill>
                            <a:srgbClr val="333333"/>
                          </a:solidFill>
                          <a:latin typeface="微软雅黑" panose="020B0503020204020204" charset="-122"/>
                          <a:ea typeface="微软雅黑" panose="020B0503020204020204" charset="-122"/>
                        </a:rPr>
                        <a:t>0</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FFFFF"/>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FFFFF"/>
                    </a:solidFill>
                  </a:tcPr>
                </a:tc>
              </a:tr>
              <a:tr h="833334">
                <a:tc>
                  <a:txBody>
                    <a:bodyPr wrap="square"/>
                    <a:lstStyle/>
                    <a:p>
                      <a:pPr algn="ctr"/>
                      <a:r>
                        <a:rPr sz="1400" b="0">
                          <a:solidFill>
                            <a:srgbClr val="333333"/>
                          </a:solidFill>
                          <a:latin typeface="微软雅黑" panose="020B0503020204020204" charset="-122"/>
                          <a:ea typeface="微软雅黑" panose="020B0503020204020204" charset="-122"/>
                        </a:rPr>
                        <a:t>著作权</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无</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r>
                        <a:rPr sz="1400" b="0">
                          <a:solidFill>
                            <a:srgbClr val="333333"/>
                          </a:solidFill>
                          <a:latin typeface="微软雅黑" panose="020B0503020204020204" charset="-122"/>
                          <a:ea typeface="微软雅黑" panose="020B0503020204020204" charset="-122"/>
                        </a:rPr>
                        <a:t>0</a:t>
                      </a:r>
                      <a:endParaRPr sz="1400" b="0">
                        <a:solidFill>
                          <a:srgbClr val="333333"/>
                        </a:solidFill>
                        <a:latin typeface="微软雅黑" panose="020B0503020204020204" charset="-122"/>
                        <a:ea typeface="微软雅黑" panose="020B0503020204020204" charset="-122"/>
                      </a:endParaRPr>
                    </a:p>
                  </a:txBody>
                  <a:tcPr marL="50800" marR="50800" marT="25400" marB="25400" anchor="ctr">
                    <a:solidFill>
                      <a:srgbClr val="F2F5FC"/>
                    </a:solidFill>
                  </a:tcPr>
                </a:tc>
                <a:tc>
                  <a:txBody>
                    <a:bodyPr wrap="square"/>
                    <a:lstStyle/>
                    <a:p>
                      <a:pPr algn="l"/>
                      <a:endParaRPr sz="1800">
                        <a:latin typeface="微软雅黑" panose="020B0503020204020204" charset="-122"/>
                        <a:ea typeface="微软雅黑" panose="020B0503020204020204" charset="-122"/>
                      </a:endParaRPr>
                    </a:p>
                  </a:txBody>
                  <a:tcPr marL="50800" marR="50800" marT="25400" marB="25400" anchor="ctr">
                    <a:solidFill>
                      <a:srgbClr val="F2F5FC"/>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4" name="AutoShape 4"/>
          <p:cNvSpPr/>
          <p:nvPr/>
        </p:nvSpPr>
        <p:spPr>
          <a:xfrm>
            <a:off x="1498600" y="2019300"/>
            <a:ext cx="5994400" cy="1193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7200" b="0" i="0" u="none" strike="noStrike">
                <a:latin typeface="微软雅黑" panose="020B0503020204020204" charset="-122"/>
                <a:ea typeface="微软雅黑" panose="020B0503020204020204" charset="-122"/>
                <a:cs typeface="微软雅黑" panose="020B0503020204020204" charset="-122"/>
                <a:sym typeface="微软雅黑" panose="020B0503020204020204" charset="-122"/>
              </a:rPr>
              <a:t>感谢您的观看</a:t>
            </a:r>
            <a:endParaRPr lang="en-US" sz="1100"/>
          </a:p>
        </p:txBody>
      </p:sp>
      <p:sp>
        <p:nvSpPr>
          <p:cNvPr id="5" name="AutoShape 5"/>
          <p:cNvSpPr/>
          <p:nvPr/>
        </p:nvSpPr>
        <p:spPr>
          <a:xfrm>
            <a:off x="1562100" y="3048000"/>
            <a:ext cx="7620000" cy="393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000" b="0" i="0" u="none" strike="noStrike">
                <a:solidFill>
                  <a:srgbClr val="D6DCE5"/>
                </a:solidFill>
                <a:latin typeface="Arial" panose="020B0604020202020204"/>
                <a:ea typeface="Arial" panose="020B0604020202020204"/>
                <a:cs typeface="Arial" panose="020B0604020202020204"/>
                <a:sym typeface="Arial" panose="020B0604020202020204"/>
              </a:rPr>
              <a:t>Thank you for your watching</a:t>
            </a:r>
            <a:endParaRPr lang="en-US" sz="1100"/>
          </a:p>
        </p:txBody>
      </p:sp>
      <p:pic>
        <p:nvPicPr>
          <p:cNvPr id="7" name="图片 6"/>
          <p:cNvPicPr>
            <a:picLocks noChangeAspect="1"/>
          </p:cNvPicPr>
          <p:nvPr/>
        </p:nvPicPr>
        <p:blipFill>
          <a:blip r:embed="rId2"/>
          <a:stretch>
            <a:fillRect/>
          </a:stretch>
        </p:blipFill>
        <p:spPr>
          <a:xfrm>
            <a:off x="216535" y="214630"/>
            <a:ext cx="2935605" cy="805815"/>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DOCER_RESOURCE_TRACE_INFO" val="{&quot;id&quot;:&quot;&quot;,&quot;origin&quot;:0,&quot;type&quot;:&quot;textbox&quot;,&quot;user&quot;:&quot;462434307&quot;}"/>
  <p:tag name="KSO_WM_DIAGRAM_VIRTUALLY_FRAME" val="{&quot;height&quot;:286.35,&quot;left&quot;:14.8,&quot;top&quot;:116.55,&quot;width&quot;:941.5}"/>
</p:tagLst>
</file>

<file path=ppt/tags/tag24.xml><?xml version="1.0" encoding="utf-8"?>
<p:tagLst xmlns:p="http://schemas.openxmlformats.org/presentationml/2006/main">
  <p:tag name="KSO_WM_DIAGRAM_VIRTUALLY_FRAME" val="{&quot;height&quot;:286.35,&quot;left&quot;:14.8,&quot;top&quot;:116.55,&quot;width&quot;:941.5}"/>
</p:tagLst>
</file>

<file path=ppt/tags/tag25.xml><?xml version="1.0" encoding="utf-8"?>
<p:tagLst xmlns:p="http://schemas.openxmlformats.org/presentationml/2006/main">
  <p:tag name="KSO_WM_DIAGRAM_VIRTUALLY_FRAME" val="{&quot;height&quot;:286.35,&quot;left&quot;:14.8,&quot;top&quot;:116.55,&quot;width&quot;:941.5}"/>
</p:tagLst>
</file>

<file path=ppt/tags/tag26.xml><?xml version="1.0" encoding="utf-8"?>
<p:tagLst xmlns:p="http://schemas.openxmlformats.org/presentationml/2006/main">
  <p:tag name="KSO_WM_DIAGRAM_VIRTUALLY_FRAME" val="{&quot;height&quot;:286.35,&quot;left&quot;:14.8,&quot;top&quot;:116.55,&quot;width&quot;:941.5}"/>
</p:tagLst>
</file>

<file path=ppt/tags/tag27.xml><?xml version="1.0" encoding="utf-8"?>
<p:tagLst xmlns:p="http://schemas.openxmlformats.org/presentationml/2006/main">
  <p:tag name="KSO_WM_DIAGRAM_VIRTUALLY_FRAME" val="{&quot;height&quot;:286.35,&quot;left&quot;:14.8,&quot;top&quot;:116.55,&quot;width&quot;:941.5}"/>
</p:tagLst>
</file>

<file path=ppt/tags/tag28.xml><?xml version="1.0" encoding="utf-8"?>
<p:tagLst xmlns:p="http://schemas.openxmlformats.org/presentationml/2006/main">
  <p:tag name="KSO_WM_DIAGRAM_VIRTUALLY_FRAME" val="{&quot;height&quot;:286.35,&quot;left&quot;:14.8,&quot;top&quot;:116.55,&quot;width&quot;:941.5}"/>
</p:tagLst>
</file>

<file path=ppt/tags/tag29.xml><?xml version="1.0" encoding="utf-8"?>
<p:tagLst xmlns:p="http://schemas.openxmlformats.org/presentationml/2006/main">
  <p:tag name="KSO_WM_DIAGRAM_VIRTUALLY_FRAME" val="{&quot;height&quot;:286.35,&quot;left&quot;:14.8,&quot;top&quot;:116.55,&quot;width&quot;:941.5}"/>
</p:tagLst>
</file>

<file path=ppt/tags/tag30.xml><?xml version="1.0" encoding="utf-8"?>
<p:tagLst xmlns:p="http://schemas.openxmlformats.org/presentationml/2006/main">
  <p:tag name="KSO_WM_DIAGRAM_VIRTUALLY_FRAME" val="{&quot;height&quot;:286.35,&quot;left&quot;:14.8,&quot;top&quot;:116.55,&quot;width&quot;:941.5}"/>
</p:tagLst>
</file>

<file path=ppt/tags/tag31.xml><?xml version="1.0" encoding="utf-8"?>
<p:tagLst xmlns:p="http://schemas.openxmlformats.org/presentationml/2006/main">
  <p:tag name="KSO_WM_DIAGRAM_VIRTUALLY_FRAME" val="{&quot;height&quot;:286.35,&quot;left&quot;:14.8,&quot;top&quot;:116.55,&quot;width&quot;:941.5}"/>
</p:tagLst>
</file>

<file path=ppt/tags/tag32.xml><?xml version="1.0" encoding="utf-8"?>
<p:tagLst xmlns:p="http://schemas.openxmlformats.org/presentationml/2006/main">
  <p:tag name="KSO_WM_DIAGRAM_VIRTUALLY_FRAME" val="{&quot;height&quot;:286.35,&quot;left&quot;:14.8,&quot;top&quot;:116.55,&quot;width&quot;:941.5}"/>
</p:tagLst>
</file>

<file path=ppt/tags/tag33.xml><?xml version="1.0" encoding="utf-8"?>
<p:tagLst xmlns:p="http://schemas.openxmlformats.org/presentationml/2006/main">
  <p:tag name="KSO_WM_DIAGRAM_VIRTUALLY_FRAME" val="{&quot;height&quot;:286.35,&quot;left&quot;:14.8,&quot;top&quot;:116.55,&quot;width&quot;:941.5}"/>
</p:tagLst>
</file>

<file path=ppt/tags/tag34.xml><?xml version="1.0" encoding="utf-8"?>
<p:tagLst xmlns:p="http://schemas.openxmlformats.org/presentationml/2006/main">
  <p:tag name="KSO_DOCER_RESOURCE_TRACE_INFO" val="{&quot;id&quot;:&quot;&quot;,&quot;origin&quot;:0,&quot;type&quot;:&quot;textbox&quot;,&quot;user&quot;:&quot;462434307&quot;}"/>
  <p:tag name="KSO_WM_DIAGRAM_VIRTUALLY_FRAME" val="{&quot;height&quot;:286.35,&quot;left&quot;:14.8,&quot;top&quot;:116.55,&quot;width&quot;:941.5}"/>
</p:tagLst>
</file>

<file path=ppt/tags/tag35.xml><?xml version="1.0" encoding="utf-8"?>
<p:tagLst xmlns:p="http://schemas.openxmlformats.org/presentationml/2006/main">
  <p:tag name="KSO_WM_DIAGRAM_VIRTUALLY_FRAME" val="{&quot;height&quot;:286.35,&quot;left&quot;:14.8,&quot;top&quot;:116.55,&quot;width&quot;:941.5}"/>
</p:tagLst>
</file>

<file path=ppt/tags/tag36.xml><?xml version="1.0" encoding="utf-8"?>
<p:tagLst xmlns:p="http://schemas.openxmlformats.org/presentationml/2006/main">
  <p:tag name="KSO_WM_DIAGRAM_VIRTUALLY_FRAME" val="{&quot;height&quot;:286.35,&quot;left&quot;:14.8,&quot;top&quot;:116.55,&quot;width&quot;:941.5}"/>
</p:tagLst>
</file>

<file path=ppt/tags/tag37.xml><?xml version="1.0" encoding="utf-8"?>
<p:tagLst xmlns:p="http://schemas.openxmlformats.org/presentationml/2006/main">
  <p:tag name="KSO_WM_DIAGRAM_VIRTUALLY_FRAME" val="{&quot;height&quot;:286.35,&quot;left&quot;:14.8,&quot;top&quot;:116.55,&quot;width&quot;:941.5}"/>
</p:tagLst>
</file>

<file path=ppt/tags/tag38.xml><?xml version="1.0" encoding="utf-8"?>
<p:tagLst xmlns:p="http://schemas.openxmlformats.org/presentationml/2006/main">
  <p:tag name="KSO_WM_DIAGRAM_VIRTUALLY_FRAME" val="{&quot;height&quot;:286.35,&quot;left&quot;:14.8,&quot;top&quot;:116.55,&quot;width&quot;:941.5}"/>
</p:tagLst>
</file>

<file path=ppt/tags/tag39.xml><?xml version="1.0" encoding="utf-8"?>
<p:tagLst xmlns:p="http://schemas.openxmlformats.org/presentationml/2006/main">
  <p:tag name="KSO_WM_DIAGRAM_VIRTUALLY_FRAME" val="{&quot;height&quot;:286.35,&quot;left&quot;:14.8,&quot;top&quot;:116.55,&quot;width&quot;:941.5}"/>
</p:tagLst>
</file>

<file path=ppt/tags/tag40.xml><?xml version="1.0" encoding="utf-8"?>
<p:tagLst xmlns:p="http://schemas.openxmlformats.org/presentationml/2006/main">
  <p:tag name="KSO_WM_DIAGRAM_VIRTUALLY_FRAME" val="{&quot;height&quot;:286.35,&quot;left&quot;:14.8,&quot;top&quot;:116.55,&quot;width&quot;:941.5}"/>
</p:tagLst>
</file>

<file path=ppt/tags/tag41.xml><?xml version="1.0" encoding="utf-8"?>
<p:tagLst xmlns:p="http://schemas.openxmlformats.org/presentationml/2006/main">
  <p:tag name="KSO_WM_DIAGRAM_VIRTUALLY_FRAME" val="{&quot;height&quot;:286.35,&quot;left&quot;:14.8,&quot;top&quot;:116.55,&quot;width&quot;:941.5}"/>
</p:tagLst>
</file>

<file path=ppt/tags/tag42.xml><?xml version="1.0" encoding="utf-8"?>
<p:tagLst xmlns:p="http://schemas.openxmlformats.org/presentationml/2006/main">
  <p:tag name="KSO_WM_DIAGRAM_VIRTUALLY_FRAME" val="{&quot;height&quot;:286.35,&quot;left&quot;:14.8,&quot;top&quot;:116.55,&quot;width&quot;:941.5}"/>
</p:tagLst>
</file>

<file path=ppt/tags/tag43.xml><?xml version="1.0" encoding="utf-8"?>
<p:tagLst xmlns:p="http://schemas.openxmlformats.org/presentationml/2006/main">
  <p:tag name="KSO_WM_DIAGRAM_VIRTUALLY_FRAME" val="{&quot;height&quot;:286.35,&quot;left&quot;:14.8,&quot;top&quot;:116.55,&quot;width&quot;:941.5}"/>
</p:tagLst>
</file>

<file path=ppt/tags/tag44.xml><?xml version="1.0" encoding="utf-8"?>
<p:tagLst xmlns:p="http://schemas.openxmlformats.org/presentationml/2006/main">
  <p:tag name="KSO_WM_DIAGRAM_VIRTUALLY_FRAME" val="{&quot;height&quot;:286.35,&quot;left&quot;:14.8,&quot;top&quot;:116.55,&quot;width&quot;:941.5}"/>
</p:tagLst>
</file>

<file path=ppt/tags/tag45.xml><?xml version="1.0" encoding="utf-8"?>
<p:tagLst xmlns:p="http://schemas.openxmlformats.org/presentationml/2006/main">
  <p:tag name="KSO_WM_DIAGRAM_VIRTUALLY_FRAME" val="{&quot;height&quot;:286.35,&quot;left&quot;:14.8,&quot;top&quot;:116.55,&quot;width&quot;:941.5}"/>
</p:tagLst>
</file>

<file path=ppt/tags/tag46.xml><?xml version="1.0" encoding="utf-8"?>
<p:tagLst xmlns:p="http://schemas.openxmlformats.org/presentationml/2006/main">
  <p:tag name="KSO_WM_DIAGRAM_VIRTUALLY_FRAME" val="{&quot;height&quot;:286.35,&quot;left&quot;:14.8,&quot;top&quot;:116.55,&quot;width&quot;:941.5}"/>
</p:tagLst>
</file>

<file path=ppt/tags/tag47.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48.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49.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50.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51.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52.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53.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54.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55.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56.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57.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58.xml><?xml version="1.0" encoding="utf-8"?>
<p:tagLst xmlns:p="http://schemas.openxmlformats.org/presentationml/2006/main">
  <p:tag name="KSO_WM_DIAGRAM_VIRTUALLY_FRAME" val="{&quot;height&quot;:132.7955905511811,&quot;left&quot;:24.114409448818897,&quot;top&quot;:285.1666929133858,&quot;width&quot;:923.6945669291339}"/>
</p:tagLst>
</file>

<file path=ppt/tags/tag59.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60.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61.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62.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63.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64.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65.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66.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67.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68.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69.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ags/tag70.xml><?xml version="1.0" encoding="utf-8"?>
<p:tagLst xmlns:p="http://schemas.openxmlformats.org/presentationml/2006/main">
  <p:tag name="KSO_WM_DIAGRAM_VIRTUALLY_FRAME" val="{&quot;height&quot;:174.82338582677176,&quot;left&quot;:24.114409448818897,&quot;top&quot;:245.41669291338576,&quot;width&quot;:924.494566929134}"/>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6027</Words>
  <Application>WPS 演示</Application>
  <PresentationFormat/>
  <Paragraphs>1468</Paragraphs>
  <Slides>27</Slides>
  <Notes>0</Notes>
  <HiddenSlides>0</HiddenSlides>
  <MMClips>0</MMClips>
  <ScaleCrop>false</ScaleCrop>
  <HeadingPairs>
    <vt:vector size="6" baseType="variant">
      <vt:variant>
        <vt:lpstr>已用的字体</vt:lpstr>
      </vt:variant>
      <vt:variant>
        <vt:i4>7</vt:i4>
      </vt:variant>
      <vt:variant>
        <vt:lpstr>主题</vt:lpstr>
      </vt:variant>
      <vt:variant>
        <vt:i4>8</vt:i4>
      </vt:variant>
      <vt:variant>
        <vt:lpstr>幻灯片标题</vt:lpstr>
      </vt:variant>
      <vt:variant>
        <vt:i4>27</vt:i4>
      </vt:variant>
    </vt:vector>
  </HeadingPairs>
  <TitlesOfParts>
    <vt:vector size="42" baseType="lpstr">
      <vt:lpstr>Arial</vt:lpstr>
      <vt:lpstr>宋体</vt:lpstr>
      <vt:lpstr>Wingdings</vt:lpstr>
      <vt:lpstr>Arial</vt:lpstr>
      <vt:lpstr>微软雅黑</vt:lpstr>
      <vt:lpstr>仿宋</vt:lpstr>
      <vt:lpstr>Arial Unicode MS</vt:lpstr>
      <vt:lpstr>Office 主题​​</vt:lpstr>
      <vt:lpstr>默认主题</vt:lpstr>
      <vt:lpstr>2_默认主题</vt:lpstr>
      <vt:lpstr>1_默认主题</vt:lpstr>
      <vt:lpstr>3_默认主题</vt:lpstr>
      <vt:lpstr>4_默认主题</vt:lpstr>
      <vt:lpstr>5_默认主题</vt:lpstr>
      <vt:lpstr>6_默认主题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啦啦啦</cp:lastModifiedBy>
  <cp:revision>139</cp:revision>
  <dcterms:created xsi:type="dcterms:W3CDTF">2026-06-21T13:39:00Z</dcterms:created>
  <dcterms:modified xsi:type="dcterms:W3CDTF">2026-07-10T06:59:46Z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{"Label":"1","ContentProducer":"001191110102MACQD9K64010000","ProduceID":"7652220977829792959","ReservedCode1":"","ContentPropagator":"","PropagateID":"","ReservedCode2":""}</vt:lpwstr>
  </property>
  <property fmtid="{D5CDD505-2E9C-101B-9397-08002B2CF9AE}" pid="3" name="ICV">
    <vt:lpwstr>7258127950776B4378E9376A29530B23_43</vt:lpwstr>
  </property>
  <property fmtid="{D5CDD505-2E9C-101B-9397-08002B2CF9AE}" pid="4" name="KSOProductBuildVer">
    <vt:lpwstr>2052-12.1.0.26895</vt:lpwstr>
  </property>
</Properties>
</file>